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00c34fb2-9d86-f326-2358-aea5adb8ae79}">
          <p14:sldIdLst>
            <p14:sldId id="256"/>
            <p14:sldId id="257"/>
            <p14:sldId id="258"/>
            <p14:sldId id="259"/>
            <p14:sldId id="260"/>
          </p14:sldIdLst>
        </p14:section>
        <p14:section name="Setup steps" id="{3b1ba2e7-c7b0-abf6-45ad-ad4c9b41b655}">
          <p14:sldIdLst>
            <p14:sldId id="261"/>
            <p14:sldId id="262"/>
            <p14:sldId id="263"/>
            <p14:sldId id="264"/>
            <p14:sldId id="265"/>
            <p14:sldId id="266"/>
            <p14:sldId id="267"/>
            <p14:sldId id="268"/>
            <p14:sldId id="269"/>
            <p14:sldId id="270"/>
            <p14:sldId id="271"/>
            <p14:sldId id="272"/>
          </p14:sldIdLst>
        </p14:section>
        <p14:section name="Run and check" id="{4a0be709-708a-c06b-f4dc-89bd7371d9d6}">
          <p14:sldIdLst>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guide walks through the whole pipeline we built: SAP Sales &amp; Distribution tables in Oracle, change data capture with Debezium into Kafka, the Snowflake Kafka connector v4 into a raw layer, curated and Gold layers in Snowflake, a Cortex Agent, and a customer portal with an AI assistant. Each step slide shows where to run it, the exact commands, and what you should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to right: SAP tables live in an Oracle Free container. Debezium reads Oracle's redo log and publishes every insert, update and delete to Kafka, one topic per table. The Snowflake Connector for Kafka v4 streams those events into raw VARIANT tables. Streams and MERGE tasks build typed Silver tables, dynamic tables build Gold, and the portal and AI assistant read Gold.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three rules from the original plan. Every design choice maps to one of them. The best test: the sample data contains an invoice that was cancelled and re-billed. Summing invoices naively gives INR 1,05,02,225; the pipeline correctly reports INR 1,03,88,950.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only moves upward: Gold reads Silver, Silver reads Bronze. Each layer can be rebuilt from the one below. Business rules such as signed revenue live in Gold; Silver stays a faithful copy of SAP.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Ports are the ones we ended up with on your PC: Oracle moved to 1522 and Kafka UI to 8085 because 1521 and 8080 were taken by a local Oracle installation. The portal runs on 8010 because 8000 was busy.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1 to 5 build the streaming path from Oracle to Snowflake. Steps 6 to 8 build the Snowflake layers and the agent. Steps 9 and 10 bring up the portal and its AI assistant. Each step is safe to re-run.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Snowflake account setup. Where: git bash + snowsight. Generate the connector's key pair. Run the rendered setup SQL as ACCOUNTADMIN. Copy snowflake_url_name into .env as SNOWFLAKE_URL. Expected: RSA_PUBLIC_KEY_FP in DESC USER equals the printed fingerprint; Databases SAP_RAW and SAP_CURATED exist; Last query returns your account URL. Creates KAFKA_CONNECTOR_USER (key-pair only), the connector and transform roles, and an XS warehouse.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Start the Docker stack. Where: powershell · project folder. Create .env from the example and set SNOWFLAKE_URL. Build and start Oracle, Kafka, Kafka Connect, Kafka UI. Wait until three containers are healthy. Expected: oracle, kafka, connect show (healthy); Oracle reachable on localhost:1522; Kafka UI on http://localhost:8085. First start downloads about 4 GB of images and takes 5–15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Prepare Oracle and load SAP data. Where: git bash · project folder. Turn on ARCHIVELOG mode and supplemental logging. Create the Debezium user c##dbzuser. Create 30 SAP SD tables and load sample data. Expected: Row counts printed: VBAK 27, VBAP 61, LIKP 21, VBRK 22; Last line: “Oracle is ready for Debezium.”; Safe to re-run: data is cleared and reloaded. Oracle restarts once inside the container while ARCHIVELOG is switched on. That is expected.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Start Debezium: Oracle to Kafka. Where: git bash · project folder. Register the Debezium Oracle source connector. It snapshots all 30 tables, then streams changes. Check the connector and the topics. Expected: sap-sd-oracle-source: RUNNING (connector and task); 30 topics named sap.SAPSD.&lt;TABLE&gt;; Events show before, after, op and source.scn. Snapshot rows have op = r; live changes use c (insert), u (update) and d (delete).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Start the Snowflake sink: Kafka to Bronze. Where: git bash + snowsight. Register the Snowflake Kafka connector v4. It creates one *_RAW table per topic in SAP_RAW.SD. Check the raw tables in Snowflake. Expected: sap-sd-snowflake-sink: RUNNING; 30 *_RAW tables with RECORD_CONTENT and RECORD_METADATA; VBAK_RAW returns 27 rows. Billed per GB ingested; no warehouse is used for loading.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Build Silver: curated typed tables. Where: snowsight. Run the curated layer script once. It creates a typed table, stream and MERGE task per SAP table. Tasks start and load the snapshot immediately. Expected: 30 tables in SAP_CURATED.SD with real column types; Live row counts match Oracle; Section E: no FAILED task runs. Latest event per key wins (SCN, then offset). Deletes become CDC_IS_DELETED =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Build Gold: business tables. Where: snowsight. Run the Gold script once. Creates three dynamic tables with a 1-minute lag. Check a known figure from the sample data. Expected: SALES_DOC_HDR: 27 documents; SALES_DOC_POS: 61 items, DEL_DOC_POS: 49 delivery items; Billed revenue INR 1,03,88,950 (cancellation netted out). Figures are for the original sample data and grow as daily orders arrive.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Create the sales agent. Where: snowsight. Run the agent script as ACCOUNTADMIN + SAP_TRANSFORM_ROLE. Creates semantic view SV_SAP_SALES and agent SAP_SALES_AGENT. Ask it questions in AI &amp; ML » Agents. Expected: “What is our total billed revenue?” → INR 1,03,88,950; “Which orders are blocked for credit?” → 10022; Each answer shows the SQL it ran. The semantic view holds synonyms, 20 metrics and the SAP revenue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Run the customer portal. Where: powershell · project folder. Create the portal key and run 06_portal_access.sql. Fill in portal\.env: account, user, key, SAPSD_PASSWORD. Install packages and start the web server. Expected: http://127.0.0.1:8010 opens the portal; Footer: “Data as of … · role SAP_PORTAL_ROLE”; /api/health shows oracle_orders_enabled: true. SNOWFLAKE_ACCOUNT format: your org-account identifier, with no &lt; &gt; or quotes.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screen is one read-only, parameterised query on SAP_GOLD.SALES. Check Availability estimates ship dates from shipping history because the model has no stock table. Place Order writes a real SAP-style order into Oracle; the confirmation page tells you when it has arrived in Snowflake.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portal sends the question, the selected customer and the conversation so far to the Cortex Agent through the Cortex Agents REST API, using the portal's Snowflake session. Error 403 means the grants are missing; 404 means the agent does not exist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last checked, DATA_AS_OF was 19 October: nothing new had reached Snowflake for three days. That means either the Docker stack was stopped or the curated tasks were suspended. Check those three things before anything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checks prove the three rules: exactly-once loading, no double counting, and recovery by replay. Run them after setup and again after any change to the 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row here is something that came up during this setup on your Windows PC. The README's troubleshooting table covers connector and Snowflake task errors as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urgent item is the first one: the portal was showing data from 19 October, so the pipeline needs to be restarted before a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48840"/>
            <a:ext cx="960120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3794760"/>
            <a:ext cx="9601200" cy="914400"/>
          </a:xfrm>
          <a:prstGeom prst="rect">
            <a:avLst/>
          </a:prstGeom>
          <a:noFill/>
          <a:ln/>
        </p:spPr>
        <p:txBody>
          <a:bodyPr wrap="square" rtlCol="0"/>
          <a:lstStyle>
            <a:lvl1pPr algn="l" indent="0" marL="0">
              <a:buNone/>
              <a:defRPr lang="en-US" sz="2000" dirty="0">
                <a:solidFill>
                  <a:srgbClr val="CADCE6"/>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10515600" cy="10058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3794760"/>
            <a:ext cx="10515600" cy="822960"/>
          </a:xfrm>
          <a:prstGeom prst="rect">
            <a:avLst/>
          </a:prstGeom>
          <a:noFill/>
          <a:ln/>
        </p:spPr>
        <p:txBody>
          <a:bodyPr wrap="square" rtlCol="0"/>
          <a:lstStyle>
            <a:lvl1pPr algn="l" indent="0" marL="0">
              <a:buNone/>
              <a:defRPr lang="en-US" sz="1800" dirty="0">
                <a:solidFill>
                  <a:srgbClr val="CADCE6"/>
                </a:solidFill>
              </a:defRPr>
            </a:lvl1pPr>
          </a:lstStyle>
          <a:p>
            <a:pPr algn="l"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73152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SAP Sales CDC · Setup guide</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4.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4.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4.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148840"/>
            <a:ext cx="9601200" cy="1463040"/>
          </a:xfrm>
          <a:prstGeom prst="rect">
            <a:avLst/>
          </a:prstGeom>
          <a:noFill/>
          <a:ln/>
        </p:spPr>
        <p:txBody>
          <a:bodyPr wrap="square" lIns="0" tIns="0" rIns="0" bIns="0" rtlCol="0" anchor="b"/>
          <a:lstStyle/>
          <a:p>
            <a:pPr algn="l" indent="0" marL="0">
              <a:buNone/>
            </a:pPr>
            <a:r>
              <a:rPr lang="en-US" sz="4400" b="1" dirty="0">
                <a:solidFill>
                  <a:schemeClr val="bg1"/>
                </a:solidFill>
              </a:rPr>
              <a:t>SAP Sales Data, Live in Snowflake</a:t>
            </a:r>
            <a:endParaRPr lang="en-US" sz="4400" dirty="0"/>
          </a:p>
        </p:txBody>
      </p:sp>
      <p:sp>
        <p:nvSpPr>
          <p:cNvPr id="3" name="Text 0"/>
          <p:cNvSpPr/>
          <p:nvPr>
            <p:ph idx="101" type="body" hasCustomPrompt="1"/>
          </p:nvPr>
        </p:nvSpPr>
        <p:spPr>
          <a:xfrm>
            <a:off x="548640" y="3794760"/>
            <a:ext cx="9601200" cy="914400"/>
          </a:xfrm>
          <a:prstGeom prst="rect">
            <a:avLst/>
          </a:prstGeom>
          <a:noFill/>
          <a:ln/>
        </p:spPr>
        <p:txBody>
          <a:bodyPr wrap="square" lIns="0" tIns="0" rIns="0" bIns="0" rtlCol="0" anchor="t"/>
          <a:lstStyle/>
          <a:p>
            <a:pPr algn="l" indent="0" marL="0">
              <a:buNone/>
            </a:pPr>
            <a:r>
              <a:rPr lang="en-US" sz="2000" dirty="0">
                <a:solidFill>
                  <a:srgbClr val="CADCE6"/>
                </a:solidFill>
              </a:rPr>
              <a:t>Oracle → Debezium → Kafka → Snowflake → customer portal and AI assistant. A step-by-step setup guide.</a:t>
            </a:r>
            <a:endParaRPr lang="en-US" sz="2000" dirty="0"/>
          </a:p>
        </p:txBody>
      </p:sp>
      <p:sp>
        <p:nvSpPr>
          <p:cNvPr id="4" name="Folder path"/>
          <p:cNvSpPr txBox="1"/>
          <p:nvPr/>
        </p:nvSpPr>
        <p:spPr>
          <a:xfrm>
            <a:off x="548640" y="5989320"/>
            <a:ext cx="9144000" cy="320040"/>
          </a:xfrm>
          <a:prstGeom prst="rect">
            <a:avLst/>
          </a:prstGeom>
          <a:noFill/>
          <a:ln/>
        </p:spPr>
        <p:txBody>
          <a:bodyPr wrap="square" lIns="0" tIns="0" rIns="0" bIns="0" rtlCol="0" anchor="ctr"/>
          <a:lstStyle/>
          <a:p>
            <a:pPr indent="0" marL="0">
              <a:buNone/>
            </a:pPr>
            <a:r>
              <a:rPr lang="en-US" sz="1300" dirty="0">
                <a:solidFill>
                  <a:srgbClr val="8FB3C4"/>
                </a:solidFill>
                <a:latin typeface="Courier New" pitchFamily="34" charset="0"/>
                <a:ea typeface="Courier New" pitchFamily="34" charset="-122"/>
                <a:cs typeface="Courier New" pitchFamily="34" charset="-120"/>
              </a:rPr>
              <a:t>Project folder: D:\Anthropic\claude-code-in-one-shot\oracle-snowflake-cdc</a:t>
            </a:r>
            <a:endParaRPr lang="en-US" sz="1300" dirty="0"/>
          </a:p>
        </p:txBody>
      </p:sp>
      <p:sp>
        <p:nvSpPr>
          <p:cNvPr id="5" name="Title db circle"/>
          <p:cNvSpPr/>
          <p:nvPr/>
        </p:nvSpPr>
        <p:spPr>
          <a:xfrm>
            <a:off x="548640" y="1325880"/>
            <a:ext cx="502920" cy="502920"/>
          </a:xfrm>
          <a:prstGeom prst="ellipse">
            <a:avLst/>
          </a:prstGeom>
          <a:solidFill>
            <a:schemeClr val="accent1"/>
          </a:solidFill>
          <a:ln/>
        </p:spPr>
      </p:sp>
      <p:pic>
        <p:nvPicPr>
          <p:cNvPr id="6" name="Title db icon" descr="preencoded.png">    </p:cNvPr>
          <p:cNvPicPr>
            <a:picLocks noChangeAspect="1"/>
          </p:cNvPicPr>
          <p:nvPr/>
        </p:nvPicPr>
        <p:blipFill>
          <a:blip r:embed="rId1"/>
          <a:stretch>
            <a:fillRect/>
          </a:stretch>
        </p:blipFill>
        <p:spPr>
          <a:xfrm>
            <a:off x="674370" y="1451610"/>
            <a:ext cx="251460" cy="251460"/>
          </a:xfrm>
          <a:prstGeom prst="rect">
            <a:avLst/>
          </a:prstGeom>
        </p:spPr>
      </p:pic>
      <p:sp>
        <p:nvSpPr>
          <p:cNvPr id="7" name="Title stream circle"/>
          <p:cNvSpPr/>
          <p:nvPr/>
        </p:nvSpPr>
        <p:spPr>
          <a:xfrm>
            <a:off x="1234440" y="1325880"/>
            <a:ext cx="502920" cy="502920"/>
          </a:xfrm>
          <a:prstGeom prst="ellipse">
            <a:avLst/>
          </a:prstGeom>
          <a:solidFill>
            <a:schemeClr val="accent1"/>
          </a:solidFill>
          <a:ln/>
        </p:spPr>
      </p:sp>
      <p:pic>
        <p:nvPicPr>
          <p:cNvPr id="8" name="Title stream icon" descr="preencoded.png">    </p:cNvPr>
          <p:cNvPicPr>
            <a:picLocks noChangeAspect="1"/>
          </p:cNvPicPr>
          <p:nvPr/>
        </p:nvPicPr>
        <p:blipFill>
          <a:blip r:embed="rId2"/>
          <a:stretch>
            <a:fillRect/>
          </a:stretch>
        </p:blipFill>
        <p:spPr>
          <a:xfrm>
            <a:off x="1360170" y="1451610"/>
            <a:ext cx="251460" cy="251460"/>
          </a:xfrm>
          <a:prstGeom prst="rect">
            <a:avLst/>
          </a:prstGeom>
        </p:spPr>
      </p:pic>
      <p:sp>
        <p:nvSpPr>
          <p:cNvPr id="9" name="Title snow circle"/>
          <p:cNvSpPr/>
          <p:nvPr/>
        </p:nvSpPr>
        <p:spPr>
          <a:xfrm>
            <a:off x="1920240" y="1325880"/>
            <a:ext cx="502920" cy="502920"/>
          </a:xfrm>
          <a:prstGeom prst="ellipse">
            <a:avLst/>
          </a:prstGeom>
          <a:solidFill>
            <a:schemeClr val="accent3"/>
          </a:solidFill>
          <a:ln/>
        </p:spPr>
      </p:sp>
      <p:pic>
        <p:nvPicPr>
          <p:cNvPr id="10" name="Title snow icon" descr="preencoded.png">    </p:cNvPr>
          <p:cNvPicPr>
            <a:picLocks noChangeAspect="1"/>
          </p:cNvPicPr>
          <p:nvPr/>
        </p:nvPicPr>
        <p:blipFill>
          <a:blip r:embed="rId3"/>
          <a:stretch>
            <a:fillRect/>
          </a:stretch>
        </p:blipFill>
        <p:spPr>
          <a:xfrm>
            <a:off x="2045970" y="1451610"/>
            <a:ext cx="251460" cy="251460"/>
          </a:xfrm>
          <a:prstGeom prst="rect">
            <a:avLst/>
          </a:prstGeom>
        </p:spPr>
      </p:pic>
      <p:sp>
        <p:nvSpPr>
          <p:cNvPr id="11" name="Title desktop circle"/>
          <p:cNvSpPr/>
          <p:nvPr/>
        </p:nvSpPr>
        <p:spPr>
          <a:xfrm>
            <a:off x="2606040" y="1325880"/>
            <a:ext cx="502920" cy="502920"/>
          </a:xfrm>
          <a:prstGeom prst="ellipse">
            <a:avLst/>
          </a:prstGeom>
          <a:solidFill>
            <a:schemeClr val="accent1"/>
          </a:solidFill>
          <a:ln/>
        </p:spPr>
      </p:sp>
      <p:pic>
        <p:nvPicPr>
          <p:cNvPr id="12" name="Title desktop icon" descr="preencoded.png">    </p:cNvPr>
          <p:cNvPicPr>
            <a:picLocks noChangeAspect="1"/>
          </p:cNvPicPr>
          <p:nvPr/>
        </p:nvPicPr>
        <p:blipFill>
          <a:blip r:embed="rId4"/>
          <a:stretch>
            <a:fillRect/>
          </a:stretch>
        </p:blipFill>
        <p:spPr>
          <a:xfrm>
            <a:off x="2731770" y="1451610"/>
            <a:ext cx="251460" cy="2514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rPr>
              <a:t>What you will build</a:t>
            </a:r>
            <a:endParaRPr lang="en-US" sz="3200" dirty="0"/>
          </a:p>
        </p:txBody>
      </p:sp>
      <p:sp>
        <p:nvSpPr>
          <p:cNvPr id="3" name="Kicker"/>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ARCHITECTURE</a:t>
            </a:r>
            <a:endParaRPr lang="en-US" sz="1200" dirty="0"/>
          </a:p>
        </p:txBody>
      </p:sp>
      <p:sp>
        <p:nvSpPr>
          <p:cNvPr id="4" name="Flow Oracle card"/>
          <p:cNvSpPr/>
          <p:nvPr/>
        </p:nvSpPr>
        <p:spPr>
          <a:xfrm>
            <a:off x="548640" y="1783080"/>
            <a:ext cx="1627632" cy="2331720"/>
          </a:xfrm>
          <a:prstGeom prst="roundRect">
            <a:avLst>
              <a:gd name="adj" fmla="val 5618"/>
            </a:avLst>
          </a:prstGeom>
          <a:solidFill>
            <a:schemeClr val="bg2"/>
          </a:solidFill>
          <a:ln/>
          <a:effectLst>
            <a:outerShdw sx="100000" sy="100000" kx="0" ky="0" algn="bl" rotWithShape="0" blurRad="76200" dist="25400" dir="5400000">
              <a:srgbClr val="0F2A3D">
                <a:alpha val="12000"/>
              </a:srgbClr>
            </a:outerShdw>
          </a:effectLst>
        </p:spPr>
      </p:sp>
      <p:sp>
        <p:nvSpPr>
          <p:cNvPr id="5" name="Flow Oracle circle"/>
          <p:cNvSpPr/>
          <p:nvPr/>
        </p:nvSpPr>
        <p:spPr>
          <a:xfrm>
            <a:off x="1019556" y="2057400"/>
            <a:ext cx="685800" cy="685800"/>
          </a:xfrm>
          <a:prstGeom prst="ellipse">
            <a:avLst/>
          </a:prstGeom>
          <a:solidFill>
            <a:schemeClr val="accent6"/>
          </a:solidFill>
          <a:ln/>
        </p:spPr>
      </p:sp>
      <p:pic>
        <p:nvPicPr>
          <p:cNvPr id="6" name="Flow Oracle icon" descr="preencoded.png">    </p:cNvPr>
          <p:cNvPicPr>
            <a:picLocks noChangeAspect="1"/>
          </p:cNvPicPr>
          <p:nvPr/>
        </p:nvPicPr>
        <p:blipFill>
          <a:blip r:embed="rId1"/>
          <a:stretch>
            <a:fillRect/>
          </a:stretch>
        </p:blipFill>
        <p:spPr>
          <a:xfrm>
            <a:off x="1191006" y="2228850"/>
            <a:ext cx="342900" cy="342900"/>
          </a:xfrm>
          <a:prstGeom prst="rect">
            <a:avLst/>
          </a:prstGeom>
        </p:spPr>
      </p:pic>
      <p:sp>
        <p:nvSpPr>
          <p:cNvPr id="7" name="Flow Oracle title"/>
          <p:cNvSpPr txBox="1"/>
          <p:nvPr/>
        </p:nvSpPr>
        <p:spPr>
          <a:xfrm>
            <a:off x="640080" y="2880360"/>
            <a:ext cx="1444752" cy="457200"/>
          </a:xfrm>
          <a:prstGeom prst="rect">
            <a:avLst/>
          </a:prstGeom>
          <a:noFill/>
          <a:ln/>
        </p:spPr>
        <p:txBody>
          <a:bodyPr wrap="square" lIns="0" tIns="0" rIns="0" bIns="0" rtlCol="0" anchor="ctr"/>
          <a:lstStyle/>
          <a:p>
            <a:pPr algn="ctr" indent="0" marL="0">
              <a:buNone/>
            </a:pPr>
            <a:r>
              <a:rPr lang="en-US" sz="1500" b="1" dirty="0">
                <a:solidFill>
                  <a:schemeClr val="tx2"/>
                </a:solidFill>
              </a:rPr>
              <a:t>Oracle</a:t>
            </a:r>
            <a:endParaRPr lang="en-US" sz="1500" dirty="0"/>
          </a:p>
        </p:txBody>
      </p:sp>
      <p:sp>
        <p:nvSpPr>
          <p:cNvPr id="8" name="Flow Oracle text"/>
          <p:cNvSpPr txBox="1"/>
          <p:nvPr/>
        </p:nvSpPr>
        <p:spPr>
          <a:xfrm>
            <a:off x="640080" y="3355848"/>
            <a:ext cx="1444752" cy="640080"/>
          </a:xfrm>
          <a:prstGeom prst="rect">
            <a:avLst/>
          </a:prstGeom>
          <a:noFill/>
          <a:ln/>
        </p:spPr>
        <p:txBody>
          <a:bodyPr wrap="square" lIns="0" tIns="0" rIns="0" bIns="0" rtlCol="0" anchor="t"/>
          <a:lstStyle/>
          <a:p>
            <a:pPr algn="ctr" indent="0" marL="0">
              <a:buNone/>
            </a:pPr>
            <a:r>
              <a:rPr lang="en-US" sz="1200" dirty="0">
                <a:solidFill>
                  <a:schemeClr val="tx1"/>
                </a:solidFill>
              </a:rPr>
              <a:t>30 SAP SD tables</a:t>
            </a:r>
            <a:endParaRPr lang="en-US" sz="1200" dirty="0"/>
          </a:p>
          <a:p>
            <a:pPr algn="ctr" indent="0" marL="0">
              <a:buNone/>
            </a:pPr>
            <a:r>
              <a:rPr lang="en-US" sz="1200" dirty="0">
                <a:solidFill>
                  <a:schemeClr val="tx1"/>
                </a:solidFill>
              </a:rPr>
              <a:t>(schema SAPSD)</a:t>
            </a:r>
            <a:endParaRPr lang="en-US" sz="1200" dirty="0"/>
          </a:p>
        </p:txBody>
      </p:sp>
      <p:sp>
        <p:nvSpPr>
          <p:cNvPr id="9" name="Flow arrow 1"/>
          <p:cNvSpPr/>
          <p:nvPr/>
        </p:nvSpPr>
        <p:spPr>
          <a:xfrm>
            <a:off x="2212848" y="2404872"/>
            <a:ext cx="192573" cy="0"/>
          </a:xfrm>
          <a:prstGeom prst="line">
            <a:avLst/>
          </a:prstGeom>
          <a:noFill/>
          <a:ln w="25400">
            <a:solidFill>
              <a:srgbClr val="6C7A89"/>
            </a:solidFill>
            <a:prstDash val="solid"/>
            <a:tailEnd type="triangle"/>
          </a:ln>
        </p:spPr>
      </p:sp>
      <p:sp>
        <p:nvSpPr>
          <p:cNvPr id="10" name="Flow Debezium card"/>
          <p:cNvSpPr/>
          <p:nvPr/>
        </p:nvSpPr>
        <p:spPr>
          <a:xfrm>
            <a:off x="2441997" y="1783080"/>
            <a:ext cx="1627632" cy="2331720"/>
          </a:xfrm>
          <a:prstGeom prst="roundRect">
            <a:avLst>
              <a:gd name="adj" fmla="val 5618"/>
            </a:avLst>
          </a:prstGeom>
          <a:solidFill>
            <a:schemeClr val="bg2"/>
          </a:solidFill>
          <a:ln/>
          <a:effectLst>
            <a:outerShdw sx="100000" sy="100000" kx="0" ky="0" algn="bl" rotWithShape="0" blurRad="76200" dist="25400" dir="5400000">
              <a:srgbClr val="0F2A3D">
                <a:alpha val="12000"/>
              </a:srgbClr>
            </a:outerShdw>
          </a:effectLst>
        </p:spPr>
      </p:sp>
      <p:sp>
        <p:nvSpPr>
          <p:cNvPr id="11" name="Flow Debezium circle"/>
          <p:cNvSpPr/>
          <p:nvPr/>
        </p:nvSpPr>
        <p:spPr>
          <a:xfrm>
            <a:off x="2912913" y="2057400"/>
            <a:ext cx="685800" cy="685800"/>
          </a:xfrm>
          <a:prstGeom prst="ellipse">
            <a:avLst/>
          </a:prstGeom>
          <a:solidFill>
            <a:schemeClr val="accent6"/>
          </a:solidFill>
          <a:ln/>
        </p:spPr>
      </p:sp>
      <p:pic>
        <p:nvPicPr>
          <p:cNvPr id="12" name="Flow Debezium icon" descr="preencoded.png">    </p:cNvPr>
          <p:cNvPicPr>
            <a:picLocks noChangeAspect="1"/>
          </p:cNvPicPr>
          <p:nvPr/>
        </p:nvPicPr>
        <p:blipFill>
          <a:blip r:embed="rId2"/>
          <a:stretch>
            <a:fillRect/>
          </a:stretch>
        </p:blipFill>
        <p:spPr>
          <a:xfrm>
            <a:off x="3084363" y="2228850"/>
            <a:ext cx="342900" cy="342900"/>
          </a:xfrm>
          <a:prstGeom prst="rect">
            <a:avLst/>
          </a:prstGeom>
        </p:spPr>
      </p:pic>
      <p:sp>
        <p:nvSpPr>
          <p:cNvPr id="13" name="Flow Debezium title"/>
          <p:cNvSpPr txBox="1"/>
          <p:nvPr/>
        </p:nvSpPr>
        <p:spPr>
          <a:xfrm>
            <a:off x="2533437" y="2880360"/>
            <a:ext cx="1444752" cy="457200"/>
          </a:xfrm>
          <a:prstGeom prst="rect">
            <a:avLst/>
          </a:prstGeom>
          <a:noFill/>
          <a:ln/>
        </p:spPr>
        <p:txBody>
          <a:bodyPr wrap="square" lIns="0" tIns="0" rIns="0" bIns="0" rtlCol="0" anchor="ctr"/>
          <a:lstStyle/>
          <a:p>
            <a:pPr algn="ctr" indent="0" marL="0">
              <a:buNone/>
            </a:pPr>
            <a:r>
              <a:rPr lang="en-US" sz="1500" b="1" dirty="0">
                <a:solidFill>
                  <a:schemeClr val="tx2"/>
                </a:solidFill>
              </a:rPr>
              <a:t>Debezium</a:t>
            </a:r>
            <a:endParaRPr lang="en-US" sz="1500" dirty="0"/>
          </a:p>
        </p:txBody>
      </p:sp>
      <p:sp>
        <p:nvSpPr>
          <p:cNvPr id="14" name="Flow Debezium text"/>
          <p:cNvSpPr txBox="1"/>
          <p:nvPr/>
        </p:nvSpPr>
        <p:spPr>
          <a:xfrm>
            <a:off x="2533437" y="3355848"/>
            <a:ext cx="1444752" cy="640080"/>
          </a:xfrm>
          <a:prstGeom prst="rect">
            <a:avLst/>
          </a:prstGeom>
          <a:noFill/>
          <a:ln/>
        </p:spPr>
        <p:txBody>
          <a:bodyPr wrap="square" lIns="0" tIns="0" rIns="0" bIns="0" rtlCol="0" anchor="t"/>
          <a:lstStyle/>
          <a:p>
            <a:pPr algn="ctr" indent="0" marL="0">
              <a:buNone/>
            </a:pPr>
            <a:r>
              <a:rPr lang="en-US" sz="1200" dirty="0">
                <a:solidFill>
                  <a:schemeClr val="tx1"/>
                </a:solidFill>
              </a:rPr>
              <a:t>Reads the redo log</a:t>
            </a:r>
            <a:endParaRPr lang="en-US" sz="1200" dirty="0"/>
          </a:p>
          <a:p>
            <a:pPr algn="ctr" indent="0" marL="0">
              <a:buNone/>
            </a:pPr>
            <a:r>
              <a:rPr lang="en-US" sz="1200" dirty="0">
                <a:solidFill>
                  <a:schemeClr val="tx1"/>
                </a:solidFill>
              </a:rPr>
              <a:t>(LogMiner)</a:t>
            </a:r>
            <a:endParaRPr lang="en-US" sz="1200" dirty="0"/>
          </a:p>
        </p:txBody>
      </p:sp>
      <p:sp>
        <p:nvSpPr>
          <p:cNvPr id="15" name="Flow arrow 2"/>
          <p:cNvSpPr/>
          <p:nvPr/>
        </p:nvSpPr>
        <p:spPr>
          <a:xfrm>
            <a:off x="4106205" y="2404872"/>
            <a:ext cx="192573" cy="0"/>
          </a:xfrm>
          <a:prstGeom prst="line">
            <a:avLst/>
          </a:prstGeom>
          <a:noFill/>
          <a:ln w="25400">
            <a:solidFill>
              <a:srgbClr val="6C7A89"/>
            </a:solidFill>
            <a:prstDash val="solid"/>
            <a:tailEnd type="triangle"/>
          </a:ln>
        </p:spPr>
      </p:sp>
      <p:sp>
        <p:nvSpPr>
          <p:cNvPr id="16" name="Flow Kafka card"/>
          <p:cNvSpPr/>
          <p:nvPr/>
        </p:nvSpPr>
        <p:spPr>
          <a:xfrm>
            <a:off x="4335353" y="1783080"/>
            <a:ext cx="1627632" cy="2331720"/>
          </a:xfrm>
          <a:prstGeom prst="roundRect">
            <a:avLst>
              <a:gd name="adj" fmla="val 5618"/>
            </a:avLst>
          </a:prstGeom>
          <a:solidFill>
            <a:schemeClr val="bg2"/>
          </a:solidFill>
          <a:ln/>
          <a:effectLst>
            <a:outerShdw sx="100000" sy="100000" kx="0" ky="0" algn="bl" rotWithShape="0" blurRad="76200" dist="25400" dir="5400000">
              <a:srgbClr val="0F2A3D">
                <a:alpha val="12000"/>
              </a:srgbClr>
            </a:outerShdw>
          </a:effectLst>
        </p:spPr>
      </p:sp>
      <p:sp>
        <p:nvSpPr>
          <p:cNvPr id="17" name="Flow Kafka circle"/>
          <p:cNvSpPr/>
          <p:nvPr/>
        </p:nvSpPr>
        <p:spPr>
          <a:xfrm>
            <a:off x="4806269" y="2057400"/>
            <a:ext cx="685800" cy="685800"/>
          </a:xfrm>
          <a:prstGeom prst="ellipse">
            <a:avLst/>
          </a:prstGeom>
          <a:solidFill>
            <a:schemeClr val="accent6"/>
          </a:solidFill>
          <a:ln/>
        </p:spPr>
      </p:sp>
      <p:pic>
        <p:nvPicPr>
          <p:cNvPr id="18" name="Flow Kafka icon" descr="preencoded.png">    </p:cNvPr>
          <p:cNvPicPr>
            <a:picLocks noChangeAspect="1"/>
          </p:cNvPicPr>
          <p:nvPr/>
        </p:nvPicPr>
        <p:blipFill>
          <a:blip r:embed="rId3"/>
          <a:stretch>
            <a:fillRect/>
          </a:stretch>
        </p:blipFill>
        <p:spPr>
          <a:xfrm>
            <a:off x="4977719" y="2228850"/>
            <a:ext cx="342900" cy="342900"/>
          </a:xfrm>
          <a:prstGeom prst="rect">
            <a:avLst/>
          </a:prstGeom>
        </p:spPr>
      </p:pic>
      <p:sp>
        <p:nvSpPr>
          <p:cNvPr id="19" name="Flow Kafka title"/>
          <p:cNvSpPr txBox="1"/>
          <p:nvPr/>
        </p:nvSpPr>
        <p:spPr>
          <a:xfrm>
            <a:off x="4426793" y="2880360"/>
            <a:ext cx="1444752" cy="457200"/>
          </a:xfrm>
          <a:prstGeom prst="rect">
            <a:avLst/>
          </a:prstGeom>
          <a:noFill/>
          <a:ln/>
        </p:spPr>
        <p:txBody>
          <a:bodyPr wrap="square" lIns="0" tIns="0" rIns="0" bIns="0" rtlCol="0" anchor="ctr"/>
          <a:lstStyle/>
          <a:p>
            <a:pPr algn="ctr" indent="0" marL="0">
              <a:buNone/>
            </a:pPr>
            <a:r>
              <a:rPr lang="en-US" sz="1500" b="1" dirty="0">
                <a:solidFill>
                  <a:schemeClr val="tx2"/>
                </a:solidFill>
              </a:rPr>
              <a:t>Kafka</a:t>
            </a:r>
            <a:endParaRPr lang="en-US" sz="1500" dirty="0"/>
          </a:p>
        </p:txBody>
      </p:sp>
      <p:sp>
        <p:nvSpPr>
          <p:cNvPr id="20" name="Flow Kafka text"/>
          <p:cNvSpPr txBox="1"/>
          <p:nvPr/>
        </p:nvSpPr>
        <p:spPr>
          <a:xfrm>
            <a:off x="4426793" y="3355848"/>
            <a:ext cx="1444752" cy="640080"/>
          </a:xfrm>
          <a:prstGeom prst="rect">
            <a:avLst/>
          </a:prstGeom>
          <a:noFill/>
          <a:ln/>
        </p:spPr>
        <p:txBody>
          <a:bodyPr wrap="square" lIns="0" tIns="0" rIns="0" bIns="0" rtlCol="0" anchor="t"/>
          <a:lstStyle/>
          <a:p>
            <a:pPr algn="ctr" indent="0" marL="0">
              <a:buNone/>
            </a:pPr>
            <a:r>
              <a:rPr lang="en-US" sz="1200" dirty="0">
                <a:solidFill>
                  <a:schemeClr val="tx1"/>
                </a:solidFill>
              </a:rPr>
              <a:t>One topic per table</a:t>
            </a:r>
            <a:endParaRPr lang="en-US" sz="1200" dirty="0"/>
          </a:p>
          <a:p>
            <a:pPr algn="ctr" indent="0" marL="0">
              <a:buNone/>
            </a:pPr>
            <a:r>
              <a:rPr lang="en-US" sz="1200" dirty="0">
                <a:solidFill>
                  <a:schemeClr val="tx1"/>
                </a:solidFill>
              </a:rPr>
              <a:t>sap.SAPSD.*</a:t>
            </a:r>
            <a:endParaRPr lang="en-US" sz="1200" dirty="0"/>
          </a:p>
        </p:txBody>
      </p:sp>
      <p:sp>
        <p:nvSpPr>
          <p:cNvPr id="21" name="Flow arrow 3"/>
          <p:cNvSpPr/>
          <p:nvPr/>
        </p:nvSpPr>
        <p:spPr>
          <a:xfrm>
            <a:off x="5999561" y="2404872"/>
            <a:ext cx="192573" cy="0"/>
          </a:xfrm>
          <a:prstGeom prst="line">
            <a:avLst/>
          </a:prstGeom>
          <a:noFill/>
          <a:ln w="25400">
            <a:solidFill>
              <a:srgbClr val="6C7A89"/>
            </a:solidFill>
            <a:prstDash val="solid"/>
            <a:tailEnd type="triangle"/>
          </a:ln>
        </p:spPr>
      </p:sp>
      <p:sp>
        <p:nvSpPr>
          <p:cNvPr id="22" name="Flow Snowflake connector card"/>
          <p:cNvSpPr/>
          <p:nvPr/>
        </p:nvSpPr>
        <p:spPr>
          <a:xfrm>
            <a:off x="6228710" y="1783080"/>
            <a:ext cx="1627632" cy="2331720"/>
          </a:xfrm>
          <a:prstGeom prst="roundRect">
            <a:avLst>
              <a:gd name="adj" fmla="val 5618"/>
            </a:avLst>
          </a:prstGeom>
          <a:solidFill>
            <a:schemeClr val="bg2"/>
          </a:solidFill>
          <a:ln/>
          <a:effectLst>
            <a:outerShdw sx="100000" sy="100000" kx="0" ky="0" algn="bl" rotWithShape="0" blurRad="76200" dist="25400" dir="5400000">
              <a:srgbClr val="0F2A3D">
                <a:alpha val="12000"/>
              </a:srgbClr>
            </a:outerShdw>
          </a:effectLst>
        </p:spPr>
      </p:sp>
      <p:sp>
        <p:nvSpPr>
          <p:cNvPr id="23" name="Flow Snowflake connector circle"/>
          <p:cNvSpPr/>
          <p:nvPr/>
        </p:nvSpPr>
        <p:spPr>
          <a:xfrm>
            <a:off x="6699626" y="2057400"/>
            <a:ext cx="685800" cy="685800"/>
          </a:xfrm>
          <a:prstGeom prst="ellipse">
            <a:avLst/>
          </a:prstGeom>
          <a:solidFill>
            <a:schemeClr val="accent3"/>
          </a:solidFill>
          <a:ln/>
        </p:spPr>
      </p:sp>
      <p:pic>
        <p:nvPicPr>
          <p:cNvPr id="24" name="Flow Snowflake connector icon" descr="preencoded.png">    </p:cNvPr>
          <p:cNvPicPr>
            <a:picLocks noChangeAspect="1"/>
          </p:cNvPicPr>
          <p:nvPr/>
        </p:nvPicPr>
        <p:blipFill>
          <a:blip r:embed="rId4"/>
          <a:stretch>
            <a:fillRect/>
          </a:stretch>
        </p:blipFill>
        <p:spPr>
          <a:xfrm>
            <a:off x="6871076" y="2228850"/>
            <a:ext cx="342900" cy="342900"/>
          </a:xfrm>
          <a:prstGeom prst="rect">
            <a:avLst/>
          </a:prstGeom>
        </p:spPr>
      </p:pic>
      <p:sp>
        <p:nvSpPr>
          <p:cNvPr id="25" name="Flow Snowflake connector title"/>
          <p:cNvSpPr txBox="1"/>
          <p:nvPr/>
        </p:nvSpPr>
        <p:spPr>
          <a:xfrm>
            <a:off x="6320150" y="2880360"/>
            <a:ext cx="1444752" cy="457200"/>
          </a:xfrm>
          <a:prstGeom prst="rect">
            <a:avLst/>
          </a:prstGeom>
          <a:noFill/>
          <a:ln/>
        </p:spPr>
        <p:txBody>
          <a:bodyPr wrap="square" lIns="0" tIns="0" rIns="0" bIns="0" rtlCol="0" anchor="ctr"/>
          <a:lstStyle/>
          <a:p>
            <a:pPr algn="ctr" indent="0" marL="0">
              <a:buNone/>
            </a:pPr>
            <a:r>
              <a:rPr lang="en-US" sz="1500" b="1" dirty="0">
                <a:solidFill>
                  <a:schemeClr val="tx2"/>
                </a:solidFill>
              </a:rPr>
              <a:t>Snowflake connector</a:t>
            </a:r>
            <a:endParaRPr lang="en-US" sz="1500" dirty="0"/>
          </a:p>
        </p:txBody>
      </p:sp>
      <p:sp>
        <p:nvSpPr>
          <p:cNvPr id="26" name="Flow Snowflake connector text"/>
          <p:cNvSpPr txBox="1"/>
          <p:nvPr/>
        </p:nvSpPr>
        <p:spPr>
          <a:xfrm>
            <a:off x="6320150" y="3355848"/>
            <a:ext cx="1444752" cy="640080"/>
          </a:xfrm>
          <a:prstGeom prst="rect">
            <a:avLst/>
          </a:prstGeom>
          <a:noFill/>
          <a:ln/>
        </p:spPr>
        <p:txBody>
          <a:bodyPr wrap="square" lIns="0" tIns="0" rIns="0" bIns="0" rtlCol="0" anchor="t"/>
          <a:lstStyle/>
          <a:p>
            <a:pPr algn="ctr" indent="0" marL="0">
              <a:buNone/>
            </a:pPr>
            <a:r>
              <a:rPr lang="en-US" sz="1200" dirty="0">
                <a:solidFill>
                  <a:schemeClr val="tx1"/>
                </a:solidFill>
              </a:rPr>
              <a:t>Kafka connector v4</a:t>
            </a:r>
            <a:endParaRPr lang="en-US" sz="1200" dirty="0"/>
          </a:p>
          <a:p>
            <a:pPr algn="ctr" indent="0" marL="0">
              <a:buNone/>
            </a:pPr>
            <a:r>
              <a:rPr lang="en-US" sz="1200" dirty="0">
                <a:solidFill>
                  <a:schemeClr val="tx1"/>
                </a:solidFill>
              </a:rPr>
              <a:t>Snowpipe Streaming</a:t>
            </a:r>
            <a:endParaRPr lang="en-US" sz="1200" dirty="0"/>
          </a:p>
        </p:txBody>
      </p:sp>
      <p:sp>
        <p:nvSpPr>
          <p:cNvPr id="27" name="Flow arrow 4"/>
          <p:cNvSpPr/>
          <p:nvPr/>
        </p:nvSpPr>
        <p:spPr>
          <a:xfrm>
            <a:off x="7892918" y="2404872"/>
            <a:ext cx="192573" cy="0"/>
          </a:xfrm>
          <a:prstGeom prst="line">
            <a:avLst/>
          </a:prstGeom>
          <a:noFill/>
          <a:ln w="25400">
            <a:solidFill>
              <a:srgbClr val="6C7A89"/>
            </a:solidFill>
            <a:prstDash val="solid"/>
            <a:tailEnd type="triangle"/>
          </a:ln>
        </p:spPr>
      </p:sp>
      <p:sp>
        <p:nvSpPr>
          <p:cNvPr id="28" name="Flow Bronze → Silver → Gold card"/>
          <p:cNvSpPr/>
          <p:nvPr/>
        </p:nvSpPr>
        <p:spPr>
          <a:xfrm>
            <a:off x="8122067" y="1783080"/>
            <a:ext cx="1627632" cy="2331720"/>
          </a:xfrm>
          <a:prstGeom prst="roundRect">
            <a:avLst>
              <a:gd name="adj" fmla="val 5618"/>
            </a:avLst>
          </a:prstGeom>
          <a:solidFill>
            <a:schemeClr val="bg2"/>
          </a:solidFill>
          <a:ln/>
          <a:effectLst>
            <a:outerShdw sx="100000" sy="100000" kx="0" ky="0" algn="bl" rotWithShape="0" blurRad="76200" dist="25400" dir="5400000">
              <a:srgbClr val="0F2A3D">
                <a:alpha val="12000"/>
              </a:srgbClr>
            </a:outerShdw>
          </a:effectLst>
        </p:spPr>
      </p:sp>
      <p:sp>
        <p:nvSpPr>
          <p:cNvPr id="29" name="Flow Bronze → Silver → Gold circle"/>
          <p:cNvSpPr/>
          <p:nvPr/>
        </p:nvSpPr>
        <p:spPr>
          <a:xfrm>
            <a:off x="8592983" y="2057400"/>
            <a:ext cx="685800" cy="685800"/>
          </a:xfrm>
          <a:prstGeom prst="ellipse">
            <a:avLst/>
          </a:prstGeom>
          <a:solidFill>
            <a:schemeClr val="accent3"/>
          </a:solidFill>
          <a:ln/>
        </p:spPr>
      </p:sp>
      <p:pic>
        <p:nvPicPr>
          <p:cNvPr id="30" name="Flow Bronze → Silver → Gold icon" descr="preencoded.png">    </p:cNvPr>
          <p:cNvPicPr>
            <a:picLocks noChangeAspect="1"/>
          </p:cNvPicPr>
          <p:nvPr/>
        </p:nvPicPr>
        <p:blipFill>
          <a:blip r:embed="rId5"/>
          <a:stretch>
            <a:fillRect/>
          </a:stretch>
        </p:blipFill>
        <p:spPr>
          <a:xfrm>
            <a:off x="8764433" y="2228850"/>
            <a:ext cx="342900" cy="342900"/>
          </a:xfrm>
          <a:prstGeom prst="rect">
            <a:avLst/>
          </a:prstGeom>
        </p:spPr>
      </p:pic>
      <p:sp>
        <p:nvSpPr>
          <p:cNvPr id="31" name="Flow Bronze → Silver → Gold title"/>
          <p:cNvSpPr txBox="1"/>
          <p:nvPr/>
        </p:nvSpPr>
        <p:spPr>
          <a:xfrm>
            <a:off x="8213507" y="2880360"/>
            <a:ext cx="1444752" cy="457200"/>
          </a:xfrm>
          <a:prstGeom prst="rect">
            <a:avLst/>
          </a:prstGeom>
          <a:noFill/>
          <a:ln/>
        </p:spPr>
        <p:txBody>
          <a:bodyPr wrap="square" lIns="0" tIns="0" rIns="0" bIns="0" rtlCol="0" anchor="ctr"/>
          <a:lstStyle/>
          <a:p>
            <a:pPr algn="ctr" indent="0" marL="0">
              <a:buNone/>
            </a:pPr>
            <a:r>
              <a:rPr lang="en-US" sz="1500" b="1" dirty="0">
                <a:solidFill>
                  <a:schemeClr val="tx2"/>
                </a:solidFill>
              </a:rPr>
              <a:t>Bronze → Silver → Gold</a:t>
            </a:r>
            <a:endParaRPr lang="en-US" sz="1500" dirty="0"/>
          </a:p>
        </p:txBody>
      </p:sp>
      <p:sp>
        <p:nvSpPr>
          <p:cNvPr id="32" name="Flow Bronze → Silver → Gold text"/>
          <p:cNvSpPr txBox="1"/>
          <p:nvPr/>
        </p:nvSpPr>
        <p:spPr>
          <a:xfrm>
            <a:off x="8213507" y="3355848"/>
            <a:ext cx="1444752" cy="640080"/>
          </a:xfrm>
          <a:prstGeom prst="rect">
            <a:avLst/>
          </a:prstGeom>
          <a:noFill/>
          <a:ln/>
        </p:spPr>
        <p:txBody>
          <a:bodyPr wrap="square" lIns="0" tIns="0" rIns="0" bIns="0" rtlCol="0" anchor="t"/>
          <a:lstStyle/>
          <a:p>
            <a:pPr algn="ctr" indent="0" marL="0">
              <a:buNone/>
            </a:pPr>
            <a:r>
              <a:rPr lang="en-US" sz="1200" dirty="0">
                <a:solidFill>
                  <a:schemeClr val="tx1"/>
                </a:solidFill>
              </a:rPr>
              <a:t>Raw JSON → typed</a:t>
            </a:r>
            <a:endParaRPr lang="en-US" sz="1200" dirty="0"/>
          </a:p>
          <a:p>
            <a:pPr algn="ctr" indent="0" marL="0">
              <a:buNone/>
            </a:pPr>
            <a:r>
              <a:rPr lang="en-US" sz="1200" dirty="0">
                <a:solidFill>
                  <a:schemeClr val="tx1"/>
                </a:solidFill>
              </a:rPr>
              <a:t>→ business tables</a:t>
            </a:r>
            <a:endParaRPr lang="en-US" sz="1200" dirty="0"/>
          </a:p>
        </p:txBody>
      </p:sp>
      <p:sp>
        <p:nvSpPr>
          <p:cNvPr id="33" name="Flow arrow 5"/>
          <p:cNvSpPr/>
          <p:nvPr/>
        </p:nvSpPr>
        <p:spPr>
          <a:xfrm>
            <a:off x="9786275" y="2404872"/>
            <a:ext cx="192573" cy="0"/>
          </a:xfrm>
          <a:prstGeom prst="line">
            <a:avLst/>
          </a:prstGeom>
          <a:noFill/>
          <a:ln w="25400">
            <a:solidFill>
              <a:srgbClr val="6C7A89"/>
            </a:solidFill>
            <a:prstDash val="solid"/>
            <a:tailEnd type="triangle"/>
          </a:ln>
        </p:spPr>
      </p:sp>
      <p:sp>
        <p:nvSpPr>
          <p:cNvPr id="34" name="Flow Portal + AI card"/>
          <p:cNvSpPr/>
          <p:nvPr/>
        </p:nvSpPr>
        <p:spPr>
          <a:xfrm>
            <a:off x="10015423" y="1783080"/>
            <a:ext cx="1627632" cy="2331720"/>
          </a:xfrm>
          <a:prstGeom prst="roundRect">
            <a:avLst>
              <a:gd name="adj" fmla="val 5618"/>
            </a:avLst>
          </a:prstGeom>
          <a:solidFill>
            <a:schemeClr val="bg2"/>
          </a:solidFill>
          <a:ln/>
          <a:effectLst>
            <a:outerShdw sx="100000" sy="100000" kx="0" ky="0" algn="bl" rotWithShape="0" blurRad="76200" dist="25400" dir="5400000">
              <a:srgbClr val="0F2A3D">
                <a:alpha val="12000"/>
              </a:srgbClr>
            </a:outerShdw>
          </a:effectLst>
        </p:spPr>
      </p:sp>
      <p:sp>
        <p:nvSpPr>
          <p:cNvPr id="35" name="Flow Portal + AI circle"/>
          <p:cNvSpPr/>
          <p:nvPr/>
        </p:nvSpPr>
        <p:spPr>
          <a:xfrm>
            <a:off x="10486339" y="2057400"/>
            <a:ext cx="685800" cy="685800"/>
          </a:xfrm>
          <a:prstGeom prst="ellipse">
            <a:avLst/>
          </a:prstGeom>
          <a:solidFill>
            <a:schemeClr val="accent1"/>
          </a:solidFill>
          <a:ln/>
        </p:spPr>
      </p:sp>
      <p:pic>
        <p:nvPicPr>
          <p:cNvPr id="36" name="Flow Portal + AI icon" descr="preencoded.png">    </p:cNvPr>
          <p:cNvPicPr>
            <a:picLocks noChangeAspect="1"/>
          </p:cNvPicPr>
          <p:nvPr/>
        </p:nvPicPr>
        <p:blipFill>
          <a:blip r:embed="rId6"/>
          <a:stretch>
            <a:fillRect/>
          </a:stretch>
        </p:blipFill>
        <p:spPr>
          <a:xfrm>
            <a:off x="10657789" y="2228850"/>
            <a:ext cx="342900" cy="342900"/>
          </a:xfrm>
          <a:prstGeom prst="rect">
            <a:avLst/>
          </a:prstGeom>
        </p:spPr>
      </p:pic>
      <p:sp>
        <p:nvSpPr>
          <p:cNvPr id="37" name="Flow Portal + AI title"/>
          <p:cNvSpPr txBox="1"/>
          <p:nvPr/>
        </p:nvSpPr>
        <p:spPr>
          <a:xfrm>
            <a:off x="10106863" y="2880360"/>
            <a:ext cx="1444752" cy="457200"/>
          </a:xfrm>
          <a:prstGeom prst="rect">
            <a:avLst/>
          </a:prstGeom>
          <a:noFill/>
          <a:ln/>
        </p:spPr>
        <p:txBody>
          <a:bodyPr wrap="square" lIns="0" tIns="0" rIns="0" bIns="0" rtlCol="0" anchor="ctr"/>
          <a:lstStyle/>
          <a:p>
            <a:pPr algn="ctr" indent="0" marL="0">
              <a:buNone/>
            </a:pPr>
            <a:r>
              <a:rPr lang="en-US" sz="1500" b="1" dirty="0">
                <a:solidFill>
                  <a:schemeClr val="tx2"/>
                </a:solidFill>
              </a:rPr>
              <a:t>Portal + AI</a:t>
            </a:r>
            <a:endParaRPr lang="en-US" sz="1500" dirty="0"/>
          </a:p>
        </p:txBody>
      </p:sp>
      <p:sp>
        <p:nvSpPr>
          <p:cNvPr id="38" name="Flow Portal + AI text"/>
          <p:cNvSpPr txBox="1"/>
          <p:nvPr/>
        </p:nvSpPr>
        <p:spPr>
          <a:xfrm>
            <a:off x="10106863" y="3355848"/>
            <a:ext cx="1444752" cy="640080"/>
          </a:xfrm>
          <a:prstGeom prst="rect">
            <a:avLst/>
          </a:prstGeom>
          <a:noFill/>
          <a:ln/>
        </p:spPr>
        <p:txBody>
          <a:bodyPr wrap="square" lIns="0" tIns="0" rIns="0" bIns="0" rtlCol="0" anchor="t"/>
          <a:lstStyle/>
          <a:p>
            <a:pPr algn="ctr" indent="0" marL="0">
              <a:buNone/>
            </a:pPr>
            <a:r>
              <a:rPr lang="en-US" sz="1200" dirty="0">
                <a:solidFill>
                  <a:schemeClr val="tx1"/>
                </a:solidFill>
              </a:rPr>
              <a:t>Order portal and</a:t>
            </a:r>
            <a:endParaRPr lang="en-US" sz="1200" dirty="0"/>
          </a:p>
          <a:p>
            <a:pPr algn="ctr" indent="0" marL="0">
              <a:buNone/>
            </a:pPr>
            <a:r>
              <a:rPr lang="en-US" sz="1200" dirty="0">
                <a:solidFill>
                  <a:schemeClr val="tx1"/>
                </a:solidFill>
              </a:rPr>
              <a:t>Cortex Agent chat</a:t>
            </a:r>
            <a:endParaRPr lang="en-US" sz="1200" dirty="0"/>
          </a:p>
        </p:txBody>
      </p:sp>
      <p:sp>
        <p:nvSpPr>
          <p:cNvPr id="39" name="Latency 1 value"/>
          <p:cNvSpPr txBox="1"/>
          <p:nvPr/>
        </p:nvSpPr>
        <p:spPr>
          <a:xfrm>
            <a:off x="548640" y="4617720"/>
            <a:ext cx="2567864" cy="548640"/>
          </a:xfrm>
          <a:prstGeom prst="rect">
            <a:avLst/>
          </a:prstGeom>
          <a:noFill/>
          <a:ln/>
        </p:spPr>
        <p:txBody>
          <a:bodyPr wrap="square" lIns="0" tIns="0" rIns="0" bIns="0" rtlCol="0" anchor="ctr"/>
          <a:lstStyle/>
          <a:p>
            <a:pPr indent="0" marL="0">
              <a:buNone/>
            </a:pPr>
            <a:r>
              <a:rPr lang="en-US" sz="3000" b="1" dirty="0">
                <a:solidFill>
                  <a:schemeClr val="accent1"/>
                </a:solidFill>
              </a:rPr>
              <a:t>~5 s</a:t>
            </a:r>
            <a:endParaRPr lang="en-US" sz="3000" dirty="0"/>
          </a:p>
        </p:txBody>
      </p:sp>
      <p:sp>
        <p:nvSpPr>
          <p:cNvPr id="40" name="Latency 1 label"/>
          <p:cNvSpPr txBox="1"/>
          <p:nvPr/>
        </p:nvSpPr>
        <p:spPr>
          <a:xfrm>
            <a:off x="548640" y="5166360"/>
            <a:ext cx="2567864" cy="320040"/>
          </a:xfrm>
          <a:prstGeom prst="rect">
            <a:avLst/>
          </a:prstGeom>
          <a:noFill/>
          <a:ln/>
        </p:spPr>
        <p:txBody>
          <a:bodyPr wrap="square" lIns="0" tIns="0" rIns="0" bIns="0" rtlCol="0" anchor="ctr"/>
          <a:lstStyle/>
          <a:p>
            <a:pPr indent="0" marL="0">
              <a:buNone/>
            </a:pPr>
            <a:r>
              <a:rPr lang="en-US" sz="1300" dirty="0">
                <a:solidFill>
                  <a:schemeClr val="accent5"/>
                </a:solidFill>
              </a:rPr>
              <a:t>commit → Kafka</a:t>
            </a:r>
            <a:endParaRPr lang="en-US" sz="1300" dirty="0"/>
          </a:p>
        </p:txBody>
      </p:sp>
      <p:sp>
        <p:nvSpPr>
          <p:cNvPr id="41" name="Latency 2 value"/>
          <p:cNvSpPr txBox="1"/>
          <p:nvPr/>
        </p:nvSpPr>
        <p:spPr>
          <a:xfrm>
            <a:off x="3390824" y="4617720"/>
            <a:ext cx="2567864" cy="548640"/>
          </a:xfrm>
          <a:prstGeom prst="rect">
            <a:avLst/>
          </a:prstGeom>
          <a:noFill/>
          <a:ln/>
        </p:spPr>
        <p:txBody>
          <a:bodyPr wrap="square" lIns="0" tIns="0" rIns="0" bIns="0" rtlCol="0" anchor="ctr"/>
          <a:lstStyle/>
          <a:p>
            <a:pPr indent="0" marL="0">
              <a:buNone/>
            </a:pPr>
            <a:r>
              <a:rPr lang="en-US" sz="3000" b="1" dirty="0">
                <a:solidFill>
                  <a:schemeClr val="accent1"/>
                </a:solidFill>
              </a:rPr>
              <a:t>5–10 s</a:t>
            </a:r>
            <a:endParaRPr lang="en-US" sz="3000" dirty="0"/>
          </a:p>
        </p:txBody>
      </p:sp>
      <p:sp>
        <p:nvSpPr>
          <p:cNvPr id="42" name="Latency 2 label"/>
          <p:cNvSpPr txBox="1"/>
          <p:nvPr/>
        </p:nvSpPr>
        <p:spPr>
          <a:xfrm>
            <a:off x="3390824" y="5166360"/>
            <a:ext cx="2567864" cy="320040"/>
          </a:xfrm>
          <a:prstGeom prst="rect">
            <a:avLst/>
          </a:prstGeom>
          <a:noFill/>
          <a:ln/>
        </p:spPr>
        <p:txBody>
          <a:bodyPr wrap="square" lIns="0" tIns="0" rIns="0" bIns="0" rtlCol="0" anchor="ctr"/>
          <a:lstStyle/>
          <a:p>
            <a:pPr indent="0" marL="0">
              <a:buNone/>
            </a:pPr>
            <a:r>
              <a:rPr lang="en-US" sz="1300" dirty="0">
                <a:solidFill>
                  <a:schemeClr val="accent5"/>
                </a:solidFill>
              </a:rPr>
              <a:t>Kafka → raw table</a:t>
            </a:r>
            <a:endParaRPr lang="en-US" sz="1300" dirty="0"/>
          </a:p>
        </p:txBody>
      </p:sp>
      <p:sp>
        <p:nvSpPr>
          <p:cNvPr id="43" name="Latency 3 value"/>
          <p:cNvSpPr txBox="1"/>
          <p:nvPr/>
        </p:nvSpPr>
        <p:spPr>
          <a:xfrm>
            <a:off x="6233008" y="4617720"/>
            <a:ext cx="2567864" cy="548640"/>
          </a:xfrm>
          <a:prstGeom prst="rect">
            <a:avLst/>
          </a:prstGeom>
          <a:noFill/>
          <a:ln/>
        </p:spPr>
        <p:txBody>
          <a:bodyPr wrap="square" lIns="0" tIns="0" rIns="0" bIns="0" rtlCol="0" anchor="ctr"/>
          <a:lstStyle/>
          <a:p>
            <a:pPr indent="0" marL="0">
              <a:buNone/>
            </a:pPr>
            <a:r>
              <a:rPr lang="en-US" sz="3000" b="1" dirty="0">
                <a:solidFill>
                  <a:schemeClr val="accent1"/>
                </a:solidFill>
              </a:rPr>
              <a:t>1 min</a:t>
            </a:r>
            <a:endParaRPr lang="en-US" sz="3000" dirty="0"/>
          </a:p>
        </p:txBody>
      </p:sp>
      <p:sp>
        <p:nvSpPr>
          <p:cNvPr id="44" name="Latency 3 label"/>
          <p:cNvSpPr txBox="1"/>
          <p:nvPr/>
        </p:nvSpPr>
        <p:spPr>
          <a:xfrm>
            <a:off x="6233008" y="5166360"/>
            <a:ext cx="2567864" cy="320040"/>
          </a:xfrm>
          <a:prstGeom prst="rect">
            <a:avLst/>
          </a:prstGeom>
          <a:noFill/>
          <a:ln/>
        </p:spPr>
        <p:txBody>
          <a:bodyPr wrap="square" lIns="0" tIns="0" rIns="0" bIns="0" rtlCol="0" anchor="ctr"/>
          <a:lstStyle/>
          <a:p>
            <a:pPr indent="0" marL="0">
              <a:buNone/>
            </a:pPr>
            <a:r>
              <a:rPr lang="en-US" sz="1300" dirty="0">
                <a:solidFill>
                  <a:schemeClr val="accent5"/>
                </a:solidFill>
              </a:rPr>
              <a:t>MERGE task → Silver</a:t>
            </a:r>
            <a:endParaRPr lang="en-US" sz="1300" dirty="0"/>
          </a:p>
        </p:txBody>
      </p:sp>
      <p:sp>
        <p:nvSpPr>
          <p:cNvPr id="45" name="Latency 4 value"/>
          <p:cNvSpPr txBox="1"/>
          <p:nvPr/>
        </p:nvSpPr>
        <p:spPr>
          <a:xfrm>
            <a:off x="9075191" y="4617720"/>
            <a:ext cx="2567864" cy="548640"/>
          </a:xfrm>
          <a:prstGeom prst="rect">
            <a:avLst/>
          </a:prstGeom>
          <a:noFill/>
          <a:ln/>
        </p:spPr>
        <p:txBody>
          <a:bodyPr wrap="square" lIns="0" tIns="0" rIns="0" bIns="0" rtlCol="0" anchor="ctr"/>
          <a:lstStyle/>
          <a:p>
            <a:pPr indent="0" marL="0">
              <a:buNone/>
            </a:pPr>
            <a:r>
              <a:rPr lang="en-US" sz="3000" b="1" dirty="0">
                <a:solidFill>
                  <a:schemeClr val="accent1"/>
                </a:solidFill>
              </a:rPr>
              <a:t>1 min</a:t>
            </a:r>
            <a:endParaRPr lang="en-US" sz="3000" dirty="0"/>
          </a:p>
        </p:txBody>
      </p:sp>
      <p:sp>
        <p:nvSpPr>
          <p:cNvPr id="46" name="Latency 4 label"/>
          <p:cNvSpPr txBox="1"/>
          <p:nvPr/>
        </p:nvSpPr>
        <p:spPr>
          <a:xfrm>
            <a:off x="9075191" y="5166360"/>
            <a:ext cx="2567864" cy="320040"/>
          </a:xfrm>
          <a:prstGeom prst="rect">
            <a:avLst/>
          </a:prstGeom>
          <a:noFill/>
          <a:ln/>
        </p:spPr>
        <p:txBody>
          <a:bodyPr wrap="square" lIns="0" tIns="0" rIns="0" bIns="0" rtlCol="0" anchor="ctr"/>
          <a:lstStyle/>
          <a:p>
            <a:pPr indent="0" marL="0">
              <a:buNone/>
            </a:pPr>
            <a:r>
              <a:rPr lang="en-US" sz="1300" dirty="0">
                <a:solidFill>
                  <a:schemeClr val="accent5"/>
                </a:solidFill>
              </a:rPr>
              <a:t>dynamic table → Gold</a:t>
            </a:r>
            <a:endParaRPr lang="en-US" sz="1300" dirty="0"/>
          </a:p>
        </p:txBody>
      </p:sp>
      <p:sp>
        <p:nvSpPr>
          <p:cNvPr id="47" name="Latency result"/>
          <p:cNvSpPr txBox="1"/>
          <p:nvPr/>
        </p:nvSpPr>
        <p:spPr>
          <a:xfrm>
            <a:off x="548640" y="5715000"/>
            <a:ext cx="11094415" cy="365760"/>
          </a:xfrm>
          <a:prstGeom prst="rect">
            <a:avLst/>
          </a:prstGeom>
          <a:noFill/>
          <a:ln/>
        </p:spPr>
        <p:txBody>
          <a:bodyPr wrap="square" lIns="0" tIns="0" rIns="0" bIns="0" rtlCol="0" anchor="ctr"/>
          <a:lstStyle/>
          <a:p>
            <a:pPr indent="0" marL="0">
              <a:buNone/>
            </a:pPr>
            <a:r>
              <a:rPr lang="en-US" sz="1500" b="1" dirty="0">
                <a:solidFill>
                  <a:schemeClr val="tx2"/>
                </a:solidFill>
              </a:rPr>
              <a:t>Result: </a:t>
            </a:r>
            <a:pPr indent="0" marL="0">
              <a:buNone/>
            </a:pPr>
            <a:r>
              <a:rPr lang="en-US" sz="1500" dirty="0">
                <a:solidFill>
                  <a:schemeClr val="tx2"/>
                </a:solidFill>
              </a:rPr>
              <a:t>an order saved in Oracle shows up in the portal in about 2–3 minutes.</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rPr>
              <a:t>Three rules the pipeline enforces</a:t>
            </a:r>
            <a:endParaRPr lang="en-US" sz="3200" dirty="0"/>
          </a:p>
        </p:txBody>
      </p:sp>
      <p:sp>
        <p:nvSpPr>
          <p:cNvPr id="3" name="Kicker"/>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DESIGN PRINCIPLES</a:t>
            </a:r>
            <a:endParaRPr lang="en-US" sz="1200" dirty="0"/>
          </a:p>
        </p:txBody>
      </p:sp>
      <p:sp>
        <p:nvSpPr>
          <p:cNvPr id="4" name="Rule 1 card"/>
          <p:cNvSpPr/>
          <p:nvPr/>
        </p:nvSpPr>
        <p:spPr>
          <a:xfrm>
            <a:off x="548640" y="1645920"/>
            <a:ext cx="3454298" cy="4297680"/>
          </a:xfrm>
          <a:prstGeom prst="roundRect">
            <a:avLst>
              <a:gd name="adj" fmla="val 3177"/>
            </a:avLst>
          </a:prstGeom>
          <a:solidFill>
            <a:schemeClr val="bg2"/>
          </a:solidFill>
          <a:ln/>
        </p:spPr>
      </p:sp>
      <p:sp>
        <p:nvSpPr>
          <p:cNvPr id="5" name="Rule 1 circle"/>
          <p:cNvSpPr/>
          <p:nvPr/>
        </p:nvSpPr>
        <p:spPr>
          <a:xfrm>
            <a:off x="914400" y="2011680"/>
            <a:ext cx="777240" cy="777240"/>
          </a:xfrm>
          <a:prstGeom prst="ellipse">
            <a:avLst/>
          </a:prstGeom>
          <a:solidFill>
            <a:schemeClr val="accent1"/>
          </a:solidFill>
          <a:ln/>
        </p:spPr>
      </p:sp>
      <p:pic>
        <p:nvPicPr>
          <p:cNvPr id="6" name="Rule 1 icon" descr="preencoded.png">    </p:cNvPr>
          <p:cNvPicPr>
            <a:picLocks noChangeAspect="1"/>
          </p:cNvPicPr>
          <p:nvPr/>
        </p:nvPicPr>
        <p:blipFill>
          <a:blip r:embed="rId1"/>
          <a:stretch>
            <a:fillRect/>
          </a:stretch>
        </p:blipFill>
        <p:spPr>
          <a:xfrm>
            <a:off x="1108710" y="2205990"/>
            <a:ext cx="388620" cy="388620"/>
          </a:xfrm>
          <a:prstGeom prst="rect">
            <a:avLst/>
          </a:prstGeom>
        </p:spPr>
      </p:pic>
      <p:sp>
        <p:nvSpPr>
          <p:cNvPr id="7" name="Rule 1 title"/>
          <p:cNvSpPr txBox="1"/>
          <p:nvPr/>
        </p:nvSpPr>
        <p:spPr>
          <a:xfrm>
            <a:off x="914400" y="2971800"/>
            <a:ext cx="2722778" cy="82296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Never count an order twice</a:t>
            </a:r>
            <a:endParaRPr lang="en-US" sz="2000" dirty="0"/>
          </a:p>
        </p:txBody>
      </p:sp>
      <p:sp>
        <p:nvSpPr>
          <p:cNvPr id="8" name="Rule 1 text"/>
          <p:cNvSpPr txBox="1"/>
          <p:nvPr/>
        </p:nvSpPr>
        <p:spPr>
          <a:xfrm>
            <a:off x="914400" y="3886200"/>
            <a:ext cx="2722778" cy="18288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Events ordered by Oracle SCN, then Kafka offset</a:t>
            </a:r>
            <a:endParaRPr lang="en-US" sz="1500" dirty="0"/>
          </a:p>
          <a:p>
            <a:pPr marL="342900" indent="-342900">
              <a:spcAft>
                <a:spcPts val="1000"/>
              </a:spcAft>
              <a:buSzPct val="100000"/>
              <a:buChar char="•"/>
            </a:pPr>
            <a:r>
              <a:rPr lang="en-US" sz="1500" dirty="0">
                <a:solidFill>
                  <a:schemeClr val="tx1"/>
                </a:solidFill>
              </a:rPr>
              <a:t>MERGE ignores older or replayed events</a:t>
            </a:r>
            <a:endParaRPr lang="en-US" sz="1500" dirty="0"/>
          </a:p>
          <a:p>
            <a:pPr marL="342900" indent="-342900">
              <a:spcAft>
                <a:spcPts val="1000"/>
              </a:spcAft>
              <a:buSzPct val="100000"/>
              <a:buChar char="•"/>
            </a:pPr>
            <a:r>
              <a:rPr lang="en-US" sz="1500" dirty="0">
                <a:solidFill>
                  <a:schemeClr val="tx1"/>
                </a:solidFill>
              </a:rPr>
              <a:t>Cancellations and credit memos subtract revenue</a:t>
            </a:r>
            <a:endParaRPr lang="en-US" sz="1500" dirty="0"/>
          </a:p>
        </p:txBody>
      </p:sp>
      <p:sp>
        <p:nvSpPr>
          <p:cNvPr id="9" name="Rule 2 card"/>
          <p:cNvSpPr/>
          <p:nvPr/>
        </p:nvSpPr>
        <p:spPr>
          <a:xfrm>
            <a:off x="4368698" y="1645920"/>
            <a:ext cx="3454298" cy="4297680"/>
          </a:xfrm>
          <a:prstGeom prst="roundRect">
            <a:avLst>
              <a:gd name="adj" fmla="val 3177"/>
            </a:avLst>
          </a:prstGeom>
          <a:solidFill>
            <a:schemeClr val="bg2"/>
          </a:solidFill>
          <a:ln/>
        </p:spPr>
      </p:sp>
      <p:sp>
        <p:nvSpPr>
          <p:cNvPr id="10" name="Rule 2 circle"/>
          <p:cNvSpPr/>
          <p:nvPr/>
        </p:nvSpPr>
        <p:spPr>
          <a:xfrm>
            <a:off x="4734458" y="2011680"/>
            <a:ext cx="777240" cy="777240"/>
          </a:xfrm>
          <a:prstGeom prst="ellipse">
            <a:avLst/>
          </a:prstGeom>
          <a:solidFill>
            <a:schemeClr val="accent6"/>
          </a:solidFill>
          <a:ln/>
        </p:spPr>
      </p:sp>
      <p:pic>
        <p:nvPicPr>
          <p:cNvPr id="11" name="Rule 2 icon" descr="preencoded.png">    </p:cNvPr>
          <p:cNvPicPr>
            <a:picLocks noChangeAspect="1"/>
          </p:cNvPicPr>
          <p:nvPr/>
        </p:nvPicPr>
        <p:blipFill>
          <a:blip r:embed="rId2"/>
          <a:stretch>
            <a:fillRect/>
          </a:stretch>
        </p:blipFill>
        <p:spPr>
          <a:xfrm>
            <a:off x="4928768" y="2205990"/>
            <a:ext cx="388620" cy="388620"/>
          </a:xfrm>
          <a:prstGeom prst="rect">
            <a:avLst/>
          </a:prstGeom>
        </p:spPr>
      </p:pic>
      <p:sp>
        <p:nvSpPr>
          <p:cNvPr id="12" name="Rule 2 title"/>
          <p:cNvSpPr txBox="1"/>
          <p:nvPr/>
        </p:nvSpPr>
        <p:spPr>
          <a:xfrm>
            <a:off x="4734458" y="2971800"/>
            <a:ext cx="2722778" cy="82296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Every step is safe to retry</a:t>
            </a:r>
            <a:endParaRPr lang="en-US" sz="2000" dirty="0"/>
          </a:p>
        </p:txBody>
      </p:sp>
      <p:sp>
        <p:nvSpPr>
          <p:cNvPr id="13" name="Rule 2 text"/>
          <p:cNvSpPr txBox="1"/>
          <p:nvPr/>
        </p:nvSpPr>
        <p:spPr>
          <a:xfrm>
            <a:off x="4734458" y="3886200"/>
            <a:ext cx="2722778" cy="18288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Connector v4 delivers exactly once</a:t>
            </a:r>
            <a:endParaRPr lang="en-US" sz="1500" dirty="0"/>
          </a:p>
          <a:p>
            <a:pPr marL="342900" indent="-342900">
              <a:spcAft>
                <a:spcPts val="1000"/>
              </a:spcAft>
              <a:buSzPct val="100000"/>
              <a:buChar char="•"/>
            </a:pPr>
            <a:r>
              <a:rPr lang="en-US" sz="1500" dirty="0">
                <a:solidFill>
                  <a:schemeClr val="tx1"/>
                </a:solidFill>
              </a:rPr>
              <a:t>Streams only advance when a MERGE commits</a:t>
            </a:r>
            <a:endParaRPr lang="en-US" sz="1500" dirty="0"/>
          </a:p>
          <a:p>
            <a:pPr marL="342900" indent="-342900">
              <a:spcAft>
                <a:spcPts val="1000"/>
              </a:spcAft>
              <a:buSzPct val="100000"/>
              <a:buChar char="•"/>
            </a:pPr>
            <a:r>
              <a:rPr lang="en-US" sz="1500" dirty="0">
                <a:solidFill>
                  <a:schemeClr val="tx1"/>
                </a:solidFill>
              </a:rPr>
              <a:t>Re-running scripts and SQL changes nothing twice</a:t>
            </a:r>
            <a:endParaRPr lang="en-US" sz="1500" dirty="0"/>
          </a:p>
        </p:txBody>
      </p:sp>
      <p:sp>
        <p:nvSpPr>
          <p:cNvPr id="14" name="Rule 3 card"/>
          <p:cNvSpPr/>
          <p:nvPr/>
        </p:nvSpPr>
        <p:spPr>
          <a:xfrm>
            <a:off x="8188757" y="1645920"/>
            <a:ext cx="3454298" cy="4297680"/>
          </a:xfrm>
          <a:prstGeom prst="roundRect">
            <a:avLst>
              <a:gd name="adj" fmla="val 3177"/>
            </a:avLst>
          </a:prstGeom>
          <a:solidFill>
            <a:schemeClr val="bg2"/>
          </a:solidFill>
          <a:ln/>
        </p:spPr>
      </p:sp>
      <p:sp>
        <p:nvSpPr>
          <p:cNvPr id="15" name="Rule 3 circle"/>
          <p:cNvSpPr/>
          <p:nvPr/>
        </p:nvSpPr>
        <p:spPr>
          <a:xfrm>
            <a:off x="8554517" y="2011680"/>
            <a:ext cx="777240" cy="777240"/>
          </a:xfrm>
          <a:prstGeom prst="ellipse">
            <a:avLst/>
          </a:prstGeom>
          <a:solidFill>
            <a:schemeClr val="accent2"/>
          </a:solidFill>
          <a:ln/>
        </p:spPr>
      </p:sp>
      <p:pic>
        <p:nvPicPr>
          <p:cNvPr id="16" name="Rule 3 icon" descr="preencoded.png">    </p:cNvPr>
          <p:cNvPicPr>
            <a:picLocks noChangeAspect="1"/>
          </p:cNvPicPr>
          <p:nvPr/>
        </p:nvPicPr>
        <p:blipFill>
          <a:blip r:embed="rId3"/>
          <a:stretch>
            <a:fillRect/>
          </a:stretch>
        </p:blipFill>
        <p:spPr>
          <a:xfrm>
            <a:off x="8748827" y="2205990"/>
            <a:ext cx="388620" cy="388620"/>
          </a:xfrm>
          <a:prstGeom prst="rect">
            <a:avLst/>
          </a:prstGeom>
        </p:spPr>
      </p:pic>
      <p:sp>
        <p:nvSpPr>
          <p:cNvPr id="17" name="Rule 3 title"/>
          <p:cNvSpPr txBox="1"/>
          <p:nvPr/>
        </p:nvSpPr>
        <p:spPr>
          <a:xfrm>
            <a:off x="8554517" y="2971800"/>
            <a:ext cx="2722778" cy="82296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Deleted data can be recovered</a:t>
            </a:r>
            <a:endParaRPr lang="en-US" sz="2000" dirty="0"/>
          </a:p>
        </p:txBody>
      </p:sp>
      <p:sp>
        <p:nvSpPr>
          <p:cNvPr id="18" name="Rule 3 text"/>
          <p:cNvSpPr txBox="1"/>
          <p:nvPr/>
        </p:nvSpPr>
        <p:spPr>
          <a:xfrm>
            <a:off x="8554517" y="3886200"/>
            <a:ext cx="2722778" cy="18288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Bronze keeps every CDC event, forever</a:t>
            </a:r>
            <a:endParaRPr lang="en-US" sz="1500" dirty="0"/>
          </a:p>
          <a:p>
            <a:pPr marL="342900" indent="-342900">
              <a:spcAft>
                <a:spcPts val="1000"/>
              </a:spcAft>
              <a:buSzPct val="100000"/>
              <a:buChar char="•"/>
            </a:pPr>
            <a:r>
              <a:rPr lang="en-US" sz="1500" dirty="0">
                <a:solidFill>
                  <a:schemeClr val="tx1"/>
                </a:solidFill>
              </a:rPr>
              <a:t>Deletes are soft (CDC_IS_DELETED = TRUE)</a:t>
            </a:r>
            <a:endParaRPr lang="en-US" sz="1500" dirty="0"/>
          </a:p>
          <a:p>
            <a:pPr marL="342900" indent="-342900">
              <a:spcAft>
                <a:spcPts val="1000"/>
              </a:spcAft>
              <a:buSzPct val="100000"/>
              <a:buChar char="•"/>
            </a:pPr>
            <a:r>
              <a:rPr lang="en-US" sz="1500" dirty="0">
                <a:solidFill>
                  <a:schemeClr val="tx1"/>
                </a:solidFill>
              </a:rPr>
              <a:t>Silver and Gold can be rebuilt by replay</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rPr>
              <a:t>Three layers in Snowflake</a:t>
            </a:r>
            <a:endParaRPr lang="en-US" sz="3200" dirty="0"/>
          </a:p>
        </p:txBody>
      </p:sp>
      <p:sp>
        <p:nvSpPr>
          <p:cNvPr id="3" name="Kicker"/>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MEDALLION ARCHITECTURE</a:t>
            </a:r>
            <a:endParaRPr lang="en-US" sz="1200" dirty="0"/>
          </a:p>
        </p:txBody>
      </p:sp>
      <p:sp>
        <p:nvSpPr>
          <p:cNvPr id="4" name="BRONZE tag"/>
          <p:cNvSpPr/>
          <p:nvPr/>
        </p:nvSpPr>
        <p:spPr>
          <a:xfrm>
            <a:off x="548640" y="1600200"/>
            <a:ext cx="2194560" cy="1280160"/>
          </a:xfrm>
          <a:prstGeom prst="roundRect">
            <a:avLst>
              <a:gd name="adj" fmla="val 7143"/>
            </a:avLst>
          </a:prstGeom>
          <a:solidFill>
            <a:srgbClr val="C77D3B"/>
          </a:solidFill>
          <a:ln/>
        </p:spPr>
      </p:sp>
      <p:sp>
        <p:nvSpPr>
          <p:cNvPr id="5" name="BRONZE label"/>
          <p:cNvSpPr txBox="1"/>
          <p:nvPr/>
        </p:nvSpPr>
        <p:spPr>
          <a:xfrm>
            <a:off x="685800" y="1600200"/>
            <a:ext cx="1920240" cy="1280160"/>
          </a:xfrm>
          <a:prstGeom prst="rect">
            <a:avLst/>
          </a:prstGeom>
          <a:noFill/>
          <a:ln/>
        </p:spPr>
        <p:txBody>
          <a:bodyPr wrap="square" lIns="0" tIns="0" rIns="0" bIns="0" rtlCol="0" anchor="ctr"/>
          <a:lstStyle/>
          <a:p>
            <a:pPr algn="ctr" indent="0" marL="0">
              <a:buNone/>
            </a:pPr>
            <a:r>
              <a:rPr lang="en-US" sz="2000" b="1" dirty="0">
                <a:solidFill>
                  <a:schemeClr val="bg1"/>
                </a:solidFill>
              </a:rPr>
              <a:t>BRONZE</a:t>
            </a:r>
            <a:endParaRPr lang="en-US" sz="2000" dirty="0"/>
          </a:p>
          <a:p>
            <a:pPr algn="ctr" indent="0" marL="0">
              <a:buNone/>
            </a:pPr>
            <a:r>
              <a:rPr lang="en-US" sz="1200" dirty="0">
                <a:solidFill>
                  <a:schemeClr val="bg1"/>
                </a:solidFill>
                <a:latin typeface="Courier New" pitchFamily="34" charset="0"/>
                <a:ea typeface="Courier New" pitchFamily="34" charset="-122"/>
                <a:cs typeface="Courier New" pitchFamily="34" charset="-120"/>
              </a:rPr>
              <a:t>SAP_RAW.SD</a:t>
            </a:r>
            <a:endParaRPr lang="en-US" sz="2000" dirty="0"/>
          </a:p>
        </p:txBody>
      </p:sp>
      <p:sp>
        <p:nvSpPr>
          <p:cNvPr id="6" name="BRONZE what"/>
          <p:cNvSpPr txBox="1"/>
          <p:nvPr/>
        </p:nvSpPr>
        <p:spPr>
          <a:xfrm>
            <a:off x="3063240" y="1600200"/>
            <a:ext cx="5669280" cy="1280160"/>
          </a:xfrm>
          <a:prstGeom prst="rect">
            <a:avLst/>
          </a:prstGeom>
          <a:noFill/>
          <a:ln/>
        </p:spPr>
        <p:txBody>
          <a:bodyPr wrap="square" lIns="0" tIns="0" rIns="0" bIns="0" rtlCol="0" anchor="ctr"/>
          <a:lstStyle/>
          <a:p>
            <a:pPr indent="0" marL="0">
              <a:buNone/>
            </a:pPr>
            <a:r>
              <a:rPr lang="en-US" sz="1500" dirty="0">
                <a:solidFill>
                  <a:schemeClr val="tx1"/>
                </a:solidFill>
              </a:rPr>
              <a:t>Every CDC event exactly as received, as JSON (VARIANT). Append-only audit trail and replay source.</a:t>
            </a:r>
            <a:endParaRPr lang="en-US" sz="1500" dirty="0"/>
          </a:p>
        </p:txBody>
      </p:sp>
      <p:sp>
        <p:nvSpPr>
          <p:cNvPr id="7" name="BRONZE how"/>
          <p:cNvSpPr txBox="1"/>
          <p:nvPr/>
        </p:nvSpPr>
        <p:spPr>
          <a:xfrm>
            <a:off x="9006840" y="1600200"/>
            <a:ext cx="2651760" cy="1280160"/>
          </a:xfrm>
          <a:prstGeom prst="rect">
            <a:avLst/>
          </a:prstGeom>
          <a:noFill/>
          <a:ln/>
        </p:spPr>
        <p:txBody>
          <a:bodyPr wrap="square" lIns="0" tIns="0" rIns="0" bIns="0" rtlCol="0" anchor="ctr"/>
          <a:lstStyle/>
          <a:p>
            <a:pPr indent="0" marL="0">
              <a:buNone/>
            </a:pPr>
            <a:r>
              <a:rPr lang="en-US" sz="1100" dirty="0">
                <a:solidFill>
                  <a:schemeClr val="accent5"/>
                </a:solidFill>
              </a:rPr>
              <a:t>Loaded by</a:t>
            </a:r>
            <a:endParaRPr lang="en-US" sz="1100" dirty="0"/>
          </a:p>
          <a:p>
            <a:pPr indent="0" marL="0">
              <a:buNone/>
            </a:pPr>
            <a:r>
              <a:rPr lang="en-US" sz="1500" b="1" dirty="0">
                <a:solidFill>
                  <a:schemeClr val="tx2"/>
                </a:solidFill>
              </a:rPr>
              <a:t>Kafka connector v4</a:t>
            </a:r>
            <a:endParaRPr lang="en-US" sz="1100" dirty="0"/>
          </a:p>
        </p:txBody>
      </p:sp>
      <p:sp>
        <p:nvSpPr>
          <p:cNvPr id="8" name="SILVER tag"/>
          <p:cNvSpPr/>
          <p:nvPr/>
        </p:nvSpPr>
        <p:spPr>
          <a:xfrm>
            <a:off x="548640" y="3108960"/>
            <a:ext cx="2194560" cy="1280160"/>
          </a:xfrm>
          <a:prstGeom prst="roundRect">
            <a:avLst>
              <a:gd name="adj" fmla="val 7143"/>
            </a:avLst>
          </a:prstGeom>
          <a:solidFill>
            <a:srgbClr val="7B8794"/>
          </a:solidFill>
          <a:ln/>
        </p:spPr>
      </p:sp>
      <p:sp>
        <p:nvSpPr>
          <p:cNvPr id="9" name="SILVER label"/>
          <p:cNvSpPr txBox="1"/>
          <p:nvPr/>
        </p:nvSpPr>
        <p:spPr>
          <a:xfrm>
            <a:off x="685800" y="3108960"/>
            <a:ext cx="1920240" cy="1280160"/>
          </a:xfrm>
          <a:prstGeom prst="rect">
            <a:avLst/>
          </a:prstGeom>
          <a:noFill/>
          <a:ln/>
        </p:spPr>
        <p:txBody>
          <a:bodyPr wrap="square" lIns="0" tIns="0" rIns="0" bIns="0" rtlCol="0" anchor="ctr"/>
          <a:lstStyle/>
          <a:p>
            <a:pPr algn="ctr" indent="0" marL="0">
              <a:buNone/>
            </a:pPr>
            <a:r>
              <a:rPr lang="en-US" sz="2000" b="1" dirty="0">
                <a:solidFill>
                  <a:schemeClr val="bg1"/>
                </a:solidFill>
              </a:rPr>
              <a:t>SILVER</a:t>
            </a:r>
            <a:endParaRPr lang="en-US" sz="2000" dirty="0"/>
          </a:p>
          <a:p>
            <a:pPr algn="ctr" indent="0" marL="0">
              <a:buNone/>
            </a:pPr>
            <a:r>
              <a:rPr lang="en-US" sz="1200" dirty="0">
                <a:solidFill>
                  <a:schemeClr val="bg1"/>
                </a:solidFill>
                <a:latin typeface="Courier New" pitchFamily="34" charset="0"/>
                <a:ea typeface="Courier New" pitchFamily="34" charset="-122"/>
                <a:cs typeface="Courier New" pitchFamily="34" charset="-120"/>
              </a:rPr>
              <a:t>SAP_CURATED.SD</a:t>
            </a:r>
            <a:endParaRPr lang="en-US" sz="2000" dirty="0"/>
          </a:p>
        </p:txBody>
      </p:sp>
      <p:sp>
        <p:nvSpPr>
          <p:cNvPr id="10" name="SILVER what"/>
          <p:cNvSpPr txBox="1"/>
          <p:nvPr/>
        </p:nvSpPr>
        <p:spPr>
          <a:xfrm>
            <a:off x="3063240" y="3108960"/>
            <a:ext cx="5669280" cy="1280160"/>
          </a:xfrm>
          <a:prstGeom prst="rect">
            <a:avLst/>
          </a:prstGeom>
          <a:noFill/>
          <a:ln/>
        </p:spPr>
        <p:txBody>
          <a:bodyPr wrap="square" lIns="0" tIns="0" rIns="0" bIns="0" rtlCol="0" anchor="ctr"/>
          <a:lstStyle/>
          <a:p>
            <a:pPr indent="0" marL="0">
              <a:buNone/>
            </a:pPr>
            <a:r>
              <a:rPr lang="en-US" sz="1500" dirty="0">
                <a:solidFill>
                  <a:schemeClr val="tx1"/>
                </a:solidFill>
              </a:rPr>
              <a:t>One typed row per primary key, same columns and types as Oracle, plus CDC columns. Soft deletes.</a:t>
            </a:r>
            <a:endParaRPr lang="en-US" sz="1500" dirty="0"/>
          </a:p>
        </p:txBody>
      </p:sp>
      <p:sp>
        <p:nvSpPr>
          <p:cNvPr id="11" name="SILVER how"/>
          <p:cNvSpPr txBox="1"/>
          <p:nvPr/>
        </p:nvSpPr>
        <p:spPr>
          <a:xfrm>
            <a:off x="9006840" y="3108960"/>
            <a:ext cx="2651760" cy="1280160"/>
          </a:xfrm>
          <a:prstGeom prst="rect">
            <a:avLst/>
          </a:prstGeom>
          <a:noFill/>
          <a:ln/>
        </p:spPr>
        <p:txBody>
          <a:bodyPr wrap="square" lIns="0" tIns="0" rIns="0" bIns="0" rtlCol="0" anchor="ctr"/>
          <a:lstStyle/>
          <a:p>
            <a:pPr indent="0" marL="0">
              <a:buNone/>
            </a:pPr>
            <a:r>
              <a:rPr lang="en-US" sz="1100" dirty="0">
                <a:solidFill>
                  <a:schemeClr val="accent5"/>
                </a:solidFill>
              </a:rPr>
              <a:t>Loaded by</a:t>
            </a:r>
            <a:endParaRPr lang="en-US" sz="1100" dirty="0"/>
          </a:p>
          <a:p>
            <a:pPr indent="0" marL="0">
              <a:buNone/>
            </a:pPr>
            <a:r>
              <a:rPr lang="en-US" sz="1500" b="1" dirty="0">
                <a:solidFill>
                  <a:schemeClr val="tx2"/>
                </a:solidFill>
              </a:rPr>
              <a:t>Streams + MERGE tasks (1 min)</a:t>
            </a:r>
            <a:endParaRPr lang="en-US" sz="1100" dirty="0"/>
          </a:p>
        </p:txBody>
      </p:sp>
      <p:sp>
        <p:nvSpPr>
          <p:cNvPr id="12" name="GOLD tag"/>
          <p:cNvSpPr/>
          <p:nvPr/>
        </p:nvSpPr>
        <p:spPr>
          <a:xfrm>
            <a:off x="548640" y="4617720"/>
            <a:ext cx="2194560" cy="1280160"/>
          </a:xfrm>
          <a:prstGeom prst="roundRect">
            <a:avLst>
              <a:gd name="adj" fmla="val 7143"/>
            </a:avLst>
          </a:prstGeom>
          <a:solidFill>
            <a:srgbClr val="C9A227"/>
          </a:solidFill>
          <a:ln/>
        </p:spPr>
      </p:sp>
      <p:sp>
        <p:nvSpPr>
          <p:cNvPr id="13" name="GOLD label"/>
          <p:cNvSpPr txBox="1"/>
          <p:nvPr/>
        </p:nvSpPr>
        <p:spPr>
          <a:xfrm>
            <a:off x="685800" y="4617720"/>
            <a:ext cx="1920240" cy="1280160"/>
          </a:xfrm>
          <a:prstGeom prst="rect">
            <a:avLst/>
          </a:prstGeom>
          <a:noFill/>
          <a:ln/>
        </p:spPr>
        <p:txBody>
          <a:bodyPr wrap="square" lIns="0" tIns="0" rIns="0" bIns="0" rtlCol="0" anchor="ctr"/>
          <a:lstStyle/>
          <a:p>
            <a:pPr algn="ctr" indent="0" marL="0">
              <a:buNone/>
            </a:pPr>
            <a:r>
              <a:rPr lang="en-US" sz="2000" b="1" dirty="0">
                <a:solidFill>
                  <a:schemeClr val="bg1"/>
                </a:solidFill>
              </a:rPr>
              <a:t>GOLD</a:t>
            </a:r>
            <a:endParaRPr lang="en-US" sz="2000" dirty="0"/>
          </a:p>
          <a:p>
            <a:pPr algn="ctr" indent="0" marL="0">
              <a:buNone/>
            </a:pPr>
            <a:r>
              <a:rPr lang="en-US" sz="1200" dirty="0">
                <a:solidFill>
                  <a:schemeClr val="bg1"/>
                </a:solidFill>
                <a:latin typeface="Courier New" pitchFamily="34" charset="0"/>
                <a:ea typeface="Courier New" pitchFamily="34" charset="-122"/>
                <a:cs typeface="Courier New" pitchFamily="34" charset="-120"/>
              </a:rPr>
              <a:t>SAP_GOLD.SALES</a:t>
            </a:r>
            <a:endParaRPr lang="en-US" sz="2000" dirty="0"/>
          </a:p>
        </p:txBody>
      </p:sp>
      <p:sp>
        <p:nvSpPr>
          <p:cNvPr id="14" name="GOLD what"/>
          <p:cNvSpPr txBox="1"/>
          <p:nvPr/>
        </p:nvSpPr>
        <p:spPr>
          <a:xfrm>
            <a:off x="3063240" y="4617720"/>
            <a:ext cx="5669280" cy="1280160"/>
          </a:xfrm>
          <a:prstGeom prst="rect">
            <a:avLst/>
          </a:prstGeom>
          <a:noFill/>
          <a:ln/>
        </p:spPr>
        <p:txBody>
          <a:bodyPr wrap="square" lIns="0" tIns="0" rIns="0" bIns="0" rtlCol="0" anchor="ctr"/>
          <a:lstStyle/>
          <a:p>
            <a:pPr indent="0" marL="0">
              <a:buNone/>
            </a:pPr>
            <a:r>
              <a:rPr lang="en-US" sz="1500" dirty="0">
                <a:solidFill>
                  <a:schemeClr val="tx1"/>
                </a:solidFill>
              </a:rPr>
              <a:t>Business tables: SALES_DOC_HDR, SALES_DOC_POS, DEL_DOC_POS. Business names, statuses, KPIs.</a:t>
            </a:r>
            <a:endParaRPr lang="en-US" sz="1500" dirty="0"/>
          </a:p>
        </p:txBody>
      </p:sp>
      <p:sp>
        <p:nvSpPr>
          <p:cNvPr id="15" name="GOLD how"/>
          <p:cNvSpPr txBox="1"/>
          <p:nvPr/>
        </p:nvSpPr>
        <p:spPr>
          <a:xfrm>
            <a:off x="9006840" y="4617720"/>
            <a:ext cx="2651760" cy="1280160"/>
          </a:xfrm>
          <a:prstGeom prst="rect">
            <a:avLst/>
          </a:prstGeom>
          <a:noFill/>
          <a:ln/>
        </p:spPr>
        <p:txBody>
          <a:bodyPr wrap="square" lIns="0" tIns="0" rIns="0" bIns="0" rtlCol="0" anchor="ctr"/>
          <a:lstStyle/>
          <a:p>
            <a:pPr indent="0" marL="0">
              <a:buNone/>
            </a:pPr>
            <a:r>
              <a:rPr lang="en-US" sz="1100" dirty="0">
                <a:solidFill>
                  <a:schemeClr val="accent5"/>
                </a:solidFill>
              </a:rPr>
              <a:t>Loaded by</a:t>
            </a:r>
            <a:endParaRPr lang="en-US" sz="1100" dirty="0"/>
          </a:p>
          <a:p>
            <a:pPr indent="0" marL="0">
              <a:buNone/>
            </a:pPr>
            <a:r>
              <a:rPr lang="en-US" sz="1500" b="1" dirty="0">
                <a:solidFill>
                  <a:schemeClr val="tx2"/>
                </a:solidFill>
              </a:rPr>
              <a:t>Dynamic tables (1 min lag)</a:t>
            </a:r>
            <a:endParaRPr lang="en-US" sz="11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rPr>
              <a:t>Before you start</a:t>
            </a:r>
            <a:endParaRPr lang="en-US" sz="3200" dirty="0"/>
          </a:p>
        </p:txBody>
      </p:sp>
      <p:sp>
        <p:nvSpPr>
          <p:cNvPr id="3" name="Kicker"/>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PREREQUISITES</a:t>
            </a:r>
            <a:endParaRPr lang="en-US" sz="1200" dirty="0"/>
          </a:p>
        </p:txBody>
      </p:sp>
      <p:pic>
        <p:nvPicPr>
          <p:cNvPr id="4" name="Prereq 1 icon" descr="preencoded.png">    </p:cNvPr>
          <p:cNvPicPr>
            <a:picLocks noChangeAspect="1"/>
          </p:cNvPicPr>
          <p:nvPr/>
        </p:nvPicPr>
        <p:blipFill>
          <a:blip r:embed="rId1"/>
          <a:stretch>
            <a:fillRect/>
          </a:stretch>
        </p:blipFill>
        <p:spPr>
          <a:xfrm>
            <a:off x="548640" y="1737360"/>
            <a:ext cx="310896" cy="310896"/>
          </a:xfrm>
          <a:prstGeom prst="rect">
            <a:avLst/>
          </a:prstGeom>
        </p:spPr>
      </p:pic>
      <p:sp>
        <p:nvSpPr>
          <p:cNvPr id="5" name="Prereq 1"/>
          <p:cNvSpPr txBox="1"/>
          <p:nvPr/>
        </p:nvSpPr>
        <p:spPr>
          <a:xfrm>
            <a:off x="1005840" y="1691640"/>
            <a:ext cx="5120640" cy="411480"/>
          </a:xfrm>
          <a:prstGeom prst="rect">
            <a:avLst/>
          </a:prstGeom>
          <a:noFill/>
          <a:ln/>
        </p:spPr>
        <p:txBody>
          <a:bodyPr wrap="square" lIns="0" tIns="0" rIns="0" bIns="0" rtlCol="0" anchor="ctr"/>
          <a:lstStyle/>
          <a:p>
            <a:pPr indent="0" marL="0">
              <a:buNone/>
            </a:pPr>
            <a:r>
              <a:rPr lang="en-US" sz="1500" dirty="0">
                <a:solidFill>
                  <a:schemeClr val="tx1"/>
                </a:solidFill>
              </a:rPr>
              <a:t>Docker Desktop with 8 GB memory for containers</a:t>
            </a:r>
            <a:endParaRPr lang="en-US" sz="1500" dirty="0"/>
          </a:p>
        </p:txBody>
      </p:sp>
      <p:pic>
        <p:nvPicPr>
          <p:cNvPr id="6" name="Prereq 2 icon" descr="preencoded.png">    </p:cNvPr>
          <p:cNvPicPr>
            <a:picLocks noChangeAspect="1"/>
          </p:cNvPicPr>
          <p:nvPr/>
        </p:nvPicPr>
        <p:blipFill>
          <a:blip r:embed="rId2"/>
          <a:stretch>
            <a:fillRect/>
          </a:stretch>
        </p:blipFill>
        <p:spPr>
          <a:xfrm>
            <a:off x="548640" y="2514600"/>
            <a:ext cx="310896" cy="310896"/>
          </a:xfrm>
          <a:prstGeom prst="rect">
            <a:avLst/>
          </a:prstGeom>
        </p:spPr>
      </p:pic>
      <p:sp>
        <p:nvSpPr>
          <p:cNvPr id="7" name="Prereq 2"/>
          <p:cNvSpPr txBox="1"/>
          <p:nvPr/>
        </p:nvSpPr>
        <p:spPr>
          <a:xfrm>
            <a:off x="1005840" y="2468880"/>
            <a:ext cx="5120640" cy="411480"/>
          </a:xfrm>
          <a:prstGeom prst="rect">
            <a:avLst/>
          </a:prstGeom>
          <a:noFill/>
          <a:ln/>
        </p:spPr>
        <p:txBody>
          <a:bodyPr wrap="square" lIns="0" tIns="0" rIns="0" bIns="0" rtlCol="0" anchor="ctr"/>
          <a:lstStyle/>
          <a:p>
            <a:pPr indent="0" marL="0">
              <a:buNone/>
            </a:pPr>
            <a:r>
              <a:rPr lang="en-US" sz="1500" dirty="0">
                <a:solidFill>
                  <a:schemeClr val="tx1"/>
                </a:solidFill>
              </a:rPr>
              <a:t>Snowflake account with an ACCOUNTADMIN user (a trial works)</a:t>
            </a:r>
            <a:endParaRPr lang="en-US" sz="1500" dirty="0"/>
          </a:p>
        </p:txBody>
      </p:sp>
      <p:pic>
        <p:nvPicPr>
          <p:cNvPr id="8" name="Prereq 3 icon" descr="preencoded.png">    </p:cNvPr>
          <p:cNvPicPr>
            <a:picLocks noChangeAspect="1"/>
          </p:cNvPicPr>
          <p:nvPr/>
        </p:nvPicPr>
        <p:blipFill>
          <a:blip r:embed="rId3"/>
          <a:stretch>
            <a:fillRect/>
          </a:stretch>
        </p:blipFill>
        <p:spPr>
          <a:xfrm>
            <a:off x="548640" y="3291840"/>
            <a:ext cx="310896" cy="310896"/>
          </a:xfrm>
          <a:prstGeom prst="rect">
            <a:avLst/>
          </a:prstGeom>
        </p:spPr>
      </p:pic>
      <p:sp>
        <p:nvSpPr>
          <p:cNvPr id="9" name="Prereq 3"/>
          <p:cNvSpPr txBox="1"/>
          <p:nvPr/>
        </p:nvSpPr>
        <p:spPr>
          <a:xfrm>
            <a:off x="1005840" y="3246120"/>
            <a:ext cx="5120640" cy="411480"/>
          </a:xfrm>
          <a:prstGeom prst="rect">
            <a:avLst/>
          </a:prstGeom>
          <a:noFill/>
          <a:ln/>
        </p:spPr>
        <p:txBody>
          <a:bodyPr wrap="square" lIns="0" tIns="0" rIns="0" bIns="0" rtlCol="0" anchor="ctr"/>
          <a:lstStyle/>
          <a:p>
            <a:pPr indent="0" marL="0">
              <a:buNone/>
            </a:pPr>
            <a:r>
              <a:rPr lang="en-US" sz="1500" dirty="0">
                <a:solidFill>
                  <a:schemeClr val="tx1"/>
                </a:solidFill>
              </a:rPr>
              <a:t>Git for Windows: Git Bash runs the scripts/*.sh files</a:t>
            </a:r>
            <a:endParaRPr lang="en-US" sz="1500" dirty="0"/>
          </a:p>
        </p:txBody>
      </p:sp>
      <p:pic>
        <p:nvPicPr>
          <p:cNvPr id="10" name="Prereq 4 icon" descr="preencoded.png">    </p:cNvPr>
          <p:cNvPicPr>
            <a:picLocks noChangeAspect="1"/>
          </p:cNvPicPr>
          <p:nvPr/>
        </p:nvPicPr>
        <p:blipFill>
          <a:blip r:embed="rId4"/>
          <a:stretch>
            <a:fillRect/>
          </a:stretch>
        </p:blipFill>
        <p:spPr>
          <a:xfrm>
            <a:off x="548640" y="4069080"/>
            <a:ext cx="310896" cy="310896"/>
          </a:xfrm>
          <a:prstGeom prst="rect">
            <a:avLst/>
          </a:prstGeom>
        </p:spPr>
      </p:pic>
      <p:sp>
        <p:nvSpPr>
          <p:cNvPr id="11" name="Prereq 4"/>
          <p:cNvSpPr txBox="1"/>
          <p:nvPr/>
        </p:nvSpPr>
        <p:spPr>
          <a:xfrm>
            <a:off x="1005840" y="4023360"/>
            <a:ext cx="5120640" cy="411480"/>
          </a:xfrm>
          <a:prstGeom prst="rect">
            <a:avLst/>
          </a:prstGeom>
          <a:noFill/>
          <a:ln/>
        </p:spPr>
        <p:txBody>
          <a:bodyPr wrap="square" lIns="0" tIns="0" rIns="0" bIns="0" rtlCol="0" anchor="ctr"/>
          <a:lstStyle/>
          <a:p>
            <a:pPr indent="0" marL="0">
              <a:buNone/>
            </a:pPr>
            <a:r>
              <a:rPr lang="en-US" sz="1500" dirty="0">
                <a:solidFill>
                  <a:schemeClr val="tx1"/>
                </a:solidFill>
              </a:rPr>
              <a:t>Python 3.12 (python.org, tick “Add python.exe to PATH”)</a:t>
            </a:r>
            <a:endParaRPr lang="en-US" sz="1500" dirty="0"/>
          </a:p>
        </p:txBody>
      </p:sp>
      <p:pic>
        <p:nvPicPr>
          <p:cNvPr id="12" name="Prereq 5 icon" descr="preencoded.png">    </p:cNvPr>
          <p:cNvPicPr>
            <a:picLocks noChangeAspect="1"/>
          </p:cNvPicPr>
          <p:nvPr/>
        </p:nvPicPr>
        <p:blipFill>
          <a:blip r:embed="rId5"/>
          <a:stretch>
            <a:fillRect/>
          </a:stretch>
        </p:blipFill>
        <p:spPr>
          <a:xfrm>
            <a:off x="548640" y="4846320"/>
            <a:ext cx="310896" cy="310896"/>
          </a:xfrm>
          <a:prstGeom prst="rect">
            <a:avLst/>
          </a:prstGeom>
        </p:spPr>
      </p:pic>
      <p:sp>
        <p:nvSpPr>
          <p:cNvPr id="13" name="Prereq 5"/>
          <p:cNvSpPr txBox="1"/>
          <p:nvPr/>
        </p:nvSpPr>
        <p:spPr>
          <a:xfrm>
            <a:off x="1005840" y="4800600"/>
            <a:ext cx="5120640" cy="411480"/>
          </a:xfrm>
          <a:prstGeom prst="rect">
            <a:avLst/>
          </a:prstGeom>
          <a:noFill/>
          <a:ln/>
        </p:spPr>
        <p:txBody>
          <a:bodyPr wrap="square" lIns="0" tIns="0" rIns="0" bIns="0" rtlCol="0" anchor="ctr"/>
          <a:lstStyle/>
          <a:p>
            <a:pPr indent="0" marL="0">
              <a:buNone/>
            </a:pPr>
            <a:r>
              <a:rPr lang="en-US" sz="1500" dirty="0">
                <a:solidFill>
                  <a:schemeClr val="tx1"/>
                </a:solidFill>
              </a:rPr>
              <a:t>Free ports: 1522 Oracle, 8083 Connect, 8085 Kafka UI, 8010 portal</a:t>
            </a:r>
            <a:endParaRPr lang="en-US" sz="1500" dirty="0"/>
          </a:p>
        </p:txBody>
      </p:sp>
      <p:graphicFrame>
        <p:nvGraphicFramePr>
          <p:cNvPr id="6" name="Folder map"/>
          <p:cNvGraphicFramePr>
            <a:graphicFrameLocks noGrp="1"/>
          </p:cNvGraphicFramePr>
          <p:nvPr>
            <p:extLst>
              <p:ext uri="{D42A27DB-BD31-4B8C-83A1-F6EECF244321}">
                <p14:modId xmlns:p14="http://schemas.microsoft.com/office/powerpoint/2010/main" val="1579011935"/>
              </p:ext>
            </p:extLst>
          </p:nvPr>
        </p:nvGraphicFramePr>
        <p:xfrm>
          <a:off x="6263640" y="1691640"/>
          <a:ext cx="5376672" cy="914400"/>
        </p:xfrm>
        <a:graphic>
          <a:graphicData uri="http://schemas.openxmlformats.org/drawingml/2006/table">
            <a:tbl>
              <a:tblPr/>
              <a:tblGrid>
                <a:gridCol w="1554480"/>
                <a:gridCol w="3822192"/>
              </a:tblGrid>
              <a:tr h="475488">
                <a:tc>
                  <a:txBody>
                    <a:bodyPr/>
                    <a:lstStyle/>
                    <a:p>
                      <a:pPr indent="0" marL="0">
                        <a:buNone/>
                      </a:pPr>
                      <a:r>
                        <a:rPr lang="en-US" sz="1300" b="1" dirty="0">
                          <a:solidFill>
                            <a:srgbClr val="FFFFFF"/>
                          </a:solidFill>
                        </a:rPr>
                        <a:t>Folder</a:t>
                      </a:r>
                      <a:endParaRPr lang="en-US" sz="1300" dirty="0"/>
                    </a:p>
                  </a:txBody>
                  <a:tcPr marL="91440" marR="91440" marT="0" marB="0"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rgbClr val="0F2A3D"/>
                    </a:solidFill>
                  </a:tcPr>
                </a:tc>
                <a:tc>
                  <a:txBody>
                    <a:bodyPr/>
                    <a:lstStyle/>
                    <a:p>
                      <a:pPr indent="0" marL="0">
                        <a:buNone/>
                      </a:pPr>
                      <a:r>
                        <a:rPr lang="en-US" sz="1300" b="1" dirty="0">
                          <a:solidFill>
                            <a:srgbClr val="FFFFFF"/>
                          </a:solidFill>
                        </a:rPr>
                        <a:t>What is inside</a:t>
                      </a:r>
                      <a:endParaRPr lang="en-US" sz="1300" dirty="0"/>
                    </a:p>
                  </a:txBody>
                  <a:tcPr marL="91440" marR="91440" marT="0" marB="0"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rgbClr val="0F2A3D"/>
                    </a:solidFill>
                  </a:tcPr>
                </a:tc>
              </a:tr>
              <a:tr h="475488">
                <a:tc>
                  <a:txBody>
                    <a:bodyPr/>
                    <a:lstStyle/>
                    <a:p>
                      <a:pPr indent="0" marL="0">
                        <a:buNone/>
                      </a:pPr>
                      <a:r>
                        <a:rPr lang="en-US" sz="1300" dirty="0">
                          <a:solidFill>
                            <a:srgbClr val="1B2631"/>
                          </a:solidFill>
                          <a:latin typeface="Courier New" pitchFamily="34" charset="0"/>
                          <a:ea typeface="Courier New" pitchFamily="34" charset="-122"/>
                          <a:cs typeface="Courier New" pitchFamily="34" charset="-120"/>
                        </a:rPr>
                        <a:t>oracle/</a:t>
                      </a:r>
                      <a:endParaRPr lang="en-US" sz="1300" dirty="0">
                        <a:latin typeface="Courier New" charset="0"/>
                        <a:ea typeface="Courier New" charset="0"/>
                        <a:cs typeface="Courier New" charset="0"/>
                      </a:endParaRPr>
                    </a:p>
                  </a:txBody>
                  <a:tcPr marL="91440" marR="91440" marT="0" marB="0"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rgbClr val="EEF3F6"/>
                    </a:solidFill>
                  </a:tcPr>
                </a:tc>
                <a:tc>
                  <a:txBody>
                    <a:bodyPr/>
                    <a:lstStyle/>
                    <a:p>
                      <a:pPr indent="0" marL="0">
                        <a:buNone/>
                      </a:pPr>
                      <a:r>
                        <a:rPr lang="en-US" sz="1300" dirty="0">
                          <a:solidFill>
                            <a:srgbClr val="1B2631"/>
                          </a:solidFill>
                        </a:rPr>
                        <a:t>SAP table DDL, sample data, Debezium user</a:t>
                      </a:r>
                      <a:endParaRPr lang="en-US" sz="1300" dirty="0"/>
                    </a:p>
                  </a:txBody>
                  <a:tcPr marL="91440" marR="91440" marT="0" marB="0"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rgbClr val="EEF3F6"/>
                    </a:solidFill>
                  </a:tcPr>
                </a:tc>
              </a:tr>
              <a:tr h="475488">
                <a:tc>
                  <a:txBody>
                    <a:bodyPr/>
                    <a:lstStyle/>
                    <a:p>
                      <a:pPr indent="0" marL="0">
                        <a:buNone/>
                      </a:pPr>
                      <a:r>
                        <a:rPr lang="en-US" sz="1300" dirty="0">
                          <a:solidFill>
                            <a:srgbClr val="1B2631"/>
                          </a:solidFill>
                          <a:latin typeface="Courier New" pitchFamily="34" charset="0"/>
                          <a:ea typeface="Courier New" pitchFamily="34" charset="-122"/>
                          <a:cs typeface="Courier New" pitchFamily="34" charset="-120"/>
                        </a:rPr>
                        <a:t>connect/</a:t>
                      </a:r>
                      <a:endParaRPr lang="en-US" sz="1300" dirty="0">
                        <a:latin typeface="Courier New" charset="0"/>
                        <a:ea typeface="Courier New" charset="0"/>
                        <a:cs typeface="Courier New" charset="0"/>
                      </a:endParaRPr>
                    </a:p>
                  </a:txBody>
                  <a:tcPr marL="91440" marR="91440" marT="0" marB="0"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1B2631"/>
                          </a:solidFill>
                        </a:rPr>
                        <a:t>Kafka Connect image (Debezium + Snowflake v4)</a:t>
                      </a:r>
                      <a:endParaRPr lang="en-US" sz="1300" dirty="0"/>
                    </a:p>
                  </a:txBody>
                  <a:tcPr marL="91440" marR="91440" marT="0" marB="0"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B2631"/>
                          </a:solidFill>
                          <a:latin typeface="Courier New" pitchFamily="34" charset="0"/>
                          <a:ea typeface="Courier New" pitchFamily="34" charset="-122"/>
                          <a:cs typeface="Courier New" pitchFamily="34" charset="-120"/>
                        </a:rPr>
                        <a:t>connectors/</a:t>
                      </a:r>
                      <a:endParaRPr lang="en-US" sz="1300" dirty="0">
                        <a:latin typeface="Courier New" charset="0"/>
                        <a:ea typeface="Courier New" charset="0"/>
                        <a:cs typeface="Courier New" charset="0"/>
                      </a:endParaRPr>
                    </a:p>
                  </a:txBody>
                  <a:tcPr marL="91440" marR="91440" marT="0" marB="0"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rgbClr val="EEF3F6"/>
                    </a:solidFill>
                  </a:tcPr>
                </a:tc>
                <a:tc>
                  <a:txBody>
                    <a:bodyPr/>
                    <a:lstStyle/>
                    <a:p>
                      <a:pPr indent="0" marL="0">
                        <a:buNone/>
                      </a:pPr>
                      <a:r>
                        <a:rPr lang="en-US" sz="1300" dirty="0">
                          <a:solidFill>
                            <a:srgbClr val="1B2631"/>
                          </a:solidFill>
                        </a:rPr>
                        <a:t>Source and sink connector configs</a:t>
                      </a:r>
                      <a:endParaRPr lang="en-US" sz="1300" dirty="0"/>
                    </a:p>
                  </a:txBody>
                  <a:tcPr marL="91440" marR="91440" marT="0" marB="0"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rgbClr val="EEF3F6"/>
                    </a:solidFill>
                  </a:tcPr>
                </a:tc>
              </a:tr>
              <a:tr h="475488">
                <a:tc>
                  <a:txBody>
                    <a:bodyPr/>
                    <a:lstStyle/>
                    <a:p>
                      <a:pPr indent="0" marL="0">
                        <a:buNone/>
                      </a:pPr>
                      <a:r>
                        <a:rPr lang="en-US" sz="1300" dirty="0">
                          <a:solidFill>
                            <a:srgbClr val="1B2631"/>
                          </a:solidFill>
                          <a:latin typeface="Courier New" pitchFamily="34" charset="0"/>
                          <a:ea typeface="Courier New" pitchFamily="34" charset="-122"/>
                          <a:cs typeface="Courier New" pitchFamily="34" charset="-120"/>
                        </a:rPr>
                        <a:t>scripts/</a:t>
                      </a:r>
                      <a:endParaRPr lang="en-US" sz="1300" dirty="0">
                        <a:latin typeface="Courier New" charset="0"/>
                        <a:ea typeface="Courier New" charset="0"/>
                        <a:cs typeface="Courier New" charset="0"/>
                      </a:endParaRPr>
                    </a:p>
                  </a:txBody>
                  <a:tcPr marL="91440" marR="91440" marT="0" marB="0"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1B2631"/>
                          </a:solidFill>
                        </a:rPr>
                        <a:t>Setup, status, daily orders, generators</a:t>
                      </a:r>
                      <a:endParaRPr lang="en-US" sz="1300" dirty="0"/>
                    </a:p>
                  </a:txBody>
                  <a:tcPr marL="91440" marR="91440" marT="0" marB="0"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B2631"/>
                          </a:solidFill>
                          <a:latin typeface="Courier New" pitchFamily="34" charset="0"/>
                          <a:ea typeface="Courier New" pitchFamily="34" charset="-122"/>
                          <a:cs typeface="Courier New" pitchFamily="34" charset="-120"/>
                        </a:rPr>
                        <a:t>snowflake/</a:t>
                      </a:r>
                      <a:endParaRPr lang="en-US" sz="1300" dirty="0">
                        <a:latin typeface="Courier New" charset="0"/>
                        <a:ea typeface="Courier New" charset="0"/>
                        <a:cs typeface="Courier New" charset="0"/>
                      </a:endParaRPr>
                    </a:p>
                  </a:txBody>
                  <a:tcPr marL="91440" marR="91440" marT="0" marB="0"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rgbClr val="EEF3F6"/>
                    </a:solidFill>
                  </a:tcPr>
                </a:tc>
                <a:tc>
                  <a:txBody>
                    <a:bodyPr/>
                    <a:lstStyle/>
                    <a:p>
                      <a:pPr indent="0" marL="0">
                        <a:buNone/>
                      </a:pPr>
                      <a:r>
                        <a:rPr lang="en-US" sz="1300" dirty="0">
                          <a:solidFill>
                            <a:srgbClr val="1B2631"/>
                          </a:solidFill>
                        </a:rPr>
                        <a:t>Setup, curated, Gold, agent, portal SQL</a:t>
                      </a:r>
                      <a:endParaRPr lang="en-US" sz="1300" dirty="0"/>
                    </a:p>
                  </a:txBody>
                  <a:tcPr marL="91440" marR="91440" marT="0" marB="0"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rgbClr val="EEF3F6"/>
                    </a:solidFill>
                  </a:tcPr>
                </a:tc>
              </a:tr>
              <a:tr h="475488">
                <a:tc>
                  <a:txBody>
                    <a:bodyPr/>
                    <a:lstStyle/>
                    <a:p>
                      <a:pPr indent="0" marL="0">
                        <a:buNone/>
                      </a:pPr>
                      <a:r>
                        <a:rPr lang="en-US" sz="1300" dirty="0">
                          <a:solidFill>
                            <a:srgbClr val="1B2631"/>
                          </a:solidFill>
                          <a:latin typeface="Courier New" pitchFamily="34" charset="0"/>
                          <a:ea typeface="Courier New" pitchFamily="34" charset="-122"/>
                          <a:cs typeface="Courier New" pitchFamily="34" charset="-120"/>
                        </a:rPr>
                        <a:t>portal/</a:t>
                      </a:r>
                      <a:endParaRPr lang="en-US" sz="1300" dirty="0">
                        <a:latin typeface="Courier New" charset="0"/>
                        <a:ea typeface="Courier New" charset="0"/>
                        <a:cs typeface="Courier New" charset="0"/>
                      </a:endParaRPr>
                    </a:p>
                  </a:txBody>
                  <a:tcPr marL="91440" marR="91440" marT="0" marB="0"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300" dirty="0">
                          <a:solidFill>
                            <a:srgbClr val="1B2631"/>
                          </a:solidFill>
                        </a:rPr>
                        <a:t>Customer portal (FastAPI + web page)</a:t>
                      </a:r>
                      <a:endParaRPr lang="en-US" sz="1300" dirty="0"/>
                    </a:p>
                  </a:txBody>
                  <a:tcPr marL="91440" marR="91440" marT="0" marB="0"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rPr>
              <a:t>Setup roadmap: ten steps</a:t>
            </a:r>
            <a:endParaRPr lang="en-US" sz="3200" dirty="0"/>
          </a:p>
        </p:txBody>
      </p:sp>
      <p:sp>
        <p:nvSpPr>
          <p:cNvPr id="3" name="Kicker"/>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ROADMAP</a:t>
            </a:r>
            <a:endParaRPr lang="en-US" sz="1200" dirty="0"/>
          </a:p>
        </p:txBody>
      </p:sp>
      <p:sp>
        <p:nvSpPr>
          <p:cNvPr id="4" name="Roadmap 1 card"/>
          <p:cNvSpPr/>
          <p:nvPr/>
        </p:nvSpPr>
        <p:spPr>
          <a:xfrm>
            <a:off x="548640" y="1691640"/>
            <a:ext cx="1999427" cy="1920240"/>
          </a:xfrm>
          <a:prstGeom prst="roundRect">
            <a:avLst>
              <a:gd name="adj" fmla="val 4762"/>
            </a:avLst>
          </a:prstGeom>
          <a:solidFill>
            <a:schemeClr val="bg2"/>
          </a:solidFill>
          <a:ln/>
        </p:spPr>
      </p:sp>
      <p:sp>
        <p:nvSpPr>
          <p:cNvPr id="5" name="Roadmap 1 badge"/>
          <p:cNvSpPr/>
          <p:nvPr/>
        </p:nvSpPr>
        <p:spPr>
          <a:xfrm>
            <a:off x="777240" y="1920240"/>
            <a:ext cx="566928" cy="566928"/>
          </a:xfrm>
          <a:prstGeom prst="ellipse">
            <a:avLst/>
          </a:prstGeom>
          <a:solidFill>
            <a:schemeClr val="accent1"/>
          </a:solidFill>
          <a:ln/>
        </p:spPr>
      </p:sp>
      <p:sp>
        <p:nvSpPr>
          <p:cNvPr id="6" name="Roadmap 1 number"/>
          <p:cNvSpPr txBox="1"/>
          <p:nvPr/>
        </p:nvSpPr>
        <p:spPr>
          <a:xfrm>
            <a:off x="777240" y="192024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7" name="Roadmap 1 title"/>
          <p:cNvSpPr txBox="1"/>
          <p:nvPr/>
        </p:nvSpPr>
        <p:spPr>
          <a:xfrm>
            <a:off x="777240" y="2606040"/>
            <a:ext cx="1587947" cy="566928"/>
          </a:xfrm>
          <a:prstGeom prst="rect">
            <a:avLst/>
          </a:prstGeom>
          <a:noFill/>
          <a:ln/>
        </p:spPr>
        <p:txBody>
          <a:bodyPr wrap="square" lIns="0" tIns="0" rIns="0" bIns="0" rtlCol="0" anchor="t"/>
          <a:lstStyle/>
          <a:p>
            <a:pPr indent="0" marL="0">
              <a:buNone/>
            </a:pPr>
            <a:r>
              <a:rPr lang="en-US" sz="1500" b="1" dirty="0">
                <a:solidFill>
                  <a:schemeClr val="tx2"/>
                </a:solidFill>
              </a:rPr>
              <a:t>Snowflake account setup</a:t>
            </a:r>
            <a:endParaRPr lang="en-US" sz="1500" dirty="0"/>
          </a:p>
        </p:txBody>
      </p:sp>
      <p:sp>
        <p:nvSpPr>
          <p:cNvPr id="8" name="Roadmap 1 where"/>
          <p:cNvSpPr txBox="1"/>
          <p:nvPr/>
        </p:nvSpPr>
        <p:spPr>
          <a:xfrm>
            <a:off x="777240" y="3172968"/>
            <a:ext cx="1587947" cy="292608"/>
          </a:xfrm>
          <a:prstGeom prst="rect">
            <a:avLst/>
          </a:prstGeom>
          <a:noFill/>
          <a:ln/>
        </p:spPr>
        <p:txBody>
          <a:bodyPr wrap="square" lIns="0" tIns="0" rIns="0" bIns="0" rtlCol="0" anchor="ctr"/>
          <a:lstStyle/>
          <a:p>
            <a:pPr indent="0" marL="0">
              <a:buNone/>
            </a:pPr>
            <a:r>
              <a:rPr lang="en-US" sz="1200" dirty="0">
                <a:solidFill>
                  <a:schemeClr val="accent5"/>
                </a:solidFill>
              </a:rPr>
              <a:t>Git Bash + Snowsight</a:t>
            </a:r>
            <a:endParaRPr lang="en-US" sz="1200" dirty="0"/>
          </a:p>
        </p:txBody>
      </p:sp>
      <p:sp>
        <p:nvSpPr>
          <p:cNvPr id="9" name="Roadmap 2 card"/>
          <p:cNvSpPr/>
          <p:nvPr/>
        </p:nvSpPr>
        <p:spPr>
          <a:xfrm>
            <a:off x="2822387" y="1691640"/>
            <a:ext cx="1999427" cy="1920240"/>
          </a:xfrm>
          <a:prstGeom prst="roundRect">
            <a:avLst>
              <a:gd name="adj" fmla="val 4762"/>
            </a:avLst>
          </a:prstGeom>
          <a:solidFill>
            <a:schemeClr val="bg2"/>
          </a:solidFill>
          <a:ln/>
        </p:spPr>
      </p:sp>
      <p:sp>
        <p:nvSpPr>
          <p:cNvPr id="10" name="Roadmap 2 badge"/>
          <p:cNvSpPr/>
          <p:nvPr/>
        </p:nvSpPr>
        <p:spPr>
          <a:xfrm>
            <a:off x="3050987" y="1920240"/>
            <a:ext cx="566928" cy="566928"/>
          </a:xfrm>
          <a:prstGeom prst="ellipse">
            <a:avLst/>
          </a:prstGeom>
          <a:solidFill>
            <a:schemeClr val="accent1"/>
          </a:solidFill>
          <a:ln/>
        </p:spPr>
      </p:sp>
      <p:sp>
        <p:nvSpPr>
          <p:cNvPr id="11" name="Roadmap 2 number"/>
          <p:cNvSpPr txBox="1"/>
          <p:nvPr/>
        </p:nvSpPr>
        <p:spPr>
          <a:xfrm>
            <a:off x="3050987" y="192024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2" name="Roadmap 2 title"/>
          <p:cNvSpPr txBox="1"/>
          <p:nvPr/>
        </p:nvSpPr>
        <p:spPr>
          <a:xfrm>
            <a:off x="3050987" y="2606040"/>
            <a:ext cx="1587947" cy="566928"/>
          </a:xfrm>
          <a:prstGeom prst="rect">
            <a:avLst/>
          </a:prstGeom>
          <a:noFill/>
          <a:ln/>
        </p:spPr>
        <p:txBody>
          <a:bodyPr wrap="square" lIns="0" tIns="0" rIns="0" bIns="0" rtlCol="0" anchor="t"/>
          <a:lstStyle/>
          <a:p>
            <a:pPr indent="0" marL="0">
              <a:buNone/>
            </a:pPr>
            <a:r>
              <a:rPr lang="en-US" sz="1500" b="1" dirty="0">
                <a:solidFill>
                  <a:schemeClr val="tx2"/>
                </a:solidFill>
              </a:rPr>
              <a:t>Start the Docker stack</a:t>
            </a:r>
            <a:endParaRPr lang="en-US" sz="1500" dirty="0"/>
          </a:p>
        </p:txBody>
      </p:sp>
      <p:sp>
        <p:nvSpPr>
          <p:cNvPr id="13" name="Roadmap 2 where"/>
          <p:cNvSpPr txBox="1"/>
          <p:nvPr/>
        </p:nvSpPr>
        <p:spPr>
          <a:xfrm>
            <a:off x="3050987" y="3172968"/>
            <a:ext cx="1587947" cy="292608"/>
          </a:xfrm>
          <a:prstGeom prst="rect">
            <a:avLst/>
          </a:prstGeom>
          <a:noFill/>
          <a:ln/>
        </p:spPr>
        <p:txBody>
          <a:bodyPr wrap="square" lIns="0" tIns="0" rIns="0" bIns="0" rtlCol="0" anchor="ctr"/>
          <a:lstStyle/>
          <a:p>
            <a:pPr indent="0" marL="0">
              <a:buNone/>
            </a:pPr>
            <a:r>
              <a:rPr lang="en-US" sz="1200" dirty="0">
                <a:solidFill>
                  <a:schemeClr val="accent5"/>
                </a:solidFill>
              </a:rPr>
              <a:t>PowerShell</a:t>
            </a:r>
            <a:endParaRPr lang="en-US" sz="1200" dirty="0"/>
          </a:p>
        </p:txBody>
      </p:sp>
      <p:sp>
        <p:nvSpPr>
          <p:cNvPr id="14" name="Roadmap 3 card"/>
          <p:cNvSpPr/>
          <p:nvPr/>
        </p:nvSpPr>
        <p:spPr>
          <a:xfrm>
            <a:off x="5096134" y="1691640"/>
            <a:ext cx="1999427" cy="1920240"/>
          </a:xfrm>
          <a:prstGeom prst="roundRect">
            <a:avLst>
              <a:gd name="adj" fmla="val 4762"/>
            </a:avLst>
          </a:prstGeom>
          <a:solidFill>
            <a:schemeClr val="bg2"/>
          </a:solidFill>
          <a:ln/>
        </p:spPr>
      </p:sp>
      <p:sp>
        <p:nvSpPr>
          <p:cNvPr id="15" name="Roadmap 3 badge"/>
          <p:cNvSpPr/>
          <p:nvPr/>
        </p:nvSpPr>
        <p:spPr>
          <a:xfrm>
            <a:off x="5324734" y="1920240"/>
            <a:ext cx="566928" cy="566928"/>
          </a:xfrm>
          <a:prstGeom prst="ellipse">
            <a:avLst/>
          </a:prstGeom>
          <a:solidFill>
            <a:schemeClr val="accent1"/>
          </a:solidFill>
          <a:ln/>
        </p:spPr>
      </p:sp>
      <p:sp>
        <p:nvSpPr>
          <p:cNvPr id="16" name="Roadmap 3 number"/>
          <p:cNvSpPr txBox="1"/>
          <p:nvPr/>
        </p:nvSpPr>
        <p:spPr>
          <a:xfrm>
            <a:off x="5324734" y="192024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7" name="Roadmap 3 title"/>
          <p:cNvSpPr txBox="1"/>
          <p:nvPr/>
        </p:nvSpPr>
        <p:spPr>
          <a:xfrm>
            <a:off x="5324734" y="2606040"/>
            <a:ext cx="1587947" cy="566928"/>
          </a:xfrm>
          <a:prstGeom prst="rect">
            <a:avLst/>
          </a:prstGeom>
          <a:noFill/>
          <a:ln/>
        </p:spPr>
        <p:txBody>
          <a:bodyPr wrap="square" lIns="0" tIns="0" rIns="0" bIns="0" rtlCol="0" anchor="t"/>
          <a:lstStyle/>
          <a:p>
            <a:pPr indent="0" marL="0">
              <a:buNone/>
            </a:pPr>
            <a:r>
              <a:rPr lang="en-US" sz="1500" b="1" dirty="0">
                <a:solidFill>
                  <a:schemeClr val="tx2"/>
                </a:solidFill>
              </a:rPr>
              <a:t>Prepare Oracle, load SAP data</a:t>
            </a:r>
            <a:endParaRPr lang="en-US" sz="1500" dirty="0"/>
          </a:p>
        </p:txBody>
      </p:sp>
      <p:sp>
        <p:nvSpPr>
          <p:cNvPr id="18" name="Roadmap 3 where"/>
          <p:cNvSpPr txBox="1"/>
          <p:nvPr/>
        </p:nvSpPr>
        <p:spPr>
          <a:xfrm>
            <a:off x="5324734" y="3172968"/>
            <a:ext cx="1587947" cy="292608"/>
          </a:xfrm>
          <a:prstGeom prst="rect">
            <a:avLst/>
          </a:prstGeom>
          <a:noFill/>
          <a:ln/>
        </p:spPr>
        <p:txBody>
          <a:bodyPr wrap="square" lIns="0" tIns="0" rIns="0" bIns="0" rtlCol="0" anchor="ctr"/>
          <a:lstStyle/>
          <a:p>
            <a:pPr indent="0" marL="0">
              <a:buNone/>
            </a:pPr>
            <a:r>
              <a:rPr lang="en-US" sz="1200" dirty="0">
                <a:solidFill>
                  <a:schemeClr val="accent5"/>
                </a:solidFill>
              </a:rPr>
              <a:t>Git Bash</a:t>
            </a:r>
            <a:endParaRPr lang="en-US" sz="1200" dirty="0"/>
          </a:p>
        </p:txBody>
      </p:sp>
      <p:sp>
        <p:nvSpPr>
          <p:cNvPr id="19" name="Roadmap 4 card"/>
          <p:cNvSpPr/>
          <p:nvPr/>
        </p:nvSpPr>
        <p:spPr>
          <a:xfrm>
            <a:off x="7369881" y="1691640"/>
            <a:ext cx="1999427" cy="1920240"/>
          </a:xfrm>
          <a:prstGeom prst="roundRect">
            <a:avLst>
              <a:gd name="adj" fmla="val 4762"/>
            </a:avLst>
          </a:prstGeom>
          <a:solidFill>
            <a:schemeClr val="bg2"/>
          </a:solidFill>
          <a:ln/>
        </p:spPr>
      </p:sp>
      <p:sp>
        <p:nvSpPr>
          <p:cNvPr id="20" name="Roadmap 4 badge"/>
          <p:cNvSpPr/>
          <p:nvPr/>
        </p:nvSpPr>
        <p:spPr>
          <a:xfrm>
            <a:off x="7598481" y="1920240"/>
            <a:ext cx="566928" cy="566928"/>
          </a:xfrm>
          <a:prstGeom prst="ellipse">
            <a:avLst/>
          </a:prstGeom>
          <a:solidFill>
            <a:schemeClr val="accent1"/>
          </a:solidFill>
          <a:ln/>
        </p:spPr>
      </p:sp>
      <p:sp>
        <p:nvSpPr>
          <p:cNvPr id="21" name="Roadmap 4 number"/>
          <p:cNvSpPr txBox="1"/>
          <p:nvPr/>
        </p:nvSpPr>
        <p:spPr>
          <a:xfrm>
            <a:off x="7598481" y="192024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2" name="Roadmap 4 title"/>
          <p:cNvSpPr txBox="1"/>
          <p:nvPr/>
        </p:nvSpPr>
        <p:spPr>
          <a:xfrm>
            <a:off x="7598481" y="2606040"/>
            <a:ext cx="1587947" cy="566928"/>
          </a:xfrm>
          <a:prstGeom prst="rect">
            <a:avLst/>
          </a:prstGeom>
          <a:noFill/>
          <a:ln/>
        </p:spPr>
        <p:txBody>
          <a:bodyPr wrap="square" lIns="0" tIns="0" rIns="0" bIns="0" rtlCol="0" anchor="t"/>
          <a:lstStyle/>
          <a:p>
            <a:pPr indent="0" marL="0">
              <a:buNone/>
            </a:pPr>
            <a:r>
              <a:rPr lang="en-US" sz="1500" b="1" dirty="0">
                <a:solidFill>
                  <a:schemeClr val="tx2"/>
                </a:solidFill>
              </a:rPr>
              <a:t>Start Debezium to Kafka</a:t>
            </a:r>
            <a:endParaRPr lang="en-US" sz="1500" dirty="0"/>
          </a:p>
        </p:txBody>
      </p:sp>
      <p:sp>
        <p:nvSpPr>
          <p:cNvPr id="23" name="Roadmap 4 where"/>
          <p:cNvSpPr txBox="1"/>
          <p:nvPr/>
        </p:nvSpPr>
        <p:spPr>
          <a:xfrm>
            <a:off x="7598481" y="3172968"/>
            <a:ext cx="1587947" cy="292608"/>
          </a:xfrm>
          <a:prstGeom prst="rect">
            <a:avLst/>
          </a:prstGeom>
          <a:noFill/>
          <a:ln/>
        </p:spPr>
        <p:txBody>
          <a:bodyPr wrap="square" lIns="0" tIns="0" rIns="0" bIns="0" rtlCol="0" anchor="ctr"/>
          <a:lstStyle/>
          <a:p>
            <a:pPr indent="0" marL="0">
              <a:buNone/>
            </a:pPr>
            <a:r>
              <a:rPr lang="en-US" sz="1200" dirty="0">
                <a:solidFill>
                  <a:schemeClr val="accent5"/>
                </a:solidFill>
              </a:rPr>
              <a:t>Git Bash</a:t>
            </a:r>
            <a:endParaRPr lang="en-US" sz="1200" dirty="0"/>
          </a:p>
        </p:txBody>
      </p:sp>
      <p:sp>
        <p:nvSpPr>
          <p:cNvPr id="24" name="Roadmap 5 card"/>
          <p:cNvSpPr/>
          <p:nvPr/>
        </p:nvSpPr>
        <p:spPr>
          <a:xfrm>
            <a:off x="9643628" y="1691640"/>
            <a:ext cx="1999427" cy="1920240"/>
          </a:xfrm>
          <a:prstGeom prst="roundRect">
            <a:avLst>
              <a:gd name="adj" fmla="val 4762"/>
            </a:avLst>
          </a:prstGeom>
          <a:solidFill>
            <a:schemeClr val="bg2"/>
          </a:solidFill>
          <a:ln/>
        </p:spPr>
      </p:sp>
      <p:sp>
        <p:nvSpPr>
          <p:cNvPr id="25" name="Roadmap 5 badge"/>
          <p:cNvSpPr/>
          <p:nvPr/>
        </p:nvSpPr>
        <p:spPr>
          <a:xfrm>
            <a:off x="9872228" y="1920240"/>
            <a:ext cx="566928" cy="566928"/>
          </a:xfrm>
          <a:prstGeom prst="ellipse">
            <a:avLst/>
          </a:prstGeom>
          <a:solidFill>
            <a:schemeClr val="accent1"/>
          </a:solidFill>
          <a:ln/>
        </p:spPr>
      </p:sp>
      <p:sp>
        <p:nvSpPr>
          <p:cNvPr id="26" name="Roadmap 5 number"/>
          <p:cNvSpPr txBox="1"/>
          <p:nvPr/>
        </p:nvSpPr>
        <p:spPr>
          <a:xfrm>
            <a:off x="9872228" y="192024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7" name="Roadmap 5 title"/>
          <p:cNvSpPr txBox="1"/>
          <p:nvPr/>
        </p:nvSpPr>
        <p:spPr>
          <a:xfrm>
            <a:off x="9872228" y="2606040"/>
            <a:ext cx="1587947" cy="566928"/>
          </a:xfrm>
          <a:prstGeom prst="rect">
            <a:avLst/>
          </a:prstGeom>
          <a:noFill/>
          <a:ln/>
        </p:spPr>
        <p:txBody>
          <a:bodyPr wrap="square" lIns="0" tIns="0" rIns="0" bIns="0" rtlCol="0" anchor="t"/>
          <a:lstStyle/>
          <a:p>
            <a:pPr indent="0" marL="0">
              <a:buNone/>
            </a:pPr>
            <a:r>
              <a:rPr lang="en-US" sz="1500" b="1" dirty="0">
                <a:solidFill>
                  <a:schemeClr val="tx2"/>
                </a:solidFill>
              </a:rPr>
              <a:t>Start Snowflake sink</a:t>
            </a:r>
            <a:endParaRPr lang="en-US" sz="1500" dirty="0"/>
          </a:p>
        </p:txBody>
      </p:sp>
      <p:sp>
        <p:nvSpPr>
          <p:cNvPr id="28" name="Roadmap 5 where"/>
          <p:cNvSpPr txBox="1"/>
          <p:nvPr/>
        </p:nvSpPr>
        <p:spPr>
          <a:xfrm>
            <a:off x="9872228" y="3172968"/>
            <a:ext cx="1587947" cy="292608"/>
          </a:xfrm>
          <a:prstGeom prst="rect">
            <a:avLst/>
          </a:prstGeom>
          <a:noFill/>
          <a:ln/>
        </p:spPr>
        <p:txBody>
          <a:bodyPr wrap="square" lIns="0" tIns="0" rIns="0" bIns="0" rtlCol="0" anchor="ctr"/>
          <a:lstStyle/>
          <a:p>
            <a:pPr indent="0" marL="0">
              <a:buNone/>
            </a:pPr>
            <a:r>
              <a:rPr lang="en-US" sz="1200" dirty="0">
                <a:solidFill>
                  <a:schemeClr val="accent5"/>
                </a:solidFill>
              </a:rPr>
              <a:t>Git Bash + Snowsight</a:t>
            </a:r>
            <a:endParaRPr lang="en-US" sz="1200" dirty="0"/>
          </a:p>
        </p:txBody>
      </p:sp>
      <p:sp>
        <p:nvSpPr>
          <p:cNvPr id="29" name="Roadmap 6 card"/>
          <p:cNvSpPr/>
          <p:nvPr/>
        </p:nvSpPr>
        <p:spPr>
          <a:xfrm>
            <a:off x="548640" y="3931920"/>
            <a:ext cx="1999427" cy="1920240"/>
          </a:xfrm>
          <a:prstGeom prst="roundRect">
            <a:avLst>
              <a:gd name="adj" fmla="val 4762"/>
            </a:avLst>
          </a:prstGeom>
          <a:solidFill>
            <a:schemeClr val="bg2"/>
          </a:solidFill>
          <a:ln/>
        </p:spPr>
      </p:sp>
      <p:sp>
        <p:nvSpPr>
          <p:cNvPr id="30" name="Roadmap 6 badge"/>
          <p:cNvSpPr/>
          <p:nvPr/>
        </p:nvSpPr>
        <p:spPr>
          <a:xfrm>
            <a:off x="777240" y="4160520"/>
            <a:ext cx="566928" cy="566928"/>
          </a:xfrm>
          <a:prstGeom prst="ellipse">
            <a:avLst/>
          </a:prstGeom>
          <a:solidFill>
            <a:schemeClr val="accent6"/>
          </a:solidFill>
          <a:ln/>
        </p:spPr>
      </p:sp>
      <p:sp>
        <p:nvSpPr>
          <p:cNvPr id="31" name="Roadmap 6 number"/>
          <p:cNvSpPr txBox="1"/>
          <p:nvPr/>
        </p:nvSpPr>
        <p:spPr>
          <a:xfrm>
            <a:off x="777240" y="416052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6</a:t>
            </a:r>
            <a:endParaRPr lang="en-US" sz="2000" dirty="0"/>
          </a:p>
        </p:txBody>
      </p:sp>
      <p:sp>
        <p:nvSpPr>
          <p:cNvPr id="32" name="Roadmap 6 title"/>
          <p:cNvSpPr txBox="1"/>
          <p:nvPr/>
        </p:nvSpPr>
        <p:spPr>
          <a:xfrm>
            <a:off x="777240" y="4846320"/>
            <a:ext cx="1587947" cy="566928"/>
          </a:xfrm>
          <a:prstGeom prst="rect">
            <a:avLst/>
          </a:prstGeom>
          <a:noFill/>
          <a:ln/>
        </p:spPr>
        <p:txBody>
          <a:bodyPr wrap="square" lIns="0" tIns="0" rIns="0" bIns="0" rtlCol="0" anchor="t"/>
          <a:lstStyle/>
          <a:p>
            <a:pPr indent="0" marL="0">
              <a:buNone/>
            </a:pPr>
            <a:r>
              <a:rPr lang="en-US" sz="1500" b="1" dirty="0">
                <a:solidFill>
                  <a:schemeClr val="tx2"/>
                </a:solidFill>
              </a:rPr>
              <a:t>Build Silver (curated)</a:t>
            </a:r>
            <a:endParaRPr lang="en-US" sz="1500" dirty="0"/>
          </a:p>
        </p:txBody>
      </p:sp>
      <p:sp>
        <p:nvSpPr>
          <p:cNvPr id="33" name="Roadmap 6 where"/>
          <p:cNvSpPr txBox="1"/>
          <p:nvPr/>
        </p:nvSpPr>
        <p:spPr>
          <a:xfrm>
            <a:off x="777240" y="5413248"/>
            <a:ext cx="1587947" cy="292608"/>
          </a:xfrm>
          <a:prstGeom prst="rect">
            <a:avLst/>
          </a:prstGeom>
          <a:noFill/>
          <a:ln/>
        </p:spPr>
        <p:txBody>
          <a:bodyPr wrap="square" lIns="0" tIns="0" rIns="0" bIns="0" rtlCol="0" anchor="ctr"/>
          <a:lstStyle/>
          <a:p>
            <a:pPr indent="0" marL="0">
              <a:buNone/>
            </a:pPr>
            <a:r>
              <a:rPr lang="en-US" sz="1200" dirty="0">
                <a:solidFill>
                  <a:schemeClr val="accent5"/>
                </a:solidFill>
              </a:rPr>
              <a:t>Snowsight</a:t>
            </a:r>
            <a:endParaRPr lang="en-US" sz="1200" dirty="0"/>
          </a:p>
        </p:txBody>
      </p:sp>
      <p:sp>
        <p:nvSpPr>
          <p:cNvPr id="34" name="Roadmap 7 card"/>
          <p:cNvSpPr/>
          <p:nvPr/>
        </p:nvSpPr>
        <p:spPr>
          <a:xfrm>
            <a:off x="2822387" y="3931920"/>
            <a:ext cx="1999427" cy="1920240"/>
          </a:xfrm>
          <a:prstGeom prst="roundRect">
            <a:avLst>
              <a:gd name="adj" fmla="val 4762"/>
            </a:avLst>
          </a:prstGeom>
          <a:solidFill>
            <a:schemeClr val="bg2"/>
          </a:solidFill>
          <a:ln/>
        </p:spPr>
      </p:sp>
      <p:sp>
        <p:nvSpPr>
          <p:cNvPr id="35" name="Roadmap 7 badge"/>
          <p:cNvSpPr/>
          <p:nvPr/>
        </p:nvSpPr>
        <p:spPr>
          <a:xfrm>
            <a:off x="3050987" y="4160520"/>
            <a:ext cx="566928" cy="566928"/>
          </a:xfrm>
          <a:prstGeom prst="ellipse">
            <a:avLst/>
          </a:prstGeom>
          <a:solidFill>
            <a:schemeClr val="accent6"/>
          </a:solidFill>
          <a:ln/>
        </p:spPr>
      </p:sp>
      <p:sp>
        <p:nvSpPr>
          <p:cNvPr id="36" name="Roadmap 7 number"/>
          <p:cNvSpPr txBox="1"/>
          <p:nvPr/>
        </p:nvSpPr>
        <p:spPr>
          <a:xfrm>
            <a:off x="3050987" y="416052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7</a:t>
            </a:r>
            <a:endParaRPr lang="en-US" sz="2000" dirty="0"/>
          </a:p>
        </p:txBody>
      </p:sp>
      <p:sp>
        <p:nvSpPr>
          <p:cNvPr id="37" name="Roadmap 7 title"/>
          <p:cNvSpPr txBox="1"/>
          <p:nvPr/>
        </p:nvSpPr>
        <p:spPr>
          <a:xfrm>
            <a:off x="3050987" y="4846320"/>
            <a:ext cx="1587947" cy="566928"/>
          </a:xfrm>
          <a:prstGeom prst="rect">
            <a:avLst/>
          </a:prstGeom>
          <a:noFill/>
          <a:ln/>
        </p:spPr>
        <p:txBody>
          <a:bodyPr wrap="square" lIns="0" tIns="0" rIns="0" bIns="0" rtlCol="0" anchor="t"/>
          <a:lstStyle/>
          <a:p>
            <a:pPr indent="0" marL="0">
              <a:buNone/>
            </a:pPr>
            <a:r>
              <a:rPr lang="en-US" sz="1500" b="1" dirty="0">
                <a:solidFill>
                  <a:schemeClr val="tx2"/>
                </a:solidFill>
              </a:rPr>
              <a:t>Build Gold tables</a:t>
            </a:r>
            <a:endParaRPr lang="en-US" sz="1500" dirty="0"/>
          </a:p>
        </p:txBody>
      </p:sp>
      <p:sp>
        <p:nvSpPr>
          <p:cNvPr id="38" name="Roadmap 7 where"/>
          <p:cNvSpPr txBox="1"/>
          <p:nvPr/>
        </p:nvSpPr>
        <p:spPr>
          <a:xfrm>
            <a:off x="3050987" y="5413248"/>
            <a:ext cx="1587947" cy="292608"/>
          </a:xfrm>
          <a:prstGeom prst="rect">
            <a:avLst/>
          </a:prstGeom>
          <a:noFill/>
          <a:ln/>
        </p:spPr>
        <p:txBody>
          <a:bodyPr wrap="square" lIns="0" tIns="0" rIns="0" bIns="0" rtlCol="0" anchor="ctr"/>
          <a:lstStyle/>
          <a:p>
            <a:pPr indent="0" marL="0">
              <a:buNone/>
            </a:pPr>
            <a:r>
              <a:rPr lang="en-US" sz="1200" dirty="0">
                <a:solidFill>
                  <a:schemeClr val="accent5"/>
                </a:solidFill>
              </a:rPr>
              <a:t>Snowsight</a:t>
            </a:r>
            <a:endParaRPr lang="en-US" sz="1200" dirty="0"/>
          </a:p>
        </p:txBody>
      </p:sp>
      <p:sp>
        <p:nvSpPr>
          <p:cNvPr id="39" name="Roadmap 8 card"/>
          <p:cNvSpPr/>
          <p:nvPr/>
        </p:nvSpPr>
        <p:spPr>
          <a:xfrm>
            <a:off x="5096134" y="3931920"/>
            <a:ext cx="1999427" cy="1920240"/>
          </a:xfrm>
          <a:prstGeom prst="roundRect">
            <a:avLst>
              <a:gd name="adj" fmla="val 4762"/>
            </a:avLst>
          </a:prstGeom>
          <a:solidFill>
            <a:schemeClr val="bg2"/>
          </a:solidFill>
          <a:ln/>
        </p:spPr>
      </p:sp>
      <p:sp>
        <p:nvSpPr>
          <p:cNvPr id="40" name="Roadmap 8 badge"/>
          <p:cNvSpPr/>
          <p:nvPr/>
        </p:nvSpPr>
        <p:spPr>
          <a:xfrm>
            <a:off x="5324734" y="4160520"/>
            <a:ext cx="566928" cy="566928"/>
          </a:xfrm>
          <a:prstGeom prst="ellipse">
            <a:avLst/>
          </a:prstGeom>
          <a:solidFill>
            <a:schemeClr val="accent6"/>
          </a:solidFill>
          <a:ln/>
        </p:spPr>
      </p:sp>
      <p:sp>
        <p:nvSpPr>
          <p:cNvPr id="41" name="Roadmap 8 number"/>
          <p:cNvSpPr txBox="1"/>
          <p:nvPr/>
        </p:nvSpPr>
        <p:spPr>
          <a:xfrm>
            <a:off x="5324734" y="416052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8</a:t>
            </a:r>
            <a:endParaRPr lang="en-US" sz="2000" dirty="0"/>
          </a:p>
        </p:txBody>
      </p:sp>
      <p:sp>
        <p:nvSpPr>
          <p:cNvPr id="42" name="Roadmap 8 title"/>
          <p:cNvSpPr txBox="1"/>
          <p:nvPr/>
        </p:nvSpPr>
        <p:spPr>
          <a:xfrm>
            <a:off x="5324734" y="4846320"/>
            <a:ext cx="1587947" cy="566928"/>
          </a:xfrm>
          <a:prstGeom prst="rect">
            <a:avLst/>
          </a:prstGeom>
          <a:noFill/>
          <a:ln/>
        </p:spPr>
        <p:txBody>
          <a:bodyPr wrap="square" lIns="0" tIns="0" rIns="0" bIns="0" rtlCol="0" anchor="t"/>
          <a:lstStyle/>
          <a:p>
            <a:pPr indent="0" marL="0">
              <a:buNone/>
            </a:pPr>
            <a:r>
              <a:rPr lang="en-US" sz="1500" b="1" dirty="0">
                <a:solidFill>
                  <a:schemeClr val="tx2"/>
                </a:solidFill>
              </a:rPr>
              <a:t>Create the sales agent</a:t>
            </a:r>
            <a:endParaRPr lang="en-US" sz="1500" dirty="0"/>
          </a:p>
        </p:txBody>
      </p:sp>
      <p:sp>
        <p:nvSpPr>
          <p:cNvPr id="43" name="Roadmap 8 where"/>
          <p:cNvSpPr txBox="1"/>
          <p:nvPr/>
        </p:nvSpPr>
        <p:spPr>
          <a:xfrm>
            <a:off x="5324734" y="5413248"/>
            <a:ext cx="1587947" cy="292608"/>
          </a:xfrm>
          <a:prstGeom prst="rect">
            <a:avLst/>
          </a:prstGeom>
          <a:noFill/>
          <a:ln/>
        </p:spPr>
        <p:txBody>
          <a:bodyPr wrap="square" lIns="0" tIns="0" rIns="0" bIns="0" rtlCol="0" anchor="ctr"/>
          <a:lstStyle/>
          <a:p>
            <a:pPr indent="0" marL="0">
              <a:buNone/>
            </a:pPr>
            <a:r>
              <a:rPr lang="en-US" sz="1200" dirty="0">
                <a:solidFill>
                  <a:schemeClr val="accent5"/>
                </a:solidFill>
              </a:rPr>
              <a:t>Snowsight</a:t>
            </a:r>
            <a:endParaRPr lang="en-US" sz="1200" dirty="0"/>
          </a:p>
        </p:txBody>
      </p:sp>
      <p:sp>
        <p:nvSpPr>
          <p:cNvPr id="44" name="Roadmap 9 card"/>
          <p:cNvSpPr/>
          <p:nvPr/>
        </p:nvSpPr>
        <p:spPr>
          <a:xfrm>
            <a:off x="7369881" y="3931920"/>
            <a:ext cx="1999427" cy="1920240"/>
          </a:xfrm>
          <a:prstGeom prst="roundRect">
            <a:avLst>
              <a:gd name="adj" fmla="val 4762"/>
            </a:avLst>
          </a:prstGeom>
          <a:solidFill>
            <a:schemeClr val="bg2"/>
          </a:solidFill>
          <a:ln/>
        </p:spPr>
      </p:sp>
      <p:sp>
        <p:nvSpPr>
          <p:cNvPr id="45" name="Roadmap 9 badge"/>
          <p:cNvSpPr/>
          <p:nvPr/>
        </p:nvSpPr>
        <p:spPr>
          <a:xfrm>
            <a:off x="7598481" y="4160520"/>
            <a:ext cx="566928" cy="566928"/>
          </a:xfrm>
          <a:prstGeom prst="ellipse">
            <a:avLst/>
          </a:prstGeom>
          <a:solidFill>
            <a:schemeClr val="accent6"/>
          </a:solidFill>
          <a:ln/>
        </p:spPr>
      </p:sp>
      <p:sp>
        <p:nvSpPr>
          <p:cNvPr id="46" name="Roadmap 9 number"/>
          <p:cNvSpPr txBox="1"/>
          <p:nvPr/>
        </p:nvSpPr>
        <p:spPr>
          <a:xfrm>
            <a:off x="7598481" y="416052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9</a:t>
            </a:r>
            <a:endParaRPr lang="en-US" sz="2000" dirty="0"/>
          </a:p>
        </p:txBody>
      </p:sp>
      <p:sp>
        <p:nvSpPr>
          <p:cNvPr id="47" name="Roadmap 9 title"/>
          <p:cNvSpPr txBox="1"/>
          <p:nvPr/>
        </p:nvSpPr>
        <p:spPr>
          <a:xfrm>
            <a:off x="7598481" y="4846320"/>
            <a:ext cx="1587947" cy="566928"/>
          </a:xfrm>
          <a:prstGeom prst="rect">
            <a:avLst/>
          </a:prstGeom>
          <a:noFill/>
          <a:ln/>
        </p:spPr>
        <p:txBody>
          <a:bodyPr wrap="square" lIns="0" tIns="0" rIns="0" bIns="0" rtlCol="0" anchor="t"/>
          <a:lstStyle/>
          <a:p>
            <a:pPr indent="0" marL="0">
              <a:buNone/>
            </a:pPr>
            <a:r>
              <a:rPr lang="en-US" sz="1500" b="1" dirty="0">
                <a:solidFill>
                  <a:schemeClr val="tx2"/>
                </a:solidFill>
              </a:rPr>
              <a:t>Run the customer portal</a:t>
            </a:r>
            <a:endParaRPr lang="en-US" sz="1500" dirty="0"/>
          </a:p>
        </p:txBody>
      </p:sp>
      <p:sp>
        <p:nvSpPr>
          <p:cNvPr id="48" name="Roadmap 9 where"/>
          <p:cNvSpPr txBox="1"/>
          <p:nvPr/>
        </p:nvSpPr>
        <p:spPr>
          <a:xfrm>
            <a:off x="7598481" y="5413248"/>
            <a:ext cx="1587947" cy="292608"/>
          </a:xfrm>
          <a:prstGeom prst="rect">
            <a:avLst/>
          </a:prstGeom>
          <a:noFill/>
          <a:ln/>
        </p:spPr>
        <p:txBody>
          <a:bodyPr wrap="square" lIns="0" tIns="0" rIns="0" bIns="0" rtlCol="0" anchor="ctr"/>
          <a:lstStyle/>
          <a:p>
            <a:pPr indent="0" marL="0">
              <a:buNone/>
            </a:pPr>
            <a:r>
              <a:rPr lang="en-US" sz="1200" dirty="0">
                <a:solidFill>
                  <a:schemeClr val="accent5"/>
                </a:solidFill>
              </a:rPr>
              <a:t>PowerShell</a:t>
            </a:r>
            <a:endParaRPr lang="en-US" sz="1200" dirty="0"/>
          </a:p>
        </p:txBody>
      </p:sp>
      <p:sp>
        <p:nvSpPr>
          <p:cNvPr id="49" name="Roadmap 10 card"/>
          <p:cNvSpPr/>
          <p:nvPr/>
        </p:nvSpPr>
        <p:spPr>
          <a:xfrm>
            <a:off x="9643628" y="3931920"/>
            <a:ext cx="1999427" cy="1920240"/>
          </a:xfrm>
          <a:prstGeom prst="roundRect">
            <a:avLst>
              <a:gd name="adj" fmla="val 4762"/>
            </a:avLst>
          </a:prstGeom>
          <a:solidFill>
            <a:schemeClr val="bg2"/>
          </a:solidFill>
          <a:ln/>
        </p:spPr>
      </p:sp>
      <p:sp>
        <p:nvSpPr>
          <p:cNvPr id="50" name="Roadmap 10 badge"/>
          <p:cNvSpPr/>
          <p:nvPr/>
        </p:nvSpPr>
        <p:spPr>
          <a:xfrm>
            <a:off x="9872228" y="4160520"/>
            <a:ext cx="566928" cy="566928"/>
          </a:xfrm>
          <a:prstGeom prst="ellipse">
            <a:avLst/>
          </a:prstGeom>
          <a:solidFill>
            <a:schemeClr val="accent6"/>
          </a:solidFill>
          <a:ln/>
        </p:spPr>
      </p:sp>
      <p:sp>
        <p:nvSpPr>
          <p:cNvPr id="51" name="Roadmap 10 number"/>
          <p:cNvSpPr txBox="1"/>
          <p:nvPr/>
        </p:nvSpPr>
        <p:spPr>
          <a:xfrm>
            <a:off x="9872228" y="416052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10</a:t>
            </a:r>
            <a:endParaRPr lang="en-US" sz="2000" dirty="0"/>
          </a:p>
        </p:txBody>
      </p:sp>
      <p:sp>
        <p:nvSpPr>
          <p:cNvPr id="52" name="Roadmap 10 title"/>
          <p:cNvSpPr txBox="1"/>
          <p:nvPr/>
        </p:nvSpPr>
        <p:spPr>
          <a:xfrm>
            <a:off x="9872228" y="4846320"/>
            <a:ext cx="1587947" cy="566928"/>
          </a:xfrm>
          <a:prstGeom prst="rect">
            <a:avLst/>
          </a:prstGeom>
          <a:noFill/>
          <a:ln/>
        </p:spPr>
        <p:txBody>
          <a:bodyPr wrap="square" lIns="0" tIns="0" rIns="0" bIns="0" rtlCol="0" anchor="t"/>
          <a:lstStyle/>
          <a:p>
            <a:pPr indent="0" marL="0">
              <a:buNone/>
            </a:pPr>
            <a:r>
              <a:rPr lang="en-US" sz="1500" b="1" dirty="0">
                <a:solidFill>
                  <a:schemeClr val="tx2"/>
                </a:solidFill>
              </a:rPr>
              <a:t>Turn on the AI assistant</a:t>
            </a:r>
            <a:endParaRPr lang="en-US" sz="1500" dirty="0"/>
          </a:p>
        </p:txBody>
      </p:sp>
      <p:sp>
        <p:nvSpPr>
          <p:cNvPr id="53" name="Roadmap 10 where"/>
          <p:cNvSpPr txBox="1"/>
          <p:nvPr/>
        </p:nvSpPr>
        <p:spPr>
          <a:xfrm>
            <a:off x="9872228" y="5413248"/>
            <a:ext cx="1587947" cy="292608"/>
          </a:xfrm>
          <a:prstGeom prst="rect">
            <a:avLst/>
          </a:prstGeom>
          <a:noFill/>
          <a:ln/>
        </p:spPr>
        <p:txBody>
          <a:bodyPr wrap="square" lIns="0" tIns="0" rIns="0" bIns="0" rtlCol="0" anchor="ctr"/>
          <a:lstStyle/>
          <a:p>
            <a:pPr indent="0" marL="0">
              <a:buNone/>
            </a:pPr>
            <a:r>
              <a:rPr lang="en-US" sz="1200" dirty="0">
                <a:solidFill>
                  <a:schemeClr val="accent5"/>
                </a:solidFill>
              </a:rPr>
              <a:t>Snowsight + browser</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rPr>
              <a:t>Snowflake account setup</a:t>
            </a:r>
            <a:endParaRPr lang="en-US" sz="3200" dirty="0"/>
          </a:p>
        </p:txBody>
      </p:sp>
      <p:sp>
        <p:nvSpPr>
          <p:cNvPr id="3" name="Kicker"/>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STEP 1 OF 10 · GIT BASH + SNOWSIGHT</a:t>
            </a:r>
            <a:endParaRPr lang="en-US" sz="1200" dirty="0"/>
          </a:p>
        </p:txBody>
      </p:sp>
      <p:sp>
        <p:nvSpPr>
          <p:cNvPr id="4" name="Steps"/>
          <p:cNvSpPr txBox="1"/>
          <p:nvPr/>
        </p:nvSpPr>
        <p:spPr>
          <a:xfrm>
            <a:off x="548640" y="1600200"/>
            <a:ext cx="6400800" cy="1243584"/>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500" dirty="0">
                <a:solidFill>
                  <a:schemeClr val="tx1"/>
                </a:solidFill>
              </a:rPr>
              <a:t>Generate the connector's key pair</a:t>
            </a:r>
            <a:endParaRPr lang="en-US" sz="1500" dirty="0"/>
          </a:p>
          <a:p>
            <a:pPr marL="342900" indent="-342900">
              <a:spcAft>
                <a:spcPts val="600"/>
              </a:spcAft>
              <a:buSzPct val="100000"/>
              <a:buFont typeface="+mj-lt"/>
              <a:buAutoNum type="arabicPeriod" startAt="1"/>
            </a:pPr>
            <a:r>
              <a:rPr lang="en-US" sz="1500" dirty="0">
                <a:solidFill>
                  <a:schemeClr val="tx1"/>
                </a:solidFill>
              </a:rPr>
              <a:t>Run the rendered setup SQL as ACCOUNTADMIN</a:t>
            </a:r>
            <a:endParaRPr lang="en-US" sz="1500" dirty="0"/>
          </a:p>
          <a:p>
            <a:pPr marL="342900" indent="-342900">
              <a:spcAft>
                <a:spcPts val="600"/>
              </a:spcAft>
              <a:buSzPct val="100000"/>
              <a:buFont typeface="+mj-lt"/>
              <a:buAutoNum type="arabicPeriod" startAt="1"/>
            </a:pPr>
            <a:r>
              <a:rPr lang="en-US" sz="1500" dirty="0">
                <a:solidFill>
                  <a:schemeClr val="tx1"/>
                </a:solidFill>
              </a:rPr>
              <a:t>Copy snowflake_url_name into .env as SNOWFLAKE_URL</a:t>
            </a:r>
            <a:endParaRPr lang="en-US" sz="1500" dirty="0"/>
          </a:p>
        </p:txBody>
      </p:sp>
      <p:sp>
        <p:nvSpPr>
          <p:cNvPr id="5" name="Code 1 label"/>
          <p:cNvSpPr txBox="1"/>
          <p:nvPr/>
        </p:nvSpPr>
        <p:spPr>
          <a:xfrm>
            <a:off x="548640" y="2980944"/>
            <a:ext cx="6400800" cy="237744"/>
          </a:xfrm>
          <a:prstGeom prst="rect">
            <a:avLst/>
          </a:prstGeom>
          <a:noFill/>
          <a:ln/>
        </p:spPr>
        <p:txBody>
          <a:bodyPr wrap="square" lIns="0" tIns="0" rIns="0" bIns="0" rtlCol="0" anchor="ctr"/>
          <a:lstStyle/>
          <a:p>
            <a:pPr indent="0" marL="0">
              <a:buNone/>
            </a:pPr>
            <a:r>
              <a:rPr lang="en-US" sz="1100" b="1" dirty="0">
                <a:solidFill>
                  <a:schemeClr val="accent5"/>
                </a:solidFill>
              </a:rPr>
              <a:t>Git Bash · snowflake folder</a:t>
            </a:r>
            <a:endParaRPr lang="en-US" sz="1100" dirty="0"/>
          </a:p>
        </p:txBody>
      </p:sp>
      <p:sp>
        <p:nvSpPr>
          <p:cNvPr id="6" name="Code 1 box"/>
          <p:cNvSpPr/>
          <p:nvPr/>
        </p:nvSpPr>
        <p:spPr>
          <a:xfrm>
            <a:off x="548640" y="3255264"/>
            <a:ext cx="6400800" cy="676656"/>
          </a:xfrm>
          <a:prstGeom prst="roundRect">
            <a:avLst>
              <a:gd name="adj" fmla="val 10811"/>
            </a:avLst>
          </a:prstGeom>
          <a:solidFill>
            <a:schemeClr val="tx2"/>
          </a:solidFill>
          <a:ln/>
        </p:spPr>
      </p:sp>
      <p:sp>
        <p:nvSpPr>
          <p:cNvPr id="7" name="Code 1 code"/>
          <p:cNvSpPr txBox="1"/>
          <p:nvPr/>
        </p:nvSpPr>
        <p:spPr>
          <a:xfrm>
            <a:off x="685800" y="3255264"/>
            <a:ext cx="6126480" cy="676656"/>
          </a:xfrm>
          <a:prstGeom prst="rect">
            <a:avLst/>
          </a:prstGeom>
          <a:noFill/>
          <a:ln/>
        </p:spPr>
        <p:txBody>
          <a:bodyPr wrap="square" lIns="0" tIns="0" rIns="0" bIns="0" rtlCol="0" anchor="ctr"/>
          <a:lstStyle/>
          <a:p>
            <a:pPr indent="0" marL="0">
              <a:buNone/>
            </a:pPr>
            <a:r>
              <a:rPr lang="en-US" sz="1200" dirty="0">
                <a:solidFill>
                  <a:srgbClr val="E6EEF2"/>
                </a:solidFill>
                <a:latin typeface="Courier New" pitchFamily="34" charset="0"/>
                <a:ea typeface="Courier New" pitchFamily="34" charset="-122"/>
                <a:cs typeface="Courier New" pitchFamily="34" charset="-120"/>
              </a:rPr>
              <a:t>cd snowflake</a:t>
            </a:r>
            <a:endParaRPr lang="en-US" sz="1200" dirty="0"/>
          </a:p>
          <a:p>
            <a:pPr indent="0" marL="0">
              <a:buNone/>
            </a:pPr>
            <a:r>
              <a:rPr lang="en-US" sz="1200" dirty="0">
                <a:solidFill>
                  <a:srgbClr val="E6EEF2"/>
                </a:solidFill>
                <a:latin typeface="Courier New" pitchFamily="34" charset="0"/>
                <a:ea typeface="Courier New" pitchFamily="34" charset="-122"/>
                <a:cs typeface="Courier New" pitchFamily="34" charset="-120"/>
              </a:rPr>
              <a:t>bash generate_snowflake_keys.sh</a:t>
            </a:r>
            <a:endParaRPr lang="en-US" sz="1200" dirty="0"/>
          </a:p>
        </p:txBody>
      </p:sp>
      <p:sp>
        <p:nvSpPr>
          <p:cNvPr id="8" name="Code 2 label"/>
          <p:cNvSpPr txBox="1"/>
          <p:nvPr/>
        </p:nvSpPr>
        <p:spPr>
          <a:xfrm>
            <a:off x="548640" y="4114800"/>
            <a:ext cx="6400800" cy="237744"/>
          </a:xfrm>
          <a:prstGeom prst="rect">
            <a:avLst/>
          </a:prstGeom>
          <a:noFill/>
          <a:ln/>
        </p:spPr>
        <p:txBody>
          <a:bodyPr wrap="square" lIns="0" tIns="0" rIns="0" bIns="0" rtlCol="0" anchor="ctr"/>
          <a:lstStyle/>
          <a:p>
            <a:pPr indent="0" marL="0">
              <a:buNone/>
            </a:pPr>
            <a:r>
              <a:rPr lang="en-US" sz="1100" b="1" dirty="0">
                <a:solidFill>
                  <a:schemeClr val="accent5"/>
                </a:solidFill>
              </a:rPr>
              <a:t>Snowsight · Projects » Workspaces</a:t>
            </a:r>
            <a:endParaRPr lang="en-US" sz="1100" dirty="0"/>
          </a:p>
        </p:txBody>
      </p:sp>
      <p:sp>
        <p:nvSpPr>
          <p:cNvPr id="9" name="Code 2 box"/>
          <p:cNvSpPr/>
          <p:nvPr/>
        </p:nvSpPr>
        <p:spPr>
          <a:xfrm>
            <a:off x="548640" y="4389120"/>
            <a:ext cx="6400800" cy="877824"/>
          </a:xfrm>
          <a:prstGeom prst="roundRect">
            <a:avLst>
              <a:gd name="adj" fmla="val 8333"/>
            </a:avLst>
          </a:prstGeom>
          <a:solidFill>
            <a:schemeClr val="tx2"/>
          </a:solidFill>
          <a:ln/>
        </p:spPr>
      </p:sp>
      <p:sp>
        <p:nvSpPr>
          <p:cNvPr id="10" name="Code 2 code"/>
          <p:cNvSpPr txBox="1"/>
          <p:nvPr/>
        </p:nvSpPr>
        <p:spPr>
          <a:xfrm>
            <a:off x="685800" y="4389120"/>
            <a:ext cx="6126480" cy="877824"/>
          </a:xfrm>
          <a:prstGeom prst="rect">
            <a:avLst/>
          </a:prstGeom>
          <a:noFill/>
          <a:ln/>
        </p:spPr>
        <p:txBody>
          <a:bodyPr wrap="square" lIns="0" tIns="0" rIns="0" bIns="0" rtlCol="0" anchor="ctr"/>
          <a:lstStyle/>
          <a:p>
            <a:pPr indent="0" marL="0">
              <a:buNone/>
            </a:pPr>
            <a:r>
              <a:rPr lang="en-US" sz="1200" dirty="0">
                <a:solidFill>
                  <a:srgbClr val="E6EEF2"/>
                </a:solidFill>
                <a:latin typeface="Courier New" pitchFamily="34" charset="0"/>
                <a:ea typeface="Courier New" pitchFamily="34" charset="-122"/>
                <a:cs typeface="Courier New" pitchFamily="34" charset="-120"/>
              </a:rPr>
              <a:t>-- upload snowflake_setup_rendered.sql</a:t>
            </a:r>
            <a:endParaRPr lang="en-US" sz="1200" dirty="0"/>
          </a:p>
          <a:p>
            <a:pPr indent="0" marL="0">
              <a:buNone/>
            </a:pPr>
            <a:r>
              <a:rPr lang="en-US" sz="1200" dirty="0">
                <a:solidFill>
                  <a:srgbClr val="E6EEF2"/>
                </a:solidFill>
                <a:latin typeface="Courier New" pitchFamily="34" charset="0"/>
                <a:ea typeface="Courier New" pitchFamily="34" charset="-122"/>
                <a:cs typeface="Courier New" pitchFamily="34" charset="-120"/>
              </a:rPr>
              <a:t>GRANT ROLE SAP_TRANSFORM_ROLE TO USER &lt;you&gt;;</a:t>
            </a:r>
            <a:endParaRPr lang="en-US" sz="1200" dirty="0"/>
          </a:p>
          <a:p>
            <a:pPr indent="0" marL="0">
              <a:buNone/>
            </a:pPr>
            <a:r>
              <a:rPr lang="en-US" sz="1200" dirty="0">
                <a:solidFill>
                  <a:srgbClr val="E6EEF2"/>
                </a:solidFill>
                <a:latin typeface="Courier New" pitchFamily="34" charset="0"/>
                <a:ea typeface="Courier New" pitchFamily="34" charset="-122"/>
                <a:cs typeface="Courier New" pitchFamily="34" charset="-120"/>
              </a:rPr>
              <a:t>-- Ctrl + Shift + Enter runs the whole file</a:t>
            </a:r>
            <a:endParaRPr lang="en-US" sz="1200" dirty="0"/>
          </a:p>
        </p:txBody>
      </p:sp>
      <p:sp>
        <p:nvSpPr>
          <p:cNvPr id="11" name="Check card"/>
          <p:cNvSpPr/>
          <p:nvPr/>
        </p:nvSpPr>
        <p:spPr>
          <a:xfrm>
            <a:off x="7315200" y="1600200"/>
            <a:ext cx="4327855" cy="3749040"/>
          </a:xfrm>
          <a:prstGeom prst="roundRect">
            <a:avLst>
              <a:gd name="adj" fmla="val 2439"/>
            </a:avLst>
          </a:prstGeom>
          <a:solidFill>
            <a:schemeClr val="bg2"/>
          </a:solidFill>
          <a:ln/>
        </p:spPr>
      </p:sp>
      <p:pic>
        <p:nvPicPr>
          <p:cNvPr id="12" name="Check icon" descr="preencoded.png">    </p:cNvPr>
          <p:cNvPicPr>
            <a:picLocks noChangeAspect="1"/>
          </p:cNvPicPr>
          <p:nvPr/>
        </p:nvPicPr>
        <p:blipFill>
          <a:blip r:embed="rId1"/>
          <a:stretch>
            <a:fillRect/>
          </a:stretch>
        </p:blipFill>
        <p:spPr>
          <a:xfrm>
            <a:off x="7589520" y="1874520"/>
            <a:ext cx="329184" cy="329184"/>
          </a:xfrm>
          <a:prstGeom prst="rect">
            <a:avLst/>
          </a:prstGeom>
        </p:spPr>
      </p:pic>
      <p:sp>
        <p:nvSpPr>
          <p:cNvPr id="13" name="Check heading"/>
          <p:cNvSpPr txBox="1"/>
          <p:nvPr/>
        </p:nvSpPr>
        <p:spPr>
          <a:xfrm>
            <a:off x="8028432" y="1837944"/>
            <a:ext cx="3413455" cy="402336"/>
          </a:xfrm>
          <a:prstGeom prst="rect">
            <a:avLst/>
          </a:prstGeom>
          <a:noFill/>
          <a:ln/>
        </p:spPr>
        <p:txBody>
          <a:bodyPr wrap="square" lIns="0" tIns="0" rIns="0" bIns="0" rtlCol="0" anchor="ctr"/>
          <a:lstStyle/>
          <a:p>
            <a:pPr indent="0" marL="0">
              <a:buNone/>
            </a:pPr>
            <a:r>
              <a:rPr lang="en-US" sz="1800" b="1" dirty="0">
                <a:solidFill>
                  <a:schemeClr val="tx2"/>
                </a:solidFill>
              </a:rPr>
              <a:t>You should see</a:t>
            </a:r>
            <a:endParaRPr lang="en-US" sz="1800" dirty="0"/>
          </a:p>
        </p:txBody>
      </p:sp>
      <p:sp>
        <p:nvSpPr>
          <p:cNvPr id="14" name="Check items"/>
          <p:cNvSpPr txBox="1"/>
          <p:nvPr/>
        </p:nvSpPr>
        <p:spPr>
          <a:xfrm>
            <a:off x="7589520" y="2423160"/>
            <a:ext cx="3779215"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RSA_PUBLIC_KEY_FP in DESC USER equals the printed fingerprint</a:t>
            </a:r>
            <a:endParaRPr lang="en-US" sz="1400" dirty="0"/>
          </a:p>
          <a:p>
            <a:pPr marL="342900" indent="-342900">
              <a:spcAft>
                <a:spcPts val="800"/>
              </a:spcAft>
              <a:buSzPct val="100000"/>
              <a:buChar char="•"/>
            </a:pPr>
            <a:r>
              <a:rPr lang="en-US" sz="1400" dirty="0">
                <a:solidFill>
                  <a:schemeClr val="tx1"/>
                </a:solidFill>
              </a:rPr>
              <a:t>Databases SAP_RAW and SAP_CURATED exist</a:t>
            </a:r>
            <a:endParaRPr lang="en-US" sz="1400" dirty="0"/>
          </a:p>
          <a:p>
            <a:pPr marL="342900" indent="-342900">
              <a:spcAft>
                <a:spcPts val="800"/>
              </a:spcAft>
              <a:buSzPct val="100000"/>
              <a:buChar char="•"/>
            </a:pPr>
            <a:r>
              <a:rPr lang="en-US" sz="1400" dirty="0">
                <a:solidFill>
                  <a:schemeClr val="tx1"/>
                </a:solidFill>
              </a:rPr>
              <a:t>Last query returns your account URL</a:t>
            </a:r>
            <a:endParaRPr lang="en-US" sz="1400" dirty="0"/>
          </a:p>
        </p:txBody>
      </p:sp>
      <p:sp>
        <p:nvSpPr>
          <p:cNvPr id="15" name="Check note"/>
          <p:cNvSpPr txBox="1"/>
          <p:nvPr/>
        </p:nvSpPr>
        <p:spPr>
          <a:xfrm>
            <a:off x="7589520" y="4480560"/>
            <a:ext cx="3779215" cy="685800"/>
          </a:xfrm>
          <a:prstGeom prst="rect">
            <a:avLst/>
          </a:prstGeom>
          <a:noFill/>
          <a:ln/>
        </p:spPr>
        <p:txBody>
          <a:bodyPr wrap="square" lIns="0" tIns="0" rIns="0" bIns="0" rtlCol="0" anchor="b"/>
          <a:lstStyle/>
          <a:p>
            <a:pPr indent="0" marL="0">
              <a:buNone/>
            </a:pPr>
            <a:r>
              <a:rPr lang="en-US" sz="1200" i="1" dirty="0">
                <a:solidFill>
                  <a:schemeClr val="accent6"/>
                </a:solidFill>
              </a:rPr>
              <a:t>Creates KAFKA_CONNECTOR_USER (key-pair only), the connector and transform roles, and an XS warehouse.</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rPr>
              <a:t>Start the Docker stack</a:t>
            </a:r>
            <a:endParaRPr lang="en-US" sz="3200" dirty="0"/>
          </a:p>
        </p:txBody>
      </p:sp>
      <p:sp>
        <p:nvSpPr>
          <p:cNvPr id="3" name="Kicker"/>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STEP 2 OF 10 · POWERSHELL · PROJECT FOLDER</a:t>
            </a:r>
            <a:endParaRPr lang="en-US" sz="1200" dirty="0"/>
          </a:p>
        </p:txBody>
      </p:sp>
      <p:sp>
        <p:nvSpPr>
          <p:cNvPr id="4" name="Steps"/>
          <p:cNvSpPr txBox="1"/>
          <p:nvPr/>
        </p:nvSpPr>
        <p:spPr>
          <a:xfrm>
            <a:off x="548640" y="1600200"/>
            <a:ext cx="6400800" cy="1243584"/>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500" dirty="0">
                <a:solidFill>
                  <a:schemeClr val="tx1"/>
                </a:solidFill>
              </a:rPr>
              <a:t>Create .env from the example and set SNOWFLAKE_URL</a:t>
            </a:r>
            <a:endParaRPr lang="en-US" sz="1500" dirty="0"/>
          </a:p>
          <a:p>
            <a:pPr marL="342900" indent="-342900">
              <a:spcAft>
                <a:spcPts val="600"/>
              </a:spcAft>
              <a:buSzPct val="100000"/>
              <a:buFont typeface="+mj-lt"/>
              <a:buAutoNum type="arabicPeriod" startAt="1"/>
            </a:pPr>
            <a:r>
              <a:rPr lang="en-US" sz="1500" dirty="0">
                <a:solidFill>
                  <a:schemeClr val="tx1"/>
                </a:solidFill>
              </a:rPr>
              <a:t>Build and start Oracle, Kafka, Kafka Connect, Kafka UI</a:t>
            </a:r>
            <a:endParaRPr lang="en-US" sz="1500" dirty="0"/>
          </a:p>
          <a:p>
            <a:pPr marL="342900" indent="-342900">
              <a:spcAft>
                <a:spcPts val="600"/>
              </a:spcAft>
              <a:buSzPct val="100000"/>
              <a:buFont typeface="+mj-lt"/>
              <a:buAutoNum type="arabicPeriod" startAt="1"/>
            </a:pPr>
            <a:r>
              <a:rPr lang="en-US" sz="1500" dirty="0">
                <a:solidFill>
                  <a:schemeClr val="tx1"/>
                </a:solidFill>
              </a:rPr>
              <a:t>Wait until three containers are healthy</a:t>
            </a:r>
            <a:endParaRPr lang="en-US" sz="1500" dirty="0"/>
          </a:p>
        </p:txBody>
      </p:sp>
      <p:sp>
        <p:nvSpPr>
          <p:cNvPr id="5" name="Code 1 label"/>
          <p:cNvSpPr txBox="1"/>
          <p:nvPr/>
        </p:nvSpPr>
        <p:spPr>
          <a:xfrm>
            <a:off x="548640" y="2980944"/>
            <a:ext cx="6400800" cy="237744"/>
          </a:xfrm>
          <a:prstGeom prst="rect">
            <a:avLst/>
          </a:prstGeom>
          <a:noFill/>
          <a:ln/>
        </p:spPr>
        <p:txBody>
          <a:bodyPr wrap="square" lIns="0" tIns="0" rIns="0" bIns="0" rtlCol="0" anchor="ctr"/>
          <a:lstStyle/>
          <a:p>
            <a:pPr indent="0" marL="0">
              <a:buNone/>
            </a:pPr>
            <a:r>
              <a:rPr lang="en-US" sz="1100" b="1" dirty="0">
                <a:solidFill>
                  <a:schemeClr val="accent5"/>
                </a:solidFill>
              </a:rPr>
              <a:t>PowerShell</a:t>
            </a:r>
            <a:endParaRPr lang="en-US" sz="1100" dirty="0"/>
          </a:p>
        </p:txBody>
      </p:sp>
      <p:sp>
        <p:nvSpPr>
          <p:cNvPr id="6" name="Code 1 box"/>
          <p:cNvSpPr/>
          <p:nvPr/>
        </p:nvSpPr>
        <p:spPr>
          <a:xfrm>
            <a:off x="548640" y="3255264"/>
            <a:ext cx="6400800" cy="1078992"/>
          </a:xfrm>
          <a:prstGeom prst="roundRect">
            <a:avLst>
              <a:gd name="adj" fmla="val 6780"/>
            </a:avLst>
          </a:prstGeom>
          <a:solidFill>
            <a:schemeClr val="tx2"/>
          </a:solidFill>
          <a:ln/>
        </p:spPr>
      </p:sp>
      <p:sp>
        <p:nvSpPr>
          <p:cNvPr id="7" name="Code 1 code"/>
          <p:cNvSpPr txBox="1"/>
          <p:nvPr/>
        </p:nvSpPr>
        <p:spPr>
          <a:xfrm>
            <a:off x="685800" y="3255264"/>
            <a:ext cx="6126480" cy="1078992"/>
          </a:xfrm>
          <a:prstGeom prst="rect">
            <a:avLst/>
          </a:prstGeom>
          <a:noFill/>
          <a:ln/>
        </p:spPr>
        <p:txBody>
          <a:bodyPr wrap="square" lIns="0" tIns="0" rIns="0" bIns="0" rtlCol="0" anchor="ctr"/>
          <a:lstStyle/>
          <a:p>
            <a:pPr indent="0" marL="0">
              <a:buNone/>
            </a:pPr>
            <a:r>
              <a:rPr lang="en-US" sz="1200" dirty="0">
                <a:solidFill>
                  <a:srgbClr val="E6EEF2"/>
                </a:solidFill>
                <a:latin typeface="Courier New" pitchFamily="34" charset="0"/>
                <a:ea typeface="Courier New" pitchFamily="34" charset="-122"/>
                <a:cs typeface="Courier New" pitchFamily="34" charset="-120"/>
              </a:rPr>
              <a:t>copy .env.example .env</a:t>
            </a:r>
            <a:endParaRPr lang="en-US" sz="1200" dirty="0"/>
          </a:p>
          <a:p>
            <a:pPr indent="0" marL="0">
              <a:buNone/>
            </a:pPr>
            <a:r>
              <a:rPr lang="en-US" sz="1200" dirty="0">
                <a:solidFill>
                  <a:srgbClr val="E6EEF2"/>
                </a:solidFill>
                <a:latin typeface="Courier New" pitchFamily="34" charset="0"/>
                <a:ea typeface="Courier New" pitchFamily="34" charset="-122"/>
                <a:cs typeface="Courier New" pitchFamily="34" charset="-120"/>
              </a:rPr>
              <a:t>notepad .env</a:t>
            </a:r>
            <a:endParaRPr lang="en-US" sz="1200" dirty="0"/>
          </a:p>
          <a:p>
            <a:pPr indent="0" marL="0">
              <a:buNone/>
            </a:pPr>
            <a:r>
              <a:rPr lang="en-US" sz="1200" dirty="0">
                <a:solidFill>
                  <a:srgbClr val="E6EEF2"/>
                </a:solidFill>
                <a:latin typeface="Courier New" pitchFamily="34" charset="0"/>
                <a:ea typeface="Courier New" pitchFamily="34" charset="-122"/>
                <a:cs typeface="Courier New" pitchFamily="34" charset="-120"/>
              </a:rPr>
              <a:t>docker compose up -d --build</a:t>
            </a:r>
            <a:endParaRPr lang="en-US" sz="1200" dirty="0"/>
          </a:p>
          <a:p>
            <a:pPr indent="0" marL="0">
              <a:buNone/>
            </a:pPr>
            <a:r>
              <a:rPr lang="en-US" sz="1200" dirty="0">
                <a:solidFill>
                  <a:srgbClr val="E6EEF2"/>
                </a:solidFill>
                <a:latin typeface="Courier New" pitchFamily="34" charset="0"/>
                <a:ea typeface="Courier New" pitchFamily="34" charset="-122"/>
                <a:cs typeface="Courier New" pitchFamily="34" charset="-120"/>
              </a:rPr>
              <a:t>docker compose ps</a:t>
            </a:r>
            <a:endParaRPr lang="en-US" sz="1200" dirty="0"/>
          </a:p>
        </p:txBody>
      </p:sp>
      <p:sp>
        <p:nvSpPr>
          <p:cNvPr id="8" name="Check card"/>
          <p:cNvSpPr/>
          <p:nvPr/>
        </p:nvSpPr>
        <p:spPr>
          <a:xfrm>
            <a:off x="7315200" y="1600200"/>
            <a:ext cx="4327855" cy="3749040"/>
          </a:xfrm>
          <a:prstGeom prst="roundRect">
            <a:avLst>
              <a:gd name="adj" fmla="val 2439"/>
            </a:avLst>
          </a:prstGeom>
          <a:solidFill>
            <a:schemeClr val="bg2"/>
          </a:solidFill>
          <a:ln/>
        </p:spPr>
      </p:sp>
      <p:pic>
        <p:nvPicPr>
          <p:cNvPr id="9" name="Check icon" descr="preencoded.png">    </p:cNvPr>
          <p:cNvPicPr>
            <a:picLocks noChangeAspect="1"/>
          </p:cNvPicPr>
          <p:nvPr/>
        </p:nvPicPr>
        <p:blipFill>
          <a:blip r:embed="rId1"/>
          <a:stretch>
            <a:fillRect/>
          </a:stretch>
        </p:blipFill>
        <p:spPr>
          <a:xfrm>
            <a:off x="7589520" y="1874520"/>
            <a:ext cx="329184" cy="329184"/>
          </a:xfrm>
          <a:prstGeom prst="rect">
            <a:avLst/>
          </a:prstGeom>
        </p:spPr>
      </p:pic>
      <p:sp>
        <p:nvSpPr>
          <p:cNvPr id="10" name="Check heading"/>
          <p:cNvSpPr txBox="1"/>
          <p:nvPr/>
        </p:nvSpPr>
        <p:spPr>
          <a:xfrm>
            <a:off x="8028432" y="1837944"/>
            <a:ext cx="3413455" cy="402336"/>
          </a:xfrm>
          <a:prstGeom prst="rect">
            <a:avLst/>
          </a:prstGeom>
          <a:noFill/>
          <a:ln/>
        </p:spPr>
        <p:txBody>
          <a:bodyPr wrap="square" lIns="0" tIns="0" rIns="0" bIns="0" rtlCol="0" anchor="ctr"/>
          <a:lstStyle/>
          <a:p>
            <a:pPr indent="0" marL="0">
              <a:buNone/>
            </a:pPr>
            <a:r>
              <a:rPr lang="en-US" sz="1800" b="1" dirty="0">
                <a:solidFill>
                  <a:schemeClr val="tx2"/>
                </a:solidFill>
              </a:rPr>
              <a:t>You should see</a:t>
            </a:r>
            <a:endParaRPr lang="en-US" sz="1800" dirty="0"/>
          </a:p>
        </p:txBody>
      </p:sp>
      <p:sp>
        <p:nvSpPr>
          <p:cNvPr id="11" name="Check items"/>
          <p:cNvSpPr txBox="1"/>
          <p:nvPr/>
        </p:nvSpPr>
        <p:spPr>
          <a:xfrm>
            <a:off x="7589520" y="2423160"/>
            <a:ext cx="3779215"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oracle, kafka, connect show (healthy)</a:t>
            </a:r>
            <a:endParaRPr lang="en-US" sz="1400" dirty="0"/>
          </a:p>
          <a:p>
            <a:pPr marL="342900" indent="-342900">
              <a:spcAft>
                <a:spcPts val="800"/>
              </a:spcAft>
              <a:buSzPct val="100000"/>
              <a:buChar char="•"/>
            </a:pPr>
            <a:r>
              <a:rPr lang="en-US" sz="1400" dirty="0">
                <a:solidFill>
                  <a:schemeClr val="tx1"/>
                </a:solidFill>
              </a:rPr>
              <a:t>Oracle reachable on localhost:1522</a:t>
            </a:r>
            <a:endParaRPr lang="en-US" sz="1400" dirty="0"/>
          </a:p>
          <a:p>
            <a:pPr marL="342900" indent="-342900">
              <a:spcAft>
                <a:spcPts val="800"/>
              </a:spcAft>
              <a:buSzPct val="100000"/>
              <a:buChar char="•"/>
            </a:pPr>
            <a:r>
              <a:rPr lang="en-US" sz="1400" dirty="0">
                <a:solidFill>
                  <a:schemeClr val="tx1"/>
                </a:solidFill>
              </a:rPr>
              <a:t>Kafka UI on http://localhost:8085</a:t>
            </a:r>
            <a:endParaRPr lang="en-US" sz="1400" dirty="0"/>
          </a:p>
        </p:txBody>
      </p:sp>
      <p:sp>
        <p:nvSpPr>
          <p:cNvPr id="12" name="Check note"/>
          <p:cNvSpPr txBox="1"/>
          <p:nvPr/>
        </p:nvSpPr>
        <p:spPr>
          <a:xfrm>
            <a:off x="7589520" y="4480560"/>
            <a:ext cx="3779215" cy="685800"/>
          </a:xfrm>
          <a:prstGeom prst="rect">
            <a:avLst/>
          </a:prstGeom>
          <a:noFill/>
          <a:ln/>
        </p:spPr>
        <p:txBody>
          <a:bodyPr wrap="square" lIns="0" tIns="0" rIns="0" bIns="0" rtlCol="0" anchor="b"/>
          <a:lstStyle/>
          <a:p>
            <a:pPr indent="0" marL="0">
              <a:buNone/>
            </a:pPr>
            <a:r>
              <a:rPr lang="en-US" sz="1200" i="1" dirty="0">
                <a:solidFill>
                  <a:schemeClr val="accent6"/>
                </a:solidFill>
              </a:rPr>
              <a:t>First start downloads about 4 GB of images and takes 5–15 minutes.</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rPr>
              <a:t>Prepare Oracle and load SAP data</a:t>
            </a:r>
            <a:endParaRPr lang="en-US" sz="3200" dirty="0"/>
          </a:p>
        </p:txBody>
      </p:sp>
      <p:sp>
        <p:nvSpPr>
          <p:cNvPr id="3" name="Kicker"/>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STEP 3 OF 10 · GIT BASH · PROJECT FOLDER</a:t>
            </a:r>
            <a:endParaRPr lang="en-US" sz="1200" dirty="0"/>
          </a:p>
        </p:txBody>
      </p:sp>
      <p:sp>
        <p:nvSpPr>
          <p:cNvPr id="4" name="Steps"/>
          <p:cNvSpPr txBox="1"/>
          <p:nvPr/>
        </p:nvSpPr>
        <p:spPr>
          <a:xfrm>
            <a:off x="548640" y="1600200"/>
            <a:ext cx="6400800" cy="1243584"/>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500" dirty="0">
                <a:solidFill>
                  <a:schemeClr val="tx1"/>
                </a:solidFill>
              </a:rPr>
              <a:t>Turn on ARCHIVELOG mode and supplemental logging</a:t>
            </a:r>
            <a:endParaRPr lang="en-US" sz="1500" dirty="0"/>
          </a:p>
          <a:p>
            <a:pPr marL="342900" indent="-342900">
              <a:spcAft>
                <a:spcPts val="600"/>
              </a:spcAft>
              <a:buSzPct val="100000"/>
              <a:buFont typeface="+mj-lt"/>
              <a:buAutoNum type="arabicPeriod" startAt="1"/>
            </a:pPr>
            <a:r>
              <a:rPr lang="en-US" sz="1500" dirty="0">
                <a:solidFill>
                  <a:schemeClr val="tx1"/>
                </a:solidFill>
              </a:rPr>
              <a:t>Create the Debezium user c##dbzuser</a:t>
            </a:r>
            <a:endParaRPr lang="en-US" sz="1500" dirty="0"/>
          </a:p>
          <a:p>
            <a:pPr marL="342900" indent="-342900">
              <a:spcAft>
                <a:spcPts val="600"/>
              </a:spcAft>
              <a:buSzPct val="100000"/>
              <a:buFont typeface="+mj-lt"/>
              <a:buAutoNum type="arabicPeriod" startAt="1"/>
            </a:pPr>
            <a:r>
              <a:rPr lang="en-US" sz="1500" dirty="0">
                <a:solidFill>
                  <a:schemeClr val="tx1"/>
                </a:solidFill>
              </a:rPr>
              <a:t>Create 30 SAP SD tables and load sample data</a:t>
            </a:r>
            <a:endParaRPr lang="en-US" sz="1500" dirty="0"/>
          </a:p>
        </p:txBody>
      </p:sp>
      <p:sp>
        <p:nvSpPr>
          <p:cNvPr id="5" name="Code 1 label"/>
          <p:cNvSpPr txBox="1"/>
          <p:nvPr/>
        </p:nvSpPr>
        <p:spPr>
          <a:xfrm>
            <a:off x="548640" y="2980944"/>
            <a:ext cx="6400800" cy="237744"/>
          </a:xfrm>
          <a:prstGeom prst="rect">
            <a:avLst/>
          </a:prstGeom>
          <a:noFill/>
          <a:ln/>
        </p:spPr>
        <p:txBody>
          <a:bodyPr wrap="square" lIns="0" tIns="0" rIns="0" bIns="0" rtlCol="0" anchor="ctr"/>
          <a:lstStyle/>
          <a:p>
            <a:pPr indent="0" marL="0">
              <a:buNone/>
            </a:pPr>
            <a:r>
              <a:rPr lang="en-US" sz="1100" b="1" dirty="0">
                <a:solidFill>
                  <a:schemeClr val="accent5"/>
                </a:solidFill>
              </a:rPr>
              <a:t>Git Bash</a:t>
            </a:r>
            <a:endParaRPr lang="en-US" sz="1100" dirty="0"/>
          </a:p>
        </p:txBody>
      </p:sp>
      <p:sp>
        <p:nvSpPr>
          <p:cNvPr id="6" name="Code 1 box"/>
          <p:cNvSpPr/>
          <p:nvPr/>
        </p:nvSpPr>
        <p:spPr>
          <a:xfrm>
            <a:off x="548640" y="3255264"/>
            <a:ext cx="6400800" cy="475488"/>
          </a:xfrm>
          <a:prstGeom prst="roundRect">
            <a:avLst>
              <a:gd name="adj" fmla="val 15385"/>
            </a:avLst>
          </a:prstGeom>
          <a:solidFill>
            <a:schemeClr val="tx2"/>
          </a:solidFill>
          <a:ln/>
        </p:spPr>
      </p:sp>
      <p:sp>
        <p:nvSpPr>
          <p:cNvPr id="7" name="Code 1 code"/>
          <p:cNvSpPr txBox="1"/>
          <p:nvPr/>
        </p:nvSpPr>
        <p:spPr>
          <a:xfrm>
            <a:off x="685800" y="3255264"/>
            <a:ext cx="6126480" cy="475488"/>
          </a:xfrm>
          <a:prstGeom prst="rect">
            <a:avLst/>
          </a:prstGeom>
          <a:noFill/>
          <a:ln/>
        </p:spPr>
        <p:txBody>
          <a:bodyPr wrap="square" lIns="0" tIns="0" rIns="0" bIns="0" rtlCol="0" anchor="ctr"/>
          <a:lstStyle/>
          <a:p>
            <a:pPr indent="0" marL="0">
              <a:buNone/>
            </a:pPr>
            <a:r>
              <a:rPr lang="en-US" sz="1200" dirty="0">
                <a:solidFill>
                  <a:srgbClr val="E6EEF2"/>
                </a:solidFill>
                <a:latin typeface="Courier New" pitchFamily="34" charset="0"/>
                <a:ea typeface="Courier New" pitchFamily="34" charset="-122"/>
                <a:cs typeface="Courier New" pitchFamily="34" charset="-120"/>
              </a:rPr>
              <a:t>./scripts/01_oracle_setup.sh</a:t>
            </a:r>
            <a:endParaRPr lang="en-US" sz="1200" dirty="0"/>
          </a:p>
        </p:txBody>
      </p:sp>
      <p:sp>
        <p:nvSpPr>
          <p:cNvPr id="8" name="Check card"/>
          <p:cNvSpPr/>
          <p:nvPr/>
        </p:nvSpPr>
        <p:spPr>
          <a:xfrm>
            <a:off x="7315200" y="1600200"/>
            <a:ext cx="4327855" cy="3749040"/>
          </a:xfrm>
          <a:prstGeom prst="roundRect">
            <a:avLst>
              <a:gd name="adj" fmla="val 2439"/>
            </a:avLst>
          </a:prstGeom>
          <a:solidFill>
            <a:schemeClr val="bg2"/>
          </a:solidFill>
          <a:ln/>
        </p:spPr>
      </p:sp>
      <p:pic>
        <p:nvPicPr>
          <p:cNvPr id="9" name="Check icon" descr="preencoded.png">    </p:cNvPr>
          <p:cNvPicPr>
            <a:picLocks noChangeAspect="1"/>
          </p:cNvPicPr>
          <p:nvPr/>
        </p:nvPicPr>
        <p:blipFill>
          <a:blip r:embed="rId1"/>
          <a:stretch>
            <a:fillRect/>
          </a:stretch>
        </p:blipFill>
        <p:spPr>
          <a:xfrm>
            <a:off x="7589520" y="1874520"/>
            <a:ext cx="329184" cy="329184"/>
          </a:xfrm>
          <a:prstGeom prst="rect">
            <a:avLst/>
          </a:prstGeom>
        </p:spPr>
      </p:pic>
      <p:sp>
        <p:nvSpPr>
          <p:cNvPr id="10" name="Check heading"/>
          <p:cNvSpPr txBox="1"/>
          <p:nvPr/>
        </p:nvSpPr>
        <p:spPr>
          <a:xfrm>
            <a:off x="8028432" y="1837944"/>
            <a:ext cx="3413455" cy="402336"/>
          </a:xfrm>
          <a:prstGeom prst="rect">
            <a:avLst/>
          </a:prstGeom>
          <a:noFill/>
          <a:ln/>
        </p:spPr>
        <p:txBody>
          <a:bodyPr wrap="square" lIns="0" tIns="0" rIns="0" bIns="0" rtlCol="0" anchor="ctr"/>
          <a:lstStyle/>
          <a:p>
            <a:pPr indent="0" marL="0">
              <a:buNone/>
            </a:pPr>
            <a:r>
              <a:rPr lang="en-US" sz="1800" b="1" dirty="0">
                <a:solidFill>
                  <a:schemeClr val="tx2"/>
                </a:solidFill>
              </a:rPr>
              <a:t>You should see</a:t>
            </a:r>
            <a:endParaRPr lang="en-US" sz="1800" dirty="0"/>
          </a:p>
        </p:txBody>
      </p:sp>
      <p:sp>
        <p:nvSpPr>
          <p:cNvPr id="11" name="Check items"/>
          <p:cNvSpPr txBox="1"/>
          <p:nvPr/>
        </p:nvSpPr>
        <p:spPr>
          <a:xfrm>
            <a:off x="7589520" y="2423160"/>
            <a:ext cx="3779215"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Row counts printed: VBAK 27, VBAP 61, LIKP 21, VBRK 22</a:t>
            </a:r>
            <a:endParaRPr lang="en-US" sz="1400" dirty="0"/>
          </a:p>
          <a:p>
            <a:pPr marL="342900" indent="-342900">
              <a:spcAft>
                <a:spcPts val="800"/>
              </a:spcAft>
              <a:buSzPct val="100000"/>
              <a:buChar char="•"/>
            </a:pPr>
            <a:r>
              <a:rPr lang="en-US" sz="1400" dirty="0">
                <a:solidFill>
                  <a:schemeClr val="tx1"/>
                </a:solidFill>
              </a:rPr>
              <a:t>Last line: “Oracle is ready for Debezium.”</a:t>
            </a:r>
            <a:endParaRPr lang="en-US" sz="1400" dirty="0"/>
          </a:p>
          <a:p>
            <a:pPr marL="342900" indent="-342900">
              <a:spcAft>
                <a:spcPts val="800"/>
              </a:spcAft>
              <a:buSzPct val="100000"/>
              <a:buChar char="•"/>
            </a:pPr>
            <a:r>
              <a:rPr lang="en-US" sz="1400" dirty="0">
                <a:solidFill>
                  <a:schemeClr val="tx1"/>
                </a:solidFill>
              </a:rPr>
              <a:t>Safe to re-run: data is cleared and reloaded</a:t>
            </a:r>
            <a:endParaRPr lang="en-US" sz="1400" dirty="0"/>
          </a:p>
        </p:txBody>
      </p:sp>
      <p:sp>
        <p:nvSpPr>
          <p:cNvPr id="12" name="Check note"/>
          <p:cNvSpPr txBox="1"/>
          <p:nvPr/>
        </p:nvSpPr>
        <p:spPr>
          <a:xfrm>
            <a:off x="7589520" y="4480560"/>
            <a:ext cx="3779215" cy="685800"/>
          </a:xfrm>
          <a:prstGeom prst="rect">
            <a:avLst/>
          </a:prstGeom>
          <a:noFill/>
          <a:ln/>
        </p:spPr>
        <p:txBody>
          <a:bodyPr wrap="square" lIns="0" tIns="0" rIns="0" bIns="0" rtlCol="0" anchor="b"/>
          <a:lstStyle/>
          <a:p>
            <a:pPr indent="0" marL="0">
              <a:buNone/>
            </a:pPr>
            <a:r>
              <a:rPr lang="en-US" sz="1200" i="1" dirty="0">
                <a:solidFill>
                  <a:schemeClr val="accent6"/>
                </a:solidFill>
              </a:rPr>
              <a:t>Oracle restarts once inside the container while ARCHIVELOG is switched on. That is expected.</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rPr>
              <a:t>Start Debezium: Oracle to Kafka</a:t>
            </a:r>
            <a:endParaRPr lang="en-US" sz="3200" dirty="0"/>
          </a:p>
        </p:txBody>
      </p:sp>
      <p:sp>
        <p:nvSpPr>
          <p:cNvPr id="3" name="Kicker"/>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STEP 4 OF 10 · GIT BASH · PROJECT FOLDER</a:t>
            </a:r>
            <a:endParaRPr lang="en-US" sz="1200" dirty="0"/>
          </a:p>
        </p:txBody>
      </p:sp>
      <p:sp>
        <p:nvSpPr>
          <p:cNvPr id="4" name="Steps"/>
          <p:cNvSpPr txBox="1"/>
          <p:nvPr/>
        </p:nvSpPr>
        <p:spPr>
          <a:xfrm>
            <a:off x="548640" y="1600200"/>
            <a:ext cx="6400800" cy="1243584"/>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500" dirty="0">
                <a:solidFill>
                  <a:schemeClr val="tx1"/>
                </a:solidFill>
              </a:rPr>
              <a:t>Register the Debezium Oracle source connector</a:t>
            </a:r>
            <a:endParaRPr lang="en-US" sz="1500" dirty="0"/>
          </a:p>
          <a:p>
            <a:pPr marL="342900" indent="-342900">
              <a:spcAft>
                <a:spcPts val="600"/>
              </a:spcAft>
              <a:buSzPct val="100000"/>
              <a:buFont typeface="+mj-lt"/>
              <a:buAutoNum type="arabicPeriod" startAt="1"/>
            </a:pPr>
            <a:r>
              <a:rPr lang="en-US" sz="1500" dirty="0">
                <a:solidFill>
                  <a:schemeClr val="tx1"/>
                </a:solidFill>
              </a:rPr>
              <a:t>It snapshots all 30 tables, then streams changes</a:t>
            </a:r>
            <a:endParaRPr lang="en-US" sz="1500" dirty="0"/>
          </a:p>
          <a:p>
            <a:pPr marL="342900" indent="-342900">
              <a:spcAft>
                <a:spcPts val="600"/>
              </a:spcAft>
              <a:buSzPct val="100000"/>
              <a:buFont typeface="+mj-lt"/>
              <a:buAutoNum type="arabicPeriod" startAt="1"/>
            </a:pPr>
            <a:r>
              <a:rPr lang="en-US" sz="1500" dirty="0">
                <a:solidFill>
                  <a:schemeClr val="tx1"/>
                </a:solidFill>
              </a:rPr>
              <a:t>Check the connector and the topics</a:t>
            </a:r>
            <a:endParaRPr lang="en-US" sz="1500" dirty="0"/>
          </a:p>
        </p:txBody>
      </p:sp>
      <p:sp>
        <p:nvSpPr>
          <p:cNvPr id="5" name="Code 1 label"/>
          <p:cNvSpPr txBox="1"/>
          <p:nvPr/>
        </p:nvSpPr>
        <p:spPr>
          <a:xfrm>
            <a:off x="548640" y="2980944"/>
            <a:ext cx="6400800" cy="237744"/>
          </a:xfrm>
          <a:prstGeom prst="rect">
            <a:avLst/>
          </a:prstGeom>
          <a:noFill/>
          <a:ln/>
        </p:spPr>
        <p:txBody>
          <a:bodyPr wrap="square" lIns="0" tIns="0" rIns="0" bIns="0" rtlCol="0" anchor="ctr"/>
          <a:lstStyle/>
          <a:p>
            <a:pPr indent="0" marL="0">
              <a:buNone/>
            </a:pPr>
            <a:r>
              <a:rPr lang="en-US" sz="1100" b="1" dirty="0">
                <a:solidFill>
                  <a:schemeClr val="accent5"/>
                </a:solidFill>
              </a:rPr>
              <a:t>Git Bash</a:t>
            </a:r>
            <a:endParaRPr lang="en-US" sz="1100" dirty="0"/>
          </a:p>
        </p:txBody>
      </p:sp>
      <p:sp>
        <p:nvSpPr>
          <p:cNvPr id="6" name="Code 1 box"/>
          <p:cNvSpPr/>
          <p:nvPr/>
        </p:nvSpPr>
        <p:spPr>
          <a:xfrm>
            <a:off x="548640" y="3255264"/>
            <a:ext cx="6400800" cy="676656"/>
          </a:xfrm>
          <a:prstGeom prst="roundRect">
            <a:avLst>
              <a:gd name="adj" fmla="val 10811"/>
            </a:avLst>
          </a:prstGeom>
          <a:solidFill>
            <a:schemeClr val="tx2"/>
          </a:solidFill>
          <a:ln/>
        </p:spPr>
      </p:sp>
      <p:sp>
        <p:nvSpPr>
          <p:cNvPr id="7" name="Code 1 code"/>
          <p:cNvSpPr txBox="1"/>
          <p:nvPr/>
        </p:nvSpPr>
        <p:spPr>
          <a:xfrm>
            <a:off x="685800" y="3255264"/>
            <a:ext cx="6126480" cy="676656"/>
          </a:xfrm>
          <a:prstGeom prst="rect">
            <a:avLst/>
          </a:prstGeom>
          <a:noFill/>
          <a:ln/>
        </p:spPr>
        <p:txBody>
          <a:bodyPr wrap="square" lIns="0" tIns="0" rIns="0" bIns="0" rtlCol="0" anchor="ctr"/>
          <a:lstStyle/>
          <a:p>
            <a:pPr indent="0" marL="0">
              <a:buNone/>
            </a:pPr>
            <a:r>
              <a:rPr lang="en-US" sz="1200" dirty="0">
                <a:solidFill>
                  <a:srgbClr val="E6EEF2"/>
                </a:solidFill>
                <a:latin typeface="Courier New" pitchFamily="34" charset="0"/>
                <a:ea typeface="Courier New" pitchFamily="34" charset="-122"/>
                <a:cs typeface="Courier New" pitchFamily="34" charset="-120"/>
              </a:rPr>
              <a:t>./scripts/02_register_connectors.sh source</a:t>
            </a:r>
            <a:endParaRPr lang="en-US" sz="1200" dirty="0"/>
          </a:p>
          <a:p>
            <a:pPr indent="0" marL="0">
              <a:buNone/>
            </a:pPr>
            <a:r>
              <a:rPr lang="en-US" sz="1200" dirty="0">
                <a:solidFill>
                  <a:srgbClr val="E6EEF2"/>
                </a:solidFill>
                <a:latin typeface="Courier New" pitchFamily="34" charset="0"/>
                <a:ea typeface="Courier New" pitchFamily="34" charset="-122"/>
                <a:cs typeface="Courier New" pitchFamily="34" charset="-120"/>
              </a:rPr>
              <a:t>./scripts/status.sh</a:t>
            </a:r>
            <a:endParaRPr lang="en-US" sz="1200" dirty="0"/>
          </a:p>
        </p:txBody>
      </p:sp>
      <p:sp>
        <p:nvSpPr>
          <p:cNvPr id="8" name="Check card"/>
          <p:cNvSpPr/>
          <p:nvPr/>
        </p:nvSpPr>
        <p:spPr>
          <a:xfrm>
            <a:off x="7315200" y="1600200"/>
            <a:ext cx="4327855" cy="3749040"/>
          </a:xfrm>
          <a:prstGeom prst="roundRect">
            <a:avLst>
              <a:gd name="adj" fmla="val 2439"/>
            </a:avLst>
          </a:prstGeom>
          <a:solidFill>
            <a:schemeClr val="bg2"/>
          </a:solidFill>
          <a:ln/>
        </p:spPr>
      </p:sp>
      <p:pic>
        <p:nvPicPr>
          <p:cNvPr id="9" name="Check icon" descr="preencoded.png">    </p:cNvPr>
          <p:cNvPicPr>
            <a:picLocks noChangeAspect="1"/>
          </p:cNvPicPr>
          <p:nvPr/>
        </p:nvPicPr>
        <p:blipFill>
          <a:blip r:embed="rId1"/>
          <a:stretch>
            <a:fillRect/>
          </a:stretch>
        </p:blipFill>
        <p:spPr>
          <a:xfrm>
            <a:off x="7589520" y="1874520"/>
            <a:ext cx="329184" cy="329184"/>
          </a:xfrm>
          <a:prstGeom prst="rect">
            <a:avLst/>
          </a:prstGeom>
        </p:spPr>
      </p:pic>
      <p:sp>
        <p:nvSpPr>
          <p:cNvPr id="10" name="Check heading"/>
          <p:cNvSpPr txBox="1"/>
          <p:nvPr/>
        </p:nvSpPr>
        <p:spPr>
          <a:xfrm>
            <a:off x="8028432" y="1837944"/>
            <a:ext cx="3413455" cy="402336"/>
          </a:xfrm>
          <a:prstGeom prst="rect">
            <a:avLst/>
          </a:prstGeom>
          <a:noFill/>
          <a:ln/>
        </p:spPr>
        <p:txBody>
          <a:bodyPr wrap="square" lIns="0" tIns="0" rIns="0" bIns="0" rtlCol="0" anchor="ctr"/>
          <a:lstStyle/>
          <a:p>
            <a:pPr indent="0" marL="0">
              <a:buNone/>
            </a:pPr>
            <a:r>
              <a:rPr lang="en-US" sz="1800" b="1" dirty="0">
                <a:solidFill>
                  <a:schemeClr val="tx2"/>
                </a:solidFill>
              </a:rPr>
              <a:t>You should see</a:t>
            </a:r>
            <a:endParaRPr lang="en-US" sz="1800" dirty="0"/>
          </a:p>
        </p:txBody>
      </p:sp>
      <p:sp>
        <p:nvSpPr>
          <p:cNvPr id="11" name="Check items"/>
          <p:cNvSpPr txBox="1"/>
          <p:nvPr/>
        </p:nvSpPr>
        <p:spPr>
          <a:xfrm>
            <a:off x="7589520" y="2423160"/>
            <a:ext cx="3779215"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sap-sd-oracle-source: RUNNING (connector and task)</a:t>
            </a:r>
            <a:endParaRPr lang="en-US" sz="1400" dirty="0"/>
          </a:p>
          <a:p>
            <a:pPr marL="342900" indent="-342900">
              <a:spcAft>
                <a:spcPts val="800"/>
              </a:spcAft>
              <a:buSzPct val="100000"/>
              <a:buChar char="•"/>
            </a:pPr>
            <a:r>
              <a:rPr lang="en-US" sz="1400" dirty="0">
                <a:solidFill>
                  <a:schemeClr val="tx1"/>
                </a:solidFill>
              </a:rPr>
              <a:t>30 topics named sap.SAPSD.&lt;TABLE&gt;</a:t>
            </a:r>
            <a:endParaRPr lang="en-US" sz="1400" dirty="0"/>
          </a:p>
          <a:p>
            <a:pPr marL="342900" indent="-342900">
              <a:spcAft>
                <a:spcPts val="800"/>
              </a:spcAft>
              <a:buSzPct val="100000"/>
              <a:buChar char="•"/>
            </a:pPr>
            <a:r>
              <a:rPr lang="en-US" sz="1400" dirty="0">
                <a:solidFill>
                  <a:schemeClr val="tx1"/>
                </a:solidFill>
              </a:rPr>
              <a:t>Events show before, after, op and source.scn</a:t>
            </a:r>
            <a:endParaRPr lang="en-US" sz="1400" dirty="0"/>
          </a:p>
        </p:txBody>
      </p:sp>
      <p:sp>
        <p:nvSpPr>
          <p:cNvPr id="12" name="Check note"/>
          <p:cNvSpPr txBox="1"/>
          <p:nvPr/>
        </p:nvSpPr>
        <p:spPr>
          <a:xfrm>
            <a:off x="7589520" y="4480560"/>
            <a:ext cx="3779215" cy="685800"/>
          </a:xfrm>
          <a:prstGeom prst="rect">
            <a:avLst/>
          </a:prstGeom>
          <a:noFill/>
          <a:ln/>
        </p:spPr>
        <p:txBody>
          <a:bodyPr wrap="square" lIns="0" tIns="0" rIns="0" bIns="0" rtlCol="0" anchor="b"/>
          <a:lstStyle/>
          <a:p>
            <a:pPr indent="0" marL="0">
              <a:buNone/>
            </a:pPr>
            <a:r>
              <a:rPr lang="en-US" sz="1200" i="1" dirty="0">
                <a:solidFill>
                  <a:schemeClr val="accent6"/>
                </a:solidFill>
              </a:rPr>
              <a:t>Snapshot rows have op = r; live changes use c (insert), u (update) and d (delete).</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rPr>
              <a:t>Start the Snowflake sink: Kafka to Bronze</a:t>
            </a:r>
            <a:endParaRPr lang="en-US" sz="3200" dirty="0"/>
          </a:p>
        </p:txBody>
      </p:sp>
      <p:sp>
        <p:nvSpPr>
          <p:cNvPr id="3" name="Kicker"/>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STEP 5 OF 10 · GIT BASH + SNOWSIGHT</a:t>
            </a:r>
            <a:endParaRPr lang="en-US" sz="1200" dirty="0"/>
          </a:p>
        </p:txBody>
      </p:sp>
      <p:sp>
        <p:nvSpPr>
          <p:cNvPr id="4" name="Steps"/>
          <p:cNvSpPr txBox="1"/>
          <p:nvPr/>
        </p:nvSpPr>
        <p:spPr>
          <a:xfrm>
            <a:off x="548640" y="1600200"/>
            <a:ext cx="6400800" cy="1243584"/>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500" dirty="0">
                <a:solidFill>
                  <a:schemeClr val="tx1"/>
                </a:solidFill>
              </a:rPr>
              <a:t>Register the Snowflake Kafka connector v4</a:t>
            </a:r>
            <a:endParaRPr lang="en-US" sz="1500" dirty="0"/>
          </a:p>
          <a:p>
            <a:pPr marL="342900" indent="-342900">
              <a:spcAft>
                <a:spcPts val="600"/>
              </a:spcAft>
              <a:buSzPct val="100000"/>
              <a:buFont typeface="+mj-lt"/>
              <a:buAutoNum type="arabicPeriod" startAt="1"/>
            </a:pPr>
            <a:r>
              <a:rPr lang="en-US" sz="1500" dirty="0">
                <a:solidFill>
                  <a:schemeClr val="tx1"/>
                </a:solidFill>
              </a:rPr>
              <a:t>It creates one *_RAW table per topic in SAP_RAW.SD</a:t>
            </a:r>
            <a:endParaRPr lang="en-US" sz="1500" dirty="0"/>
          </a:p>
          <a:p>
            <a:pPr marL="342900" indent="-342900">
              <a:spcAft>
                <a:spcPts val="600"/>
              </a:spcAft>
              <a:buSzPct val="100000"/>
              <a:buFont typeface="+mj-lt"/>
              <a:buAutoNum type="arabicPeriod" startAt="1"/>
            </a:pPr>
            <a:r>
              <a:rPr lang="en-US" sz="1500" dirty="0">
                <a:solidFill>
                  <a:schemeClr val="tx1"/>
                </a:solidFill>
              </a:rPr>
              <a:t>Check the raw tables in Snowflake</a:t>
            </a:r>
            <a:endParaRPr lang="en-US" sz="1500" dirty="0"/>
          </a:p>
        </p:txBody>
      </p:sp>
      <p:sp>
        <p:nvSpPr>
          <p:cNvPr id="5" name="Code 1 label"/>
          <p:cNvSpPr txBox="1"/>
          <p:nvPr/>
        </p:nvSpPr>
        <p:spPr>
          <a:xfrm>
            <a:off x="548640" y="2980944"/>
            <a:ext cx="6400800" cy="237744"/>
          </a:xfrm>
          <a:prstGeom prst="rect">
            <a:avLst/>
          </a:prstGeom>
          <a:noFill/>
          <a:ln/>
        </p:spPr>
        <p:txBody>
          <a:bodyPr wrap="square" lIns="0" tIns="0" rIns="0" bIns="0" rtlCol="0" anchor="ctr"/>
          <a:lstStyle/>
          <a:p>
            <a:pPr indent="0" marL="0">
              <a:buNone/>
            </a:pPr>
            <a:r>
              <a:rPr lang="en-US" sz="1100" b="1" dirty="0">
                <a:solidFill>
                  <a:schemeClr val="accent5"/>
                </a:solidFill>
              </a:rPr>
              <a:t>Git Bash</a:t>
            </a:r>
            <a:endParaRPr lang="en-US" sz="1100" dirty="0"/>
          </a:p>
        </p:txBody>
      </p:sp>
      <p:sp>
        <p:nvSpPr>
          <p:cNvPr id="6" name="Code 1 box"/>
          <p:cNvSpPr/>
          <p:nvPr/>
        </p:nvSpPr>
        <p:spPr>
          <a:xfrm>
            <a:off x="548640" y="3255264"/>
            <a:ext cx="6400800" cy="475488"/>
          </a:xfrm>
          <a:prstGeom prst="roundRect">
            <a:avLst>
              <a:gd name="adj" fmla="val 15385"/>
            </a:avLst>
          </a:prstGeom>
          <a:solidFill>
            <a:schemeClr val="tx2"/>
          </a:solidFill>
          <a:ln/>
        </p:spPr>
      </p:sp>
      <p:sp>
        <p:nvSpPr>
          <p:cNvPr id="7" name="Code 1 code"/>
          <p:cNvSpPr txBox="1"/>
          <p:nvPr/>
        </p:nvSpPr>
        <p:spPr>
          <a:xfrm>
            <a:off x="685800" y="3255264"/>
            <a:ext cx="6126480" cy="475488"/>
          </a:xfrm>
          <a:prstGeom prst="rect">
            <a:avLst/>
          </a:prstGeom>
          <a:noFill/>
          <a:ln/>
        </p:spPr>
        <p:txBody>
          <a:bodyPr wrap="square" lIns="0" tIns="0" rIns="0" bIns="0" rtlCol="0" anchor="ctr"/>
          <a:lstStyle/>
          <a:p>
            <a:pPr indent="0" marL="0">
              <a:buNone/>
            </a:pPr>
            <a:r>
              <a:rPr lang="en-US" sz="1200" dirty="0">
                <a:solidFill>
                  <a:srgbClr val="E6EEF2"/>
                </a:solidFill>
                <a:latin typeface="Courier New" pitchFamily="34" charset="0"/>
                <a:ea typeface="Courier New" pitchFamily="34" charset="-122"/>
                <a:cs typeface="Courier New" pitchFamily="34" charset="-120"/>
              </a:rPr>
              <a:t>./scripts/02_register_connectors.sh sink</a:t>
            </a:r>
            <a:endParaRPr lang="en-US" sz="1200" dirty="0"/>
          </a:p>
        </p:txBody>
      </p:sp>
      <p:sp>
        <p:nvSpPr>
          <p:cNvPr id="8" name="Code 2 label"/>
          <p:cNvSpPr txBox="1"/>
          <p:nvPr/>
        </p:nvSpPr>
        <p:spPr>
          <a:xfrm>
            <a:off x="548640" y="3913632"/>
            <a:ext cx="6400800" cy="237744"/>
          </a:xfrm>
          <a:prstGeom prst="rect">
            <a:avLst/>
          </a:prstGeom>
          <a:noFill/>
          <a:ln/>
        </p:spPr>
        <p:txBody>
          <a:bodyPr wrap="square" lIns="0" tIns="0" rIns="0" bIns="0" rtlCol="0" anchor="ctr"/>
          <a:lstStyle/>
          <a:p>
            <a:pPr indent="0" marL="0">
              <a:buNone/>
            </a:pPr>
            <a:r>
              <a:rPr lang="en-US" sz="1100" b="1" dirty="0">
                <a:solidFill>
                  <a:schemeClr val="accent5"/>
                </a:solidFill>
              </a:rPr>
              <a:t>Snowsight</a:t>
            </a:r>
            <a:endParaRPr lang="en-US" sz="1100" dirty="0"/>
          </a:p>
        </p:txBody>
      </p:sp>
      <p:sp>
        <p:nvSpPr>
          <p:cNvPr id="9" name="Code 2 box"/>
          <p:cNvSpPr/>
          <p:nvPr/>
        </p:nvSpPr>
        <p:spPr>
          <a:xfrm>
            <a:off x="548640" y="4187952"/>
            <a:ext cx="6400800" cy="676656"/>
          </a:xfrm>
          <a:prstGeom prst="roundRect">
            <a:avLst>
              <a:gd name="adj" fmla="val 10811"/>
            </a:avLst>
          </a:prstGeom>
          <a:solidFill>
            <a:schemeClr val="tx2"/>
          </a:solidFill>
          <a:ln/>
        </p:spPr>
      </p:sp>
      <p:sp>
        <p:nvSpPr>
          <p:cNvPr id="10" name="Code 2 code"/>
          <p:cNvSpPr txBox="1"/>
          <p:nvPr/>
        </p:nvSpPr>
        <p:spPr>
          <a:xfrm>
            <a:off x="685800" y="4187952"/>
            <a:ext cx="6126480" cy="676656"/>
          </a:xfrm>
          <a:prstGeom prst="rect">
            <a:avLst/>
          </a:prstGeom>
          <a:noFill/>
          <a:ln/>
        </p:spPr>
        <p:txBody>
          <a:bodyPr wrap="square" lIns="0" tIns="0" rIns="0" bIns="0" rtlCol="0" anchor="ctr"/>
          <a:lstStyle/>
          <a:p>
            <a:pPr indent="0" marL="0">
              <a:buNone/>
            </a:pPr>
            <a:r>
              <a:rPr lang="en-US" sz="1200" dirty="0">
                <a:solidFill>
                  <a:srgbClr val="E6EEF2"/>
                </a:solidFill>
                <a:latin typeface="Courier New" pitchFamily="34" charset="0"/>
                <a:ea typeface="Courier New" pitchFamily="34" charset="-122"/>
                <a:cs typeface="Courier New" pitchFamily="34" charset="-120"/>
              </a:rPr>
              <a:t>SHOW TABLES IN SCHEMA SAP_RAW.SD;</a:t>
            </a:r>
            <a:endParaRPr lang="en-US" sz="1200" dirty="0"/>
          </a:p>
          <a:p>
            <a:pPr indent="0" marL="0">
              <a:buNone/>
            </a:pPr>
            <a:r>
              <a:rPr lang="en-US" sz="1200" dirty="0">
                <a:solidFill>
                  <a:srgbClr val="E6EEF2"/>
                </a:solidFill>
                <a:latin typeface="Courier New" pitchFamily="34" charset="0"/>
                <a:ea typeface="Courier New" pitchFamily="34" charset="-122"/>
                <a:cs typeface="Courier New" pitchFamily="34" charset="-120"/>
              </a:rPr>
              <a:t>SELECT COUNT(*) FROM SAP_RAW.SD.VBAK_RAW;</a:t>
            </a:r>
            <a:endParaRPr lang="en-US" sz="1200" dirty="0"/>
          </a:p>
        </p:txBody>
      </p:sp>
      <p:sp>
        <p:nvSpPr>
          <p:cNvPr id="11" name="Check card"/>
          <p:cNvSpPr/>
          <p:nvPr/>
        </p:nvSpPr>
        <p:spPr>
          <a:xfrm>
            <a:off x="7315200" y="1600200"/>
            <a:ext cx="4327855" cy="3749040"/>
          </a:xfrm>
          <a:prstGeom prst="roundRect">
            <a:avLst>
              <a:gd name="adj" fmla="val 2439"/>
            </a:avLst>
          </a:prstGeom>
          <a:solidFill>
            <a:schemeClr val="bg2"/>
          </a:solidFill>
          <a:ln/>
        </p:spPr>
      </p:sp>
      <p:pic>
        <p:nvPicPr>
          <p:cNvPr id="12" name="Check icon" descr="preencoded.png">    </p:cNvPr>
          <p:cNvPicPr>
            <a:picLocks noChangeAspect="1"/>
          </p:cNvPicPr>
          <p:nvPr/>
        </p:nvPicPr>
        <p:blipFill>
          <a:blip r:embed="rId1"/>
          <a:stretch>
            <a:fillRect/>
          </a:stretch>
        </p:blipFill>
        <p:spPr>
          <a:xfrm>
            <a:off x="7589520" y="1874520"/>
            <a:ext cx="329184" cy="329184"/>
          </a:xfrm>
          <a:prstGeom prst="rect">
            <a:avLst/>
          </a:prstGeom>
        </p:spPr>
      </p:pic>
      <p:sp>
        <p:nvSpPr>
          <p:cNvPr id="13" name="Check heading"/>
          <p:cNvSpPr txBox="1"/>
          <p:nvPr/>
        </p:nvSpPr>
        <p:spPr>
          <a:xfrm>
            <a:off x="8028432" y="1837944"/>
            <a:ext cx="3413455" cy="402336"/>
          </a:xfrm>
          <a:prstGeom prst="rect">
            <a:avLst/>
          </a:prstGeom>
          <a:noFill/>
          <a:ln/>
        </p:spPr>
        <p:txBody>
          <a:bodyPr wrap="square" lIns="0" tIns="0" rIns="0" bIns="0" rtlCol="0" anchor="ctr"/>
          <a:lstStyle/>
          <a:p>
            <a:pPr indent="0" marL="0">
              <a:buNone/>
            </a:pPr>
            <a:r>
              <a:rPr lang="en-US" sz="1800" b="1" dirty="0">
                <a:solidFill>
                  <a:schemeClr val="tx2"/>
                </a:solidFill>
              </a:rPr>
              <a:t>You should see</a:t>
            </a:r>
            <a:endParaRPr lang="en-US" sz="1800" dirty="0"/>
          </a:p>
        </p:txBody>
      </p:sp>
      <p:sp>
        <p:nvSpPr>
          <p:cNvPr id="14" name="Check items"/>
          <p:cNvSpPr txBox="1"/>
          <p:nvPr/>
        </p:nvSpPr>
        <p:spPr>
          <a:xfrm>
            <a:off x="7589520" y="2423160"/>
            <a:ext cx="3779215"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sap-sd-snowflake-sink: RUNNING</a:t>
            </a:r>
            <a:endParaRPr lang="en-US" sz="1400" dirty="0"/>
          </a:p>
          <a:p>
            <a:pPr marL="342900" indent="-342900">
              <a:spcAft>
                <a:spcPts val="800"/>
              </a:spcAft>
              <a:buSzPct val="100000"/>
              <a:buChar char="•"/>
            </a:pPr>
            <a:r>
              <a:rPr lang="en-US" sz="1400" dirty="0">
                <a:solidFill>
                  <a:schemeClr val="tx1"/>
                </a:solidFill>
              </a:rPr>
              <a:t>30 *_RAW tables with RECORD_CONTENT and RECORD_METADATA</a:t>
            </a:r>
            <a:endParaRPr lang="en-US" sz="1400" dirty="0"/>
          </a:p>
          <a:p>
            <a:pPr marL="342900" indent="-342900">
              <a:spcAft>
                <a:spcPts val="800"/>
              </a:spcAft>
              <a:buSzPct val="100000"/>
              <a:buChar char="•"/>
            </a:pPr>
            <a:r>
              <a:rPr lang="en-US" sz="1400" dirty="0">
                <a:solidFill>
                  <a:schemeClr val="tx1"/>
                </a:solidFill>
              </a:rPr>
              <a:t>VBAK_RAW returns 27 rows</a:t>
            </a:r>
            <a:endParaRPr lang="en-US" sz="1400" dirty="0"/>
          </a:p>
        </p:txBody>
      </p:sp>
      <p:sp>
        <p:nvSpPr>
          <p:cNvPr id="15" name="Check note"/>
          <p:cNvSpPr txBox="1"/>
          <p:nvPr/>
        </p:nvSpPr>
        <p:spPr>
          <a:xfrm>
            <a:off x="7589520" y="4480560"/>
            <a:ext cx="3779215" cy="685800"/>
          </a:xfrm>
          <a:prstGeom prst="rect">
            <a:avLst/>
          </a:prstGeom>
          <a:noFill/>
          <a:ln/>
        </p:spPr>
        <p:txBody>
          <a:bodyPr wrap="square" lIns="0" tIns="0" rIns="0" bIns="0" rtlCol="0" anchor="b"/>
          <a:lstStyle/>
          <a:p>
            <a:pPr indent="0" marL="0">
              <a:buNone/>
            </a:pPr>
            <a:r>
              <a:rPr lang="en-US" sz="1200" i="1" dirty="0">
                <a:solidFill>
                  <a:schemeClr val="accent6"/>
                </a:solidFill>
              </a:rPr>
              <a:t>Billed per GB ingested; no warehouse is used for loading.</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rPr>
              <a:t>Build Silver: curated typed tables</a:t>
            </a:r>
            <a:endParaRPr lang="en-US" sz="3200" dirty="0"/>
          </a:p>
        </p:txBody>
      </p:sp>
      <p:sp>
        <p:nvSpPr>
          <p:cNvPr id="3" name="Kicker"/>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STEP 6 OF 10 · SNOWSIGHT</a:t>
            </a:r>
            <a:endParaRPr lang="en-US" sz="1200" dirty="0"/>
          </a:p>
        </p:txBody>
      </p:sp>
      <p:sp>
        <p:nvSpPr>
          <p:cNvPr id="4" name="Steps"/>
          <p:cNvSpPr txBox="1"/>
          <p:nvPr/>
        </p:nvSpPr>
        <p:spPr>
          <a:xfrm>
            <a:off x="548640" y="1600200"/>
            <a:ext cx="6400800" cy="1243584"/>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500" dirty="0">
                <a:solidFill>
                  <a:schemeClr val="tx1"/>
                </a:solidFill>
              </a:rPr>
              <a:t>Run the curated layer script once</a:t>
            </a:r>
            <a:endParaRPr lang="en-US" sz="1500" dirty="0"/>
          </a:p>
          <a:p>
            <a:pPr marL="342900" indent="-342900">
              <a:spcAft>
                <a:spcPts val="600"/>
              </a:spcAft>
              <a:buSzPct val="100000"/>
              <a:buFont typeface="+mj-lt"/>
              <a:buAutoNum type="arabicPeriod" startAt="1"/>
            </a:pPr>
            <a:r>
              <a:rPr lang="en-US" sz="1500" dirty="0">
                <a:solidFill>
                  <a:schemeClr val="tx1"/>
                </a:solidFill>
              </a:rPr>
              <a:t>It creates a typed table, stream and MERGE task per SAP table</a:t>
            </a:r>
            <a:endParaRPr lang="en-US" sz="1500" dirty="0"/>
          </a:p>
          <a:p>
            <a:pPr marL="342900" indent="-342900">
              <a:spcAft>
                <a:spcPts val="600"/>
              </a:spcAft>
              <a:buSzPct val="100000"/>
              <a:buFont typeface="+mj-lt"/>
              <a:buAutoNum type="arabicPeriod" startAt="1"/>
            </a:pPr>
            <a:r>
              <a:rPr lang="en-US" sz="1500" dirty="0">
                <a:solidFill>
                  <a:schemeClr val="tx1"/>
                </a:solidFill>
              </a:rPr>
              <a:t>Tasks start and load the snapshot immediately</a:t>
            </a:r>
            <a:endParaRPr lang="en-US" sz="1500" dirty="0"/>
          </a:p>
        </p:txBody>
      </p:sp>
      <p:sp>
        <p:nvSpPr>
          <p:cNvPr id="5" name="Code 1 label"/>
          <p:cNvSpPr txBox="1"/>
          <p:nvPr/>
        </p:nvSpPr>
        <p:spPr>
          <a:xfrm>
            <a:off x="548640" y="2980944"/>
            <a:ext cx="6400800" cy="237744"/>
          </a:xfrm>
          <a:prstGeom prst="rect">
            <a:avLst/>
          </a:prstGeom>
          <a:noFill/>
          <a:ln/>
        </p:spPr>
        <p:txBody>
          <a:bodyPr wrap="square" lIns="0" tIns="0" rIns="0" bIns="0" rtlCol="0" anchor="ctr"/>
          <a:lstStyle/>
          <a:p>
            <a:pPr indent="0" marL="0">
              <a:buNone/>
            </a:pPr>
            <a:r>
              <a:rPr lang="en-US" sz="1100" b="1" dirty="0">
                <a:solidFill>
                  <a:schemeClr val="accent5"/>
                </a:solidFill>
              </a:rPr>
              <a:t>Snowsight · run the whole file</a:t>
            </a:r>
            <a:endParaRPr lang="en-US" sz="1100" dirty="0"/>
          </a:p>
        </p:txBody>
      </p:sp>
      <p:sp>
        <p:nvSpPr>
          <p:cNvPr id="6" name="Code 1 box"/>
          <p:cNvSpPr/>
          <p:nvPr/>
        </p:nvSpPr>
        <p:spPr>
          <a:xfrm>
            <a:off x="548640" y="3255264"/>
            <a:ext cx="6400800" cy="475488"/>
          </a:xfrm>
          <a:prstGeom prst="roundRect">
            <a:avLst>
              <a:gd name="adj" fmla="val 15385"/>
            </a:avLst>
          </a:prstGeom>
          <a:solidFill>
            <a:schemeClr val="tx2"/>
          </a:solidFill>
          <a:ln/>
        </p:spPr>
      </p:sp>
      <p:sp>
        <p:nvSpPr>
          <p:cNvPr id="7" name="Code 1 code"/>
          <p:cNvSpPr txBox="1"/>
          <p:nvPr/>
        </p:nvSpPr>
        <p:spPr>
          <a:xfrm>
            <a:off x="685800" y="3255264"/>
            <a:ext cx="6126480" cy="475488"/>
          </a:xfrm>
          <a:prstGeom prst="rect">
            <a:avLst/>
          </a:prstGeom>
          <a:noFill/>
          <a:ln/>
        </p:spPr>
        <p:txBody>
          <a:bodyPr wrap="square" lIns="0" tIns="0" rIns="0" bIns="0" rtlCol="0" anchor="ctr"/>
          <a:lstStyle/>
          <a:p>
            <a:pPr indent="0" marL="0">
              <a:buNone/>
            </a:pPr>
            <a:r>
              <a:rPr lang="en-US" sz="1200" dirty="0">
                <a:solidFill>
                  <a:srgbClr val="E6EEF2"/>
                </a:solidFill>
                <a:latin typeface="Courier New" pitchFamily="34" charset="0"/>
                <a:ea typeface="Courier New" pitchFamily="34" charset="-122"/>
                <a:cs typeface="Courier New" pitchFamily="34" charset="-120"/>
              </a:rPr>
              <a:t>snowflake/04_curated_layer.sql</a:t>
            </a:r>
            <a:endParaRPr lang="en-US" sz="1200" dirty="0"/>
          </a:p>
        </p:txBody>
      </p:sp>
      <p:sp>
        <p:nvSpPr>
          <p:cNvPr id="8" name="Code 2 label"/>
          <p:cNvSpPr txBox="1"/>
          <p:nvPr/>
        </p:nvSpPr>
        <p:spPr>
          <a:xfrm>
            <a:off x="548640" y="3913632"/>
            <a:ext cx="6400800" cy="237744"/>
          </a:xfrm>
          <a:prstGeom prst="rect">
            <a:avLst/>
          </a:prstGeom>
          <a:noFill/>
          <a:ln/>
        </p:spPr>
        <p:txBody>
          <a:bodyPr wrap="square" lIns="0" tIns="0" rIns="0" bIns="0" rtlCol="0" anchor="ctr"/>
          <a:lstStyle/>
          <a:p>
            <a:pPr indent="0" marL="0">
              <a:buNone/>
            </a:pPr>
            <a:r>
              <a:rPr lang="en-US" sz="1100" b="1" dirty="0">
                <a:solidFill>
                  <a:schemeClr val="accent5"/>
                </a:solidFill>
              </a:rPr>
              <a:t>Check</a:t>
            </a:r>
            <a:endParaRPr lang="en-US" sz="1100" dirty="0"/>
          </a:p>
        </p:txBody>
      </p:sp>
      <p:sp>
        <p:nvSpPr>
          <p:cNvPr id="9" name="Code 2 box"/>
          <p:cNvSpPr/>
          <p:nvPr/>
        </p:nvSpPr>
        <p:spPr>
          <a:xfrm>
            <a:off x="548640" y="4187952"/>
            <a:ext cx="6400800" cy="877824"/>
          </a:xfrm>
          <a:prstGeom prst="roundRect">
            <a:avLst>
              <a:gd name="adj" fmla="val 8333"/>
            </a:avLst>
          </a:prstGeom>
          <a:solidFill>
            <a:schemeClr val="tx2"/>
          </a:solidFill>
          <a:ln/>
        </p:spPr>
      </p:sp>
      <p:sp>
        <p:nvSpPr>
          <p:cNvPr id="10" name="Code 2 code"/>
          <p:cNvSpPr txBox="1"/>
          <p:nvPr/>
        </p:nvSpPr>
        <p:spPr>
          <a:xfrm>
            <a:off x="685800" y="4187952"/>
            <a:ext cx="6126480" cy="877824"/>
          </a:xfrm>
          <a:prstGeom prst="rect">
            <a:avLst/>
          </a:prstGeom>
          <a:noFill/>
          <a:ln/>
        </p:spPr>
        <p:txBody>
          <a:bodyPr wrap="square" lIns="0" tIns="0" rIns="0" bIns="0" rtlCol="0" anchor="ctr"/>
          <a:lstStyle/>
          <a:p>
            <a:pPr indent="0" marL="0">
              <a:buNone/>
            </a:pPr>
            <a:r>
              <a:rPr lang="en-US" sz="1200" dirty="0">
                <a:solidFill>
                  <a:srgbClr val="E6EEF2"/>
                </a:solidFill>
                <a:latin typeface="Courier New" pitchFamily="34" charset="0"/>
                <a:ea typeface="Courier New" pitchFamily="34" charset="-122"/>
                <a:cs typeface="Courier New" pitchFamily="34" charset="-120"/>
              </a:rPr>
              <a:t>SELECT "VBELN", "NETWR", "ERDAT"</a:t>
            </a:r>
            <a:endParaRPr lang="en-US" sz="1200" dirty="0"/>
          </a:p>
          <a:p>
            <a:pPr indent="0" marL="0">
              <a:buNone/>
            </a:pPr>
            <a:r>
              <a:rPr lang="en-US" sz="1200" dirty="0">
                <a:solidFill>
                  <a:srgbClr val="E6EEF2"/>
                </a:solidFill>
                <a:latin typeface="Courier New" pitchFamily="34" charset="0"/>
                <a:ea typeface="Courier New" pitchFamily="34" charset="-122"/>
                <a:cs typeface="Courier New" pitchFamily="34" charset="-120"/>
              </a:rPr>
              <a:t>FROM SAP_CURATED.SD.VBAK</a:t>
            </a:r>
            <a:endParaRPr lang="en-US" sz="1200" dirty="0"/>
          </a:p>
          <a:p>
            <a:pPr indent="0" marL="0">
              <a:buNone/>
            </a:pPr>
            <a:r>
              <a:rPr lang="en-US" sz="1200" dirty="0">
                <a:solidFill>
                  <a:srgbClr val="E6EEF2"/>
                </a:solidFill>
                <a:latin typeface="Courier New" pitchFamily="34" charset="0"/>
                <a:ea typeface="Courier New" pitchFamily="34" charset="-122"/>
                <a:cs typeface="Courier New" pitchFamily="34" charset="-120"/>
              </a:rPr>
              <a:t>WHERE NOT CDC_IS_DELETED;</a:t>
            </a:r>
            <a:endParaRPr lang="en-US" sz="1200" dirty="0"/>
          </a:p>
        </p:txBody>
      </p:sp>
      <p:sp>
        <p:nvSpPr>
          <p:cNvPr id="11" name="Check card"/>
          <p:cNvSpPr/>
          <p:nvPr/>
        </p:nvSpPr>
        <p:spPr>
          <a:xfrm>
            <a:off x="7315200" y="1600200"/>
            <a:ext cx="4327855" cy="3749040"/>
          </a:xfrm>
          <a:prstGeom prst="roundRect">
            <a:avLst>
              <a:gd name="adj" fmla="val 2439"/>
            </a:avLst>
          </a:prstGeom>
          <a:solidFill>
            <a:schemeClr val="bg2"/>
          </a:solidFill>
          <a:ln/>
        </p:spPr>
      </p:sp>
      <p:pic>
        <p:nvPicPr>
          <p:cNvPr id="12" name="Check icon" descr="preencoded.png">    </p:cNvPr>
          <p:cNvPicPr>
            <a:picLocks noChangeAspect="1"/>
          </p:cNvPicPr>
          <p:nvPr/>
        </p:nvPicPr>
        <p:blipFill>
          <a:blip r:embed="rId1"/>
          <a:stretch>
            <a:fillRect/>
          </a:stretch>
        </p:blipFill>
        <p:spPr>
          <a:xfrm>
            <a:off x="7589520" y="1874520"/>
            <a:ext cx="329184" cy="329184"/>
          </a:xfrm>
          <a:prstGeom prst="rect">
            <a:avLst/>
          </a:prstGeom>
        </p:spPr>
      </p:pic>
      <p:sp>
        <p:nvSpPr>
          <p:cNvPr id="13" name="Check heading"/>
          <p:cNvSpPr txBox="1"/>
          <p:nvPr/>
        </p:nvSpPr>
        <p:spPr>
          <a:xfrm>
            <a:off x="8028432" y="1837944"/>
            <a:ext cx="3413455" cy="402336"/>
          </a:xfrm>
          <a:prstGeom prst="rect">
            <a:avLst/>
          </a:prstGeom>
          <a:noFill/>
          <a:ln/>
        </p:spPr>
        <p:txBody>
          <a:bodyPr wrap="square" lIns="0" tIns="0" rIns="0" bIns="0" rtlCol="0" anchor="ctr"/>
          <a:lstStyle/>
          <a:p>
            <a:pPr indent="0" marL="0">
              <a:buNone/>
            </a:pPr>
            <a:r>
              <a:rPr lang="en-US" sz="1800" b="1" dirty="0">
                <a:solidFill>
                  <a:schemeClr val="tx2"/>
                </a:solidFill>
              </a:rPr>
              <a:t>You should see</a:t>
            </a:r>
            <a:endParaRPr lang="en-US" sz="1800" dirty="0"/>
          </a:p>
        </p:txBody>
      </p:sp>
      <p:sp>
        <p:nvSpPr>
          <p:cNvPr id="14" name="Check items"/>
          <p:cNvSpPr txBox="1"/>
          <p:nvPr/>
        </p:nvSpPr>
        <p:spPr>
          <a:xfrm>
            <a:off x="7589520" y="2423160"/>
            <a:ext cx="3779215"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30 tables in SAP_CURATED.SD with real column types</a:t>
            </a:r>
            <a:endParaRPr lang="en-US" sz="1400" dirty="0"/>
          </a:p>
          <a:p>
            <a:pPr marL="342900" indent="-342900">
              <a:spcAft>
                <a:spcPts val="800"/>
              </a:spcAft>
              <a:buSzPct val="100000"/>
              <a:buChar char="•"/>
            </a:pPr>
            <a:r>
              <a:rPr lang="en-US" sz="1400" dirty="0">
                <a:solidFill>
                  <a:schemeClr val="tx1"/>
                </a:solidFill>
              </a:rPr>
              <a:t>Live row counts match Oracle</a:t>
            </a:r>
            <a:endParaRPr lang="en-US" sz="1400" dirty="0"/>
          </a:p>
          <a:p>
            <a:pPr marL="342900" indent="-342900">
              <a:spcAft>
                <a:spcPts val="800"/>
              </a:spcAft>
              <a:buSzPct val="100000"/>
              <a:buChar char="•"/>
            </a:pPr>
            <a:r>
              <a:rPr lang="en-US" sz="1400" dirty="0">
                <a:solidFill>
                  <a:schemeClr val="tx1"/>
                </a:solidFill>
              </a:rPr>
              <a:t>Section E: no FAILED task runs</a:t>
            </a:r>
            <a:endParaRPr lang="en-US" sz="1400" dirty="0"/>
          </a:p>
        </p:txBody>
      </p:sp>
      <p:sp>
        <p:nvSpPr>
          <p:cNvPr id="15" name="Check note"/>
          <p:cNvSpPr txBox="1"/>
          <p:nvPr/>
        </p:nvSpPr>
        <p:spPr>
          <a:xfrm>
            <a:off x="7589520" y="4480560"/>
            <a:ext cx="3779215" cy="685800"/>
          </a:xfrm>
          <a:prstGeom prst="rect">
            <a:avLst/>
          </a:prstGeom>
          <a:noFill/>
          <a:ln/>
        </p:spPr>
        <p:txBody>
          <a:bodyPr wrap="square" lIns="0" tIns="0" rIns="0" bIns="0" rtlCol="0" anchor="b"/>
          <a:lstStyle/>
          <a:p>
            <a:pPr indent="0" marL="0">
              <a:buNone/>
            </a:pPr>
            <a:r>
              <a:rPr lang="en-US" sz="1200" i="1" dirty="0">
                <a:solidFill>
                  <a:schemeClr val="accent6"/>
                </a:solidFill>
              </a:rPr>
              <a:t>Latest event per key wins (SCN, then offset). Deletes become CDC_IS_DELETED = TRUE.</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rPr>
              <a:t>Build Gold: business tables</a:t>
            </a:r>
            <a:endParaRPr lang="en-US" sz="3200" dirty="0"/>
          </a:p>
        </p:txBody>
      </p:sp>
      <p:sp>
        <p:nvSpPr>
          <p:cNvPr id="3" name="Kicker"/>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STEP 7 OF 10 · SNOWSIGHT</a:t>
            </a:r>
            <a:endParaRPr lang="en-US" sz="1200" dirty="0"/>
          </a:p>
        </p:txBody>
      </p:sp>
      <p:sp>
        <p:nvSpPr>
          <p:cNvPr id="4" name="Steps"/>
          <p:cNvSpPr txBox="1"/>
          <p:nvPr/>
        </p:nvSpPr>
        <p:spPr>
          <a:xfrm>
            <a:off x="548640" y="1600200"/>
            <a:ext cx="6400800" cy="1243584"/>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500" dirty="0">
                <a:solidFill>
                  <a:schemeClr val="tx1"/>
                </a:solidFill>
              </a:rPr>
              <a:t>Run the Gold script once</a:t>
            </a:r>
            <a:endParaRPr lang="en-US" sz="1500" dirty="0"/>
          </a:p>
          <a:p>
            <a:pPr marL="342900" indent="-342900">
              <a:spcAft>
                <a:spcPts val="600"/>
              </a:spcAft>
              <a:buSzPct val="100000"/>
              <a:buFont typeface="+mj-lt"/>
              <a:buAutoNum type="arabicPeriod" startAt="1"/>
            </a:pPr>
            <a:r>
              <a:rPr lang="en-US" sz="1500" dirty="0">
                <a:solidFill>
                  <a:schemeClr val="tx1"/>
                </a:solidFill>
              </a:rPr>
              <a:t>Creates three dynamic tables with a 1-minute lag</a:t>
            </a:r>
            <a:endParaRPr lang="en-US" sz="1500" dirty="0"/>
          </a:p>
          <a:p>
            <a:pPr marL="342900" indent="-342900">
              <a:spcAft>
                <a:spcPts val="600"/>
              </a:spcAft>
              <a:buSzPct val="100000"/>
              <a:buFont typeface="+mj-lt"/>
              <a:buAutoNum type="arabicPeriod" startAt="1"/>
            </a:pPr>
            <a:r>
              <a:rPr lang="en-US" sz="1500" dirty="0">
                <a:solidFill>
                  <a:schemeClr val="tx1"/>
                </a:solidFill>
              </a:rPr>
              <a:t>Check a known figure from the sample data</a:t>
            </a:r>
            <a:endParaRPr lang="en-US" sz="1500" dirty="0"/>
          </a:p>
        </p:txBody>
      </p:sp>
      <p:sp>
        <p:nvSpPr>
          <p:cNvPr id="5" name="Code 1 label"/>
          <p:cNvSpPr txBox="1"/>
          <p:nvPr/>
        </p:nvSpPr>
        <p:spPr>
          <a:xfrm>
            <a:off x="548640" y="2980944"/>
            <a:ext cx="6400800" cy="237744"/>
          </a:xfrm>
          <a:prstGeom prst="rect">
            <a:avLst/>
          </a:prstGeom>
          <a:noFill/>
          <a:ln/>
        </p:spPr>
        <p:txBody>
          <a:bodyPr wrap="square" lIns="0" tIns="0" rIns="0" bIns="0" rtlCol="0" anchor="ctr"/>
          <a:lstStyle/>
          <a:p>
            <a:pPr indent="0" marL="0">
              <a:buNone/>
            </a:pPr>
            <a:r>
              <a:rPr lang="en-US" sz="1100" b="1" dirty="0">
                <a:solidFill>
                  <a:schemeClr val="accent5"/>
                </a:solidFill>
              </a:rPr>
              <a:t>Snowsight · run the whole file</a:t>
            </a:r>
            <a:endParaRPr lang="en-US" sz="1100" dirty="0"/>
          </a:p>
        </p:txBody>
      </p:sp>
      <p:sp>
        <p:nvSpPr>
          <p:cNvPr id="6" name="Code 1 box"/>
          <p:cNvSpPr/>
          <p:nvPr/>
        </p:nvSpPr>
        <p:spPr>
          <a:xfrm>
            <a:off x="548640" y="3255264"/>
            <a:ext cx="6400800" cy="475488"/>
          </a:xfrm>
          <a:prstGeom prst="roundRect">
            <a:avLst>
              <a:gd name="adj" fmla="val 15385"/>
            </a:avLst>
          </a:prstGeom>
          <a:solidFill>
            <a:schemeClr val="tx2"/>
          </a:solidFill>
          <a:ln/>
        </p:spPr>
      </p:sp>
      <p:sp>
        <p:nvSpPr>
          <p:cNvPr id="7" name="Code 1 code"/>
          <p:cNvSpPr txBox="1"/>
          <p:nvPr/>
        </p:nvSpPr>
        <p:spPr>
          <a:xfrm>
            <a:off x="685800" y="3255264"/>
            <a:ext cx="6126480" cy="475488"/>
          </a:xfrm>
          <a:prstGeom prst="rect">
            <a:avLst/>
          </a:prstGeom>
          <a:noFill/>
          <a:ln/>
        </p:spPr>
        <p:txBody>
          <a:bodyPr wrap="square" lIns="0" tIns="0" rIns="0" bIns="0" rtlCol="0" anchor="ctr"/>
          <a:lstStyle/>
          <a:p>
            <a:pPr indent="0" marL="0">
              <a:buNone/>
            </a:pPr>
            <a:r>
              <a:rPr lang="en-US" sz="1200" dirty="0">
                <a:solidFill>
                  <a:srgbClr val="E6EEF2"/>
                </a:solidFill>
                <a:latin typeface="Courier New" pitchFamily="34" charset="0"/>
                <a:ea typeface="Courier New" pitchFamily="34" charset="-122"/>
                <a:cs typeface="Courier New" pitchFamily="34" charset="-120"/>
              </a:rPr>
              <a:t>snowflake/07_gold_sales.sql</a:t>
            </a:r>
            <a:endParaRPr lang="en-US" sz="1200" dirty="0"/>
          </a:p>
        </p:txBody>
      </p:sp>
      <p:sp>
        <p:nvSpPr>
          <p:cNvPr id="8" name="Code 2 label"/>
          <p:cNvSpPr txBox="1"/>
          <p:nvPr/>
        </p:nvSpPr>
        <p:spPr>
          <a:xfrm>
            <a:off x="548640" y="3913632"/>
            <a:ext cx="6400800" cy="237744"/>
          </a:xfrm>
          <a:prstGeom prst="rect">
            <a:avLst/>
          </a:prstGeom>
          <a:noFill/>
          <a:ln/>
        </p:spPr>
        <p:txBody>
          <a:bodyPr wrap="square" lIns="0" tIns="0" rIns="0" bIns="0" rtlCol="0" anchor="ctr"/>
          <a:lstStyle/>
          <a:p>
            <a:pPr indent="0" marL="0">
              <a:buNone/>
            </a:pPr>
            <a:r>
              <a:rPr lang="en-US" sz="1100" b="1" dirty="0">
                <a:solidFill>
                  <a:schemeClr val="accent5"/>
                </a:solidFill>
              </a:rPr>
              <a:t>Check</a:t>
            </a:r>
            <a:endParaRPr lang="en-US" sz="1100" dirty="0"/>
          </a:p>
        </p:txBody>
      </p:sp>
      <p:sp>
        <p:nvSpPr>
          <p:cNvPr id="9" name="Code 2 box"/>
          <p:cNvSpPr/>
          <p:nvPr/>
        </p:nvSpPr>
        <p:spPr>
          <a:xfrm>
            <a:off x="548640" y="4187952"/>
            <a:ext cx="6400800" cy="676656"/>
          </a:xfrm>
          <a:prstGeom prst="roundRect">
            <a:avLst>
              <a:gd name="adj" fmla="val 10811"/>
            </a:avLst>
          </a:prstGeom>
          <a:solidFill>
            <a:schemeClr val="tx2"/>
          </a:solidFill>
          <a:ln/>
        </p:spPr>
      </p:sp>
      <p:sp>
        <p:nvSpPr>
          <p:cNvPr id="10" name="Code 2 code"/>
          <p:cNvSpPr txBox="1"/>
          <p:nvPr/>
        </p:nvSpPr>
        <p:spPr>
          <a:xfrm>
            <a:off x="685800" y="4187952"/>
            <a:ext cx="6126480" cy="676656"/>
          </a:xfrm>
          <a:prstGeom prst="rect">
            <a:avLst/>
          </a:prstGeom>
          <a:noFill/>
          <a:ln/>
        </p:spPr>
        <p:txBody>
          <a:bodyPr wrap="square" lIns="0" tIns="0" rIns="0" bIns="0" rtlCol="0" anchor="ctr"/>
          <a:lstStyle/>
          <a:p>
            <a:pPr indent="0" marL="0">
              <a:buNone/>
            </a:pPr>
            <a:r>
              <a:rPr lang="en-US" sz="1200" dirty="0">
                <a:solidFill>
                  <a:srgbClr val="E6EEF2"/>
                </a:solidFill>
                <a:latin typeface="Courier New" pitchFamily="34" charset="0"/>
                <a:ea typeface="Courier New" pitchFamily="34" charset="-122"/>
                <a:cs typeface="Courier New" pitchFamily="34" charset="-120"/>
              </a:rPr>
              <a:t>SELECT SUM(NET_BILLED_VALUE)</a:t>
            </a:r>
            <a:endParaRPr lang="en-US" sz="1200" dirty="0"/>
          </a:p>
          <a:p>
            <a:pPr indent="0" marL="0">
              <a:buNone/>
            </a:pPr>
            <a:r>
              <a:rPr lang="en-US" sz="1200" dirty="0">
                <a:solidFill>
                  <a:srgbClr val="E6EEF2"/>
                </a:solidFill>
                <a:latin typeface="Courier New" pitchFamily="34" charset="0"/>
                <a:ea typeface="Courier New" pitchFamily="34" charset="-122"/>
                <a:cs typeface="Courier New" pitchFamily="34" charset="-120"/>
              </a:rPr>
              <a:t>FROM SAP_GOLD.SALES.SALES_DOC_POS;</a:t>
            </a:r>
            <a:endParaRPr lang="en-US" sz="1200" dirty="0"/>
          </a:p>
        </p:txBody>
      </p:sp>
      <p:sp>
        <p:nvSpPr>
          <p:cNvPr id="11" name="Check card"/>
          <p:cNvSpPr/>
          <p:nvPr/>
        </p:nvSpPr>
        <p:spPr>
          <a:xfrm>
            <a:off x="7315200" y="1600200"/>
            <a:ext cx="4327855" cy="3749040"/>
          </a:xfrm>
          <a:prstGeom prst="roundRect">
            <a:avLst>
              <a:gd name="adj" fmla="val 2439"/>
            </a:avLst>
          </a:prstGeom>
          <a:solidFill>
            <a:schemeClr val="bg2"/>
          </a:solidFill>
          <a:ln/>
        </p:spPr>
      </p:sp>
      <p:pic>
        <p:nvPicPr>
          <p:cNvPr id="12" name="Check icon" descr="preencoded.png">    </p:cNvPr>
          <p:cNvPicPr>
            <a:picLocks noChangeAspect="1"/>
          </p:cNvPicPr>
          <p:nvPr/>
        </p:nvPicPr>
        <p:blipFill>
          <a:blip r:embed="rId1"/>
          <a:stretch>
            <a:fillRect/>
          </a:stretch>
        </p:blipFill>
        <p:spPr>
          <a:xfrm>
            <a:off x="7589520" y="1874520"/>
            <a:ext cx="329184" cy="329184"/>
          </a:xfrm>
          <a:prstGeom prst="rect">
            <a:avLst/>
          </a:prstGeom>
        </p:spPr>
      </p:pic>
      <p:sp>
        <p:nvSpPr>
          <p:cNvPr id="13" name="Check heading"/>
          <p:cNvSpPr txBox="1"/>
          <p:nvPr/>
        </p:nvSpPr>
        <p:spPr>
          <a:xfrm>
            <a:off x="8028432" y="1837944"/>
            <a:ext cx="3413455" cy="402336"/>
          </a:xfrm>
          <a:prstGeom prst="rect">
            <a:avLst/>
          </a:prstGeom>
          <a:noFill/>
          <a:ln/>
        </p:spPr>
        <p:txBody>
          <a:bodyPr wrap="square" lIns="0" tIns="0" rIns="0" bIns="0" rtlCol="0" anchor="ctr"/>
          <a:lstStyle/>
          <a:p>
            <a:pPr indent="0" marL="0">
              <a:buNone/>
            </a:pPr>
            <a:r>
              <a:rPr lang="en-US" sz="1800" b="1" dirty="0">
                <a:solidFill>
                  <a:schemeClr val="tx2"/>
                </a:solidFill>
              </a:rPr>
              <a:t>You should see</a:t>
            </a:r>
            <a:endParaRPr lang="en-US" sz="1800" dirty="0"/>
          </a:p>
        </p:txBody>
      </p:sp>
      <p:sp>
        <p:nvSpPr>
          <p:cNvPr id="14" name="Check items"/>
          <p:cNvSpPr txBox="1"/>
          <p:nvPr/>
        </p:nvSpPr>
        <p:spPr>
          <a:xfrm>
            <a:off x="7589520" y="2423160"/>
            <a:ext cx="3779215"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SALES_DOC_HDR: 27 documents</a:t>
            </a:r>
            <a:endParaRPr lang="en-US" sz="1400" dirty="0"/>
          </a:p>
          <a:p>
            <a:pPr marL="342900" indent="-342900">
              <a:spcAft>
                <a:spcPts val="800"/>
              </a:spcAft>
              <a:buSzPct val="100000"/>
              <a:buChar char="•"/>
            </a:pPr>
            <a:r>
              <a:rPr lang="en-US" sz="1400" dirty="0">
                <a:solidFill>
                  <a:schemeClr val="tx1"/>
                </a:solidFill>
              </a:rPr>
              <a:t>SALES_DOC_POS: 61 items, DEL_DOC_POS: 49 delivery items</a:t>
            </a:r>
            <a:endParaRPr lang="en-US" sz="1400" dirty="0"/>
          </a:p>
          <a:p>
            <a:pPr marL="342900" indent="-342900">
              <a:spcAft>
                <a:spcPts val="800"/>
              </a:spcAft>
              <a:buSzPct val="100000"/>
              <a:buChar char="•"/>
            </a:pPr>
            <a:r>
              <a:rPr lang="en-US" sz="1400" dirty="0">
                <a:solidFill>
                  <a:schemeClr val="tx1"/>
                </a:solidFill>
              </a:rPr>
              <a:t>Billed revenue INR 1,03,88,950 (cancellation netted out)</a:t>
            </a:r>
            <a:endParaRPr lang="en-US" sz="1400" dirty="0"/>
          </a:p>
        </p:txBody>
      </p:sp>
      <p:sp>
        <p:nvSpPr>
          <p:cNvPr id="15" name="Check note"/>
          <p:cNvSpPr txBox="1"/>
          <p:nvPr/>
        </p:nvSpPr>
        <p:spPr>
          <a:xfrm>
            <a:off x="7589520" y="4480560"/>
            <a:ext cx="3779215" cy="685800"/>
          </a:xfrm>
          <a:prstGeom prst="rect">
            <a:avLst/>
          </a:prstGeom>
          <a:noFill/>
          <a:ln/>
        </p:spPr>
        <p:txBody>
          <a:bodyPr wrap="square" lIns="0" tIns="0" rIns="0" bIns="0" rtlCol="0" anchor="b"/>
          <a:lstStyle/>
          <a:p>
            <a:pPr indent="0" marL="0">
              <a:buNone/>
            </a:pPr>
            <a:r>
              <a:rPr lang="en-US" sz="1200" i="1" dirty="0">
                <a:solidFill>
                  <a:schemeClr val="accent6"/>
                </a:solidFill>
              </a:rPr>
              <a:t>Figures are for the original sample data and grow as daily orders arrive.</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rPr>
              <a:t>Create the sales agent</a:t>
            </a:r>
            <a:endParaRPr lang="en-US" sz="3200" dirty="0"/>
          </a:p>
        </p:txBody>
      </p:sp>
      <p:sp>
        <p:nvSpPr>
          <p:cNvPr id="3" name="Kicker"/>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STEP 8 OF 10 · SNOWSIGHT</a:t>
            </a:r>
            <a:endParaRPr lang="en-US" sz="1200" dirty="0"/>
          </a:p>
        </p:txBody>
      </p:sp>
      <p:sp>
        <p:nvSpPr>
          <p:cNvPr id="4" name="Steps"/>
          <p:cNvSpPr txBox="1"/>
          <p:nvPr/>
        </p:nvSpPr>
        <p:spPr>
          <a:xfrm>
            <a:off x="548640" y="1600200"/>
            <a:ext cx="6400800" cy="1243584"/>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500" dirty="0">
                <a:solidFill>
                  <a:schemeClr val="tx1"/>
                </a:solidFill>
              </a:rPr>
              <a:t>Run the agent script as ACCOUNTADMIN + SAP_TRANSFORM_ROLE</a:t>
            </a:r>
            <a:endParaRPr lang="en-US" sz="1500" dirty="0"/>
          </a:p>
          <a:p>
            <a:pPr marL="342900" indent="-342900">
              <a:spcAft>
                <a:spcPts val="600"/>
              </a:spcAft>
              <a:buSzPct val="100000"/>
              <a:buFont typeface="+mj-lt"/>
              <a:buAutoNum type="arabicPeriod" startAt="1"/>
            </a:pPr>
            <a:r>
              <a:rPr lang="en-US" sz="1500" dirty="0">
                <a:solidFill>
                  <a:schemeClr val="tx1"/>
                </a:solidFill>
              </a:rPr>
              <a:t>Creates semantic view SV_SAP_SALES and agent SAP_SALES_AGENT</a:t>
            </a:r>
            <a:endParaRPr lang="en-US" sz="1500" dirty="0"/>
          </a:p>
          <a:p>
            <a:pPr marL="342900" indent="-342900">
              <a:spcAft>
                <a:spcPts val="600"/>
              </a:spcAft>
              <a:buSzPct val="100000"/>
              <a:buFont typeface="+mj-lt"/>
              <a:buAutoNum type="arabicPeriod" startAt="1"/>
            </a:pPr>
            <a:r>
              <a:rPr lang="en-US" sz="1500" dirty="0">
                <a:solidFill>
                  <a:schemeClr val="tx1"/>
                </a:solidFill>
              </a:rPr>
              <a:t>Ask it questions in AI &amp; ML » Agents</a:t>
            </a:r>
            <a:endParaRPr lang="en-US" sz="1500" dirty="0"/>
          </a:p>
        </p:txBody>
      </p:sp>
      <p:sp>
        <p:nvSpPr>
          <p:cNvPr id="5" name="Code 1 label"/>
          <p:cNvSpPr txBox="1"/>
          <p:nvPr/>
        </p:nvSpPr>
        <p:spPr>
          <a:xfrm>
            <a:off x="548640" y="2980944"/>
            <a:ext cx="6400800" cy="237744"/>
          </a:xfrm>
          <a:prstGeom prst="rect">
            <a:avLst/>
          </a:prstGeom>
          <a:noFill/>
          <a:ln/>
        </p:spPr>
        <p:txBody>
          <a:bodyPr wrap="square" lIns="0" tIns="0" rIns="0" bIns="0" rtlCol="0" anchor="ctr"/>
          <a:lstStyle/>
          <a:p>
            <a:pPr indent="0" marL="0">
              <a:buNone/>
            </a:pPr>
            <a:r>
              <a:rPr lang="en-US" sz="1100" b="1" dirty="0">
                <a:solidFill>
                  <a:schemeClr val="accent5"/>
                </a:solidFill>
              </a:rPr>
              <a:t>Snowsight · run the whole file</a:t>
            </a:r>
            <a:endParaRPr lang="en-US" sz="1100" dirty="0"/>
          </a:p>
        </p:txBody>
      </p:sp>
      <p:sp>
        <p:nvSpPr>
          <p:cNvPr id="6" name="Code 1 box"/>
          <p:cNvSpPr/>
          <p:nvPr/>
        </p:nvSpPr>
        <p:spPr>
          <a:xfrm>
            <a:off x="548640" y="3255264"/>
            <a:ext cx="6400800" cy="475488"/>
          </a:xfrm>
          <a:prstGeom prst="roundRect">
            <a:avLst>
              <a:gd name="adj" fmla="val 15385"/>
            </a:avLst>
          </a:prstGeom>
          <a:solidFill>
            <a:schemeClr val="tx2"/>
          </a:solidFill>
          <a:ln/>
        </p:spPr>
      </p:sp>
      <p:sp>
        <p:nvSpPr>
          <p:cNvPr id="7" name="Code 1 code"/>
          <p:cNvSpPr txBox="1"/>
          <p:nvPr/>
        </p:nvSpPr>
        <p:spPr>
          <a:xfrm>
            <a:off x="685800" y="3255264"/>
            <a:ext cx="6126480" cy="475488"/>
          </a:xfrm>
          <a:prstGeom prst="rect">
            <a:avLst/>
          </a:prstGeom>
          <a:noFill/>
          <a:ln/>
        </p:spPr>
        <p:txBody>
          <a:bodyPr wrap="square" lIns="0" tIns="0" rIns="0" bIns="0" rtlCol="0" anchor="ctr"/>
          <a:lstStyle/>
          <a:p>
            <a:pPr indent="0" marL="0">
              <a:buNone/>
            </a:pPr>
            <a:r>
              <a:rPr lang="en-US" sz="1200" dirty="0">
                <a:solidFill>
                  <a:srgbClr val="E6EEF2"/>
                </a:solidFill>
                <a:latin typeface="Courier New" pitchFamily="34" charset="0"/>
                <a:ea typeface="Courier New" pitchFamily="34" charset="-122"/>
                <a:cs typeface="Courier New" pitchFamily="34" charset="-120"/>
              </a:rPr>
              <a:t>snowflake/05_sales_agent.sql</a:t>
            </a:r>
            <a:endParaRPr lang="en-US" sz="1200" dirty="0"/>
          </a:p>
        </p:txBody>
      </p:sp>
      <p:sp>
        <p:nvSpPr>
          <p:cNvPr id="8" name="Code 2 label"/>
          <p:cNvSpPr txBox="1"/>
          <p:nvPr/>
        </p:nvSpPr>
        <p:spPr>
          <a:xfrm>
            <a:off x="548640" y="3913632"/>
            <a:ext cx="6400800" cy="237744"/>
          </a:xfrm>
          <a:prstGeom prst="rect">
            <a:avLst/>
          </a:prstGeom>
          <a:noFill/>
          <a:ln/>
        </p:spPr>
        <p:txBody>
          <a:bodyPr wrap="square" lIns="0" tIns="0" rIns="0" bIns="0" rtlCol="0" anchor="ctr"/>
          <a:lstStyle/>
          <a:p>
            <a:pPr indent="0" marL="0">
              <a:buNone/>
            </a:pPr>
            <a:r>
              <a:rPr lang="en-US" sz="1100" b="1" dirty="0">
                <a:solidFill>
                  <a:schemeClr val="accent5"/>
                </a:solidFill>
              </a:rPr>
              <a:t>If Cortex is not in your region</a:t>
            </a:r>
            <a:endParaRPr lang="en-US" sz="1100" dirty="0"/>
          </a:p>
        </p:txBody>
      </p:sp>
      <p:sp>
        <p:nvSpPr>
          <p:cNvPr id="9" name="Code 2 box"/>
          <p:cNvSpPr/>
          <p:nvPr/>
        </p:nvSpPr>
        <p:spPr>
          <a:xfrm>
            <a:off x="548640" y="4187952"/>
            <a:ext cx="6400800" cy="676656"/>
          </a:xfrm>
          <a:prstGeom prst="roundRect">
            <a:avLst>
              <a:gd name="adj" fmla="val 10811"/>
            </a:avLst>
          </a:prstGeom>
          <a:solidFill>
            <a:schemeClr val="tx2"/>
          </a:solidFill>
          <a:ln/>
        </p:spPr>
      </p:sp>
      <p:sp>
        <p:nvSpPr>
          <p:cNvPr id="10" name="Code 2 code"/>
          <p:cNvSpPr txBox="1"/>
          <p:nvPr/>
        </p:nvSpPr>
        <p:spPr>
          <a:xfrm>
            <a:off x="685800" y="4187952"/>
            <a:ext cx="6126480" cy="676656"/>
          </a:xfrm>
          <a:prstGeom prst="rect">
            <a:avLst/>
          </a:prstGeom>
          <a:noFill/>
          <a:ln/>
        </p:spPr>
        <p:txBody>
          <a:bodyPr wrap="square" lIns="0" tIns="0" rIns="0" bIns="0" rtlCol="0" anchor="ctr"/>
          <a:lstStyle/>
          <a:p>
            <a:pPr indent="0" marL="0">
              <a:buNone/>
            </a:pPr>
            <a:r>
              <a:rPr lang="en-US" sz="1200" dirty="0">
                <a:solidFill>
                  <a:srgbClr val="E6EEF2"/>
                </a:solidFill>
                <a:latin typeface="Courier New" pitchFamily="34" charset="0"/>
                <a:ea typeface="Courier New" pitchFamily="34" charset="-122"/>
                <a:cs typeface="Courier New" pitchFamily="34" charset="-120"/>
              </a:rPr>
              <a:t>ALTER ACCOUNT SET</a:t>
            </a:r>
            <a:endParaRPr lang="en-US" sz="1200" dirty="0"/>
          </a:p>
          <a:p>
            <a:pPr indent="0" marL="0">
              <a:buNone/>
            </a:pPr>
            <a:r>
              <a:rPr lang="en-US" sz="1200" dirty="0">
                <a:solidFill>
                  <a:srgbClr val="E6EEF2"/>
                </a:solidFill>
                <a:latin typeface="Courier New" pitchFamily="34" charset="0"/>
                <a:ea typeface="Courier New" pitchFamily="34" charset="-122"/>
                <a:cs typeface="Courier New" pitchFamily="34" charset="-120"/>
              </a:rPr>
              <a:t>  CORTEX_ENABLED_CROSS_REGION = 'ANY_REGION';</a:t>
            </a:r>
            <a:endParaRPr lang="en-US" sz="1200" dirty="0"/>
          </a:p>
        </p:txBody>
      </p:sp>
      <p:sp>
        <p:nvSpPr>
          <p:cNvPr id="11" name="Check card"/>
          <p:cNvSpPr/>
          <p:nvPr/>
        </p:nvSpPr>
        <p:spPr>
          <a:xfrm>
            <a:off x="7315200" y="1600200"/>
            <a:ext cx="4327855" cy="3749040"/>
          </a:xfrm>
          <a:prstGeom prst="roundRect">
            <a:avLst>
              <a:gd name="adj" fmla="val 2439"/>
            </a:avLst>
          </a:prstGeom>
          <a:solidFill>
            <a:schemeClr val="bg2"/>
          </a:solidFill>
          <a:ln/>
        </p:spPr>
      </p:sp>
      <p:pic>
        <p:nvPicPr>
          <p:cNvPr id="12" name="Check icon" descr="preencoded.png">    </p:cNvPr>
          <p:cNvPicPr>
            <a:picLocks noChangeAspect="1"/>
          </p:cNvPicPr>
          <p:nvPr/>
        </p:nvPicPr>
        <p:blipFill>
          <a:blip r:embed="rId1"/>
          <a:stretch>
            <a:fillRect/>
          </a:stretch>
        </p:blipFill>
        <p:spPr>
          <a:xfrm>
            <a:off x="7589520" y="1874520"/>
            <a:ext cx="329184" cy="329184"/>
          </a:xfrm>
          <a:prstGeom prst="rect">
            <a:avLst/>
          </a:prstGeom>
        </p:spPr>
      </p:pic>
      <p:sp>
        <p:nvSpPr>
          <p:cNvPr id="13" name="Check heading"/>
          <p:cNvSpPr txBox="1"/>
          <p:nvPr/>
        </p:nvSpPr>
        <p:spPr>
          <a:xfrm>
            <a:off x="8028432" y="1837944"/>
            <a:ext cx="3413455" cy="402336"/>
          </a:xfrm>
          <a:prstGeom prst="rect">
            <a:avLst/>
          </a:prstGeom>
          <a:noFill/>
          <a:ln/>
        </p:spPr>
        <p:txBody>
          <a:bodyPr wrap="square" lIns="0" tIns="0" rIns="0" bIns="0" rtlCol="0" anchor="ctr"/>
          <a:lstStyle/>
          <a:p>
            <a:pPr indent="0" marL="0">
              <a:buNone/>
            </a:pPr>
            <a:r>
              <a:rPr lang="en-US" sz="1800" b="1" dirty="0">
                <a:solidFill>
                  <a:schemeClr val="tx2"/>
                </a:solidFill>
              </a:rPr>
              <a:t>You should see</a:t>
            </a:r>
            <a:endParaRPr lang="en-US" sz="1800" dirty="0"/>
          </a:p>
        </p:txBody>
      </p:sp>
      <p:sp>
        <p:nvSpPr>
          <p:cNvPr id="14" name="Check items"/>
          <p:cNvSpPr txBox="1"/>
          <p:nvPr/>
        </p:nvSpPr>
        <p:spPr>
          <a:xfrm>
            <a:off x="7589520" y="2423160"/>
            <a:ext cx="3779215"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“What is our total billed revenue?” → INR 1,03,88,950</a:t>
            </a:r>
            <a:endParaRPr lang="en-US" sz="1400" dirty="0"/>
          </a:p>
          <a:p>
            <a:pPr marL="342900" indent="-342900">
              <a:spcAft>
                <a:spcPts val="800"/>
              </a:spcAft>
              <a:buSzPct val="100000"/>
              <a:buChar char="•"/>
            </a:pPr>
            <a:r>
              <a:rPr lang="en-US" sz="1400" dirty="0">
                <a:solidFill>
                  <a:schemeClr val="tx1"/>
                </a:solidFill>
              </a:rPr>
              <a:t>“Which orders are blocked for credit?” → 10022</a:t>
            </a:r>
            <a:endParaRPr lang="en-US" sz="1400" dirty="0"/>
          </a:p>
          <a:p>
            <a:pPr marL="342900" indent="-342900">
              <a:spcAft>
                <a:spcPts val="800"/>
              </a:spcAft>
              <a:buSzPct val="100000"/>
              <a:buChar char="•"/>
            </a:pPr>
            <a:r>
              <a:rPr lang="en-US" sz="1400" dirty="0">
                <a:solidFill>
                  <a:schemeClr val="tx1"/>
                </a:solidFill>
              </a:rPr>
              <a:t>Each answer shows the SQL it ran</a:t>
            </a:r>
            <a:endParaRPr lang="en-US" sz="1400" dirty="0"/>
          </a:p>
        </p:txBody>
      </p:sp>
      <p:sp>
        <p:nvSpPr>
          <p:cNvPr id="15" name="Check note"/>
          <p:cNvSpPr txBox="1"/>
          <p:nvPr/>
        </p:nvSpPr>
        <p:spPr>
          <a:xfrm>
            <a:off x="7589520" y="4480560"/>
            <a:ext cx="3779215" cy="685800"/>
          </a:xfrm>
          <a:prstGeom prst="rect">
            <a:avLst/>
          </a:prstGeom>
          <a:noFill/>
          <a:ln/>
        </p:spPr>
        <p:txBody>
          <a:bodyPr wrap="square" lIns="0" tIns="0" rIns="0" bIns="0" rtlCol="0" anchor="b"/>
          <a:lstStyle/>
          <a:p>
            <a:pPr indent="0" marL="0">
              <a:buNone/>
            </a:pPr>
            <a:r>
              <a:rPr lang="en-US" sz="1200" i="1" dirty="0">
                <a:solidFill>
                  <a:schemeClr val="accent6"/>
                </a:solidFill>
              </a:rPr>
              <a:t>The semantic view holds synonyms, 20 metrics and the SAP revenue rules.</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rPr>
              <a:t>Run the customer portal</a:t>
            </a:r>
            <a:endParaRPr lang="en-US" sz="3200" dirty="0"/>
          </a:p>
        </p:txBody>
      </p:sp>
      <p:sp>
        <p:nvSpPr>
          <p:cNvPr id="3" name="Kicker"/>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STEP 9 OF 10 · POWERSHELL · PROJECT FOLDER</a:t>
            </a:r>
            <a:endParaRPr lang="en-US" sz="1200" dirty="0"/>
          </a:p>
        </p:txBody>
      </p:sp>
      <p:sp>
        <p:nvSpPr>
          <p:cNvPr id="4" name="Steps"/>
          <p:cNvSpPr txBox="1"/>
          <p:nvPr/>
        </p:nvSpPr>
        <p:spPr>
          <a:xfrm>
            <a:off x="548640" y="1600200"/>
            <a:ext cx="6400800" cy="1243584"/>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500" dirty="0">
                <a:solidFill>
                  <a:schemeClr val="tx1"/>
                </a:solidFill>
              </a:rPr>
              <a:t>Create the portal key and run 06_portal_access.sql</a:t>
            </a:r>
            <a:endParaRPr lang="en-US" sz="1500" dirty="0"/>
          </a:p>
          <a:p>
            <a:pPr marL="342900" indent="-342900">
              <a:spcAft>
                <a:spcPts val="600"/>
              </a:spcAft>
              <a:buSzPct val="100000"/>
              <a:buFont typeface="+mj-lt"/>
              <a:buAutoNum type="arabicPeriod" startAt="1"/>
            </a:pPr>
            <a:r>
              <a:rPr lang="en-US" sz="1500" dirty="0">
                <a:solidFill>
                  <a:schemeClr val="tx1"/>
                </a:solidFill>
              </a:rPr>
              <a:t>Fill in portal\.env: account, user, key, SAPSD_PASSWORD</a:t>
            </a:r>
            <a:endParaRPr lang="en-US" sz="1500" dirty="0"/>
          </a:p>
          <a:p>
            <a:pPr marL="342900" indent="-342900">
              <a:spcAft>
                <a:spcPts val="600"/>
              </a:spcAft>
              <a:buSzPct val="100000"/>
              <a:buFont typeface="+mj-lt"/>
              <a:buAutoNum type="arabicPeriod" startAt="1"/>
            </a:pPr>
            <a:r>
              <a:rPr lang="en-US" sz="1500" dirty="0">
                <a:solidFill>
                  <a:schemeClr val="tx1"/>
                </a:solidFill>
              </a:rPr>
              <a:t>Install packages and start the web server</a:t>
            </a:r>
            <a:endParaRPr lang="en-US" sz="1500" dirty="0"/>
          </a:p>
        </p:txBody>
      </p:sp>
      <p:sp>
        <p:nvSpPr>
          <p:cNvPr id="5" name="Code 1 label"/>
          <p:cNvSpPr txBox="1"/>
          <p:nvPr/>
        </p:nvSpPr>
        <p:spPr>
          <a:xfrm>
            <a:off x="548640" y="2980944"/>
            <a:ext cx="6400800" cy="237744"/>
          </a:xfrm>
          <a:prstGeom prst="rect">
            <a:avLst/>
          </a:prstGeom>
          <a:noFill/>
          <a:ln/>
        </p:spPr>
        <p:txBody>
          <a:bodyPr wrap="square" lIns="0" tIns="0" rIns="0" bIns="0" rtlCol="0" anchor="ctr"/>
          <a:lstStyle/>
          <a:p>
            <a:pPr indent="0" marL="0">
              <a:buNone/>
            </a:pPr>
            <a:r>
              <a:rPr lang="en-US" sz="1100" b="1" dirty="0">
                <a:solidFill>
                  <a:schemeClr val="accent5"/>
                </a:solidFill>
              </a:rPr>
              <a:t>PowerShell</a:t>
            </a:r>
            <a:endParaRPr lang="en-US" sz="1100" dirty="0"/>
          </a:p>
        </p:txBody>
      </p:sp>
      <p:sp>
        <p:nvSpPr>
          <p:cNvPr id="6" name="Code 1 box"/>
          <p:cNvSpPr/>
          <p:nvPr/>
        </p:nvSpPr>
        <p:spPr>
          <a:xfrm>
            <a:off x="548640" y="3255264"/>
            <a:ext cx="6400800" cy="1280160"/>
          </a:xfrm>
          <a:prstGeom prst="roundRect">
            <a:avLst>
              <a:gd name="adj" fmla="val 5714"/>
            </a:avLst>
          </a:prstGeom>
          <a:solidFill>
            <a:schemeClr val="tx2"/>
          </a:solidFill>
          <a:ln/>
        </p:spPr>
      </p:sp>
      <p:sp>
        <p:nvSpPr>
          <p:cNvPr id="7" name="Code 1 code"/>
          <p:cNvSpPr txBox="1"/>
          <p:nvPr/>
        </p:nvSpPr>
        <p:spPr>
          <a:xfrm>
            <a:off x="685800" y="3255264"/>
            <a:ext cx="6126480" cy="1280160"/>
          </a:xfrm>
          <a:prstGeom prst="rect">
            <a:avLst/>
          </a:prstGeom>
          <a:noFill/>
          <a:ln/>
        </p:spPr>
        <p:txBody>
          <a:bodyPr wrap="square" lIns="0" tIns="0" rIns="0" bIns="0" rtlCol="0" anchor="ctr"/>
          <a:lstStyle/>
          <a:p>
            <a:pPr indent="0" marL="0">
              <a:buNone/>
            </a:pPr>
            <a:r>
              <a:rPr lang="en-US" sz="1200" dirty="0">
                <a:solidFill>
                  <a:srgbClr val="E6EEF2"/>
                </a:solidFill>
                <a:latin typeface="Courier New" pitchFamily="34" charset="0"/>
                <a:ea typeface="Courier New" pitchFamily="34" charset="-122"/>
                <a:cs typeface="Courier New" pitchFamily="34" charset="-120"/>
              </a:rPr>
              <a:t>python -m venv .venv</a:t>
            </a:r>
            <a:endParaRPr lang="en-US" sz="1200" dirty="0"/>
          </a:p>
          <a:p>
            <a:pPr indent="0" marL="0">
              <a:buNone/>
            </a:pPr>
            <a:r>
              <a:rPr lang="en-US" sz="1200" dirty="0">
                <a:solidFill>
                  <a:srgbClr val="E6EEF2"/>
                </a:solidFill>
                <a:latin typeface="Courier New" pitchFamily="34" charset="0"/>
                <a:ea typeface="Courier New" pitchFamily="34" charset="-122"/>
                <a:cs typeface="Courier New" pitchFamily="34" charset="-120"/>
              </a:rPr>
              <a:t>.\.venv\Scripts\Activate.ps1</a:t>
            </a:r>
            <a:endParaRPr lang="en-US" sz="1200" dirty="0"/>
          </a:p>
          <a:p>
            <a:pPr indent="0" marL="0">
              <a:buNone/>
            </a:pPr>
            <a:r>
              <a:rPr lang="en-US" sz="1200" dirty="0">
                <a:solidFill>
                  <a:srgbClr val="E6EEF2"/>
                </a:solidFill>
                <a:latin typeface="Courier New" pitchFamily="34" charset="0"/>
                <a:ea typeface="Courier New" pitchFamily="34" charset="-122"/>
                <a:cs typeface="Courier New" pitchFamily="34" charset="-120"/>
              </a:rPr>
              <a:t>python -m pip install -r portal\requirements.txt</a:t>
            </a:r>
            <a:endParaRPr lang="en-US" sz="1200" dirty="0"/>
          </a:p>
          <a:p>
            <a:pPr indent="0" marL="0">
              <a:buNone/>
            </a:pPr>
            <a:r>
              <a:rPr lang="en-US" sz="1200" dirty="0">
                <a:solidFill>
                  <a:srgbClr val="E6EEF2"/>
                </a:solidFill>
                <a:latin typeface="Courier New" pitchFamily="34" charset="0"/>
                <a:ea typeface="Courier New" pitchFamily="34" charset="-122"/>
                <a:cs typeface="Courier New" pitchFamily="34" charset="-120"/>
              </a:rPr>
              <a:t>python scripts\make_key.py portal_key</a:t>
            </a:r>
            <a:endParaRPr lang="en-US" sz="1200" dirty="0"/>
          </a:p>
          <a:p>
            <a:pPr indent="0" marL="0">
              <a:buNone/>
            </a:pPr>
            <a:r>
              <a:rPr lang="en-US" sz="1200" dirty="0">
                <a:solidFill>
                  <a:srgbClr val="E6EEF2"/>
                </a:solidFill>
                <a:latin typeface="Courier New" pitchFamily="34" charset="0"/>
                <a:ea typeface="Courier New" pitchFamily="34" charset="-122"/>
                <a:cs typeface="Courier New" pitchFamily="34" charset="-120"/>
              </a:rPr>
              <a:t>python -m uvicorn portal.app:app --reload --port 8010</a:t>
            </a:r>
            <a:endParaRPr lang="en-US" sz="1200" dirty="0"/>
          </a:p>
        </p:txBody>
      </p:sp>
      <p:sp>
        <p:nvSpPr>
          <p:cNvPr id="8" name="Check card"/>
          <p:cNvSpPr/>
          <p:nvPr/>
        </p:nvSpPr>
        <p:spPr>
          <a:xfrm>
            <a:off x="7315200" y="1600200"/>
            <a:ext cx="4327855" cy="3749040"/>
          </a:xfrm>
          <a:prstGeom prst="roundRect">
            <a:avLst>
              <a:gd name="adj" fmla="val 2439"/>
            </a:avLst>
          </a:prstGeom>
          <a:solidFill>
            <a:schemeClr val="bg2"/>
          </a:solidFill>
          <a:ln/>
        </p:spPr>
      </p:sp>
      <p:pic>
        <p:nvPicPr>
          <p:cNvPr id="9" name="Check icon" descr="preencoded.png">    </p:cNvPr>
          <p:cNvPicPr>
            <a:picLocks noChangeAspect="1"/>
          </p:cNvPicPr>
          <p:nvPr/>
        </p:nvPicPr>
        <p:blipFill>
          <a:blip r:embed="rId1"/>
          <a:stretch>
            <a:fillRect/>
          </a:stretch>
        </p:blipFill>
        <p:spPr>
          <a:xfrm>
            <a:off x="7589520" y="1874520"/>
            <a:ext cx="329184" cy="329184"/>
          </a:xfrm>
          <a:prstGeom prst="rect">
            <a:avLst/>
          </a:prstGeom>
        </p:spPr>
      </p:pic>
      <p:sp>
        <p:nvSpPr>
          <p:cNvPr id="10" name="Check heading"/>
          <p:cNvSpPr txBox="1"/>
          <p:nvPr/>
        </p:nvSpPr>
        <p:spPr>
          <a:xfrm>
            <a:off x="8028432" y="1837944"/>
            <a:ext cx="3413455" cy="402336"/>
          </a:xfrm>
          <a:prstGeom prst="rect">
            <a:avLst/>
          </a:prstGeom>
          <a:noFill/>
          <a:ln/>
        </p:spPr>
        <p:txBody>
          <a:bodyPr wrap="square" lIns="0" tIns="0" rIns="0" bIns="0" rtlCol="0" anchor="ctr"/>
          <a:lstStyle/>
          <a:p>
            <a:pPr indent="0" marL="0">
              <a:buNone/>
            </a:pPr>
            <a:r>
              <a:rPr lang="en-US" sz="1800" b="1" dirty="0">
                <a:solidFill>
                  <a:schemeClr val="tx2"/>
                </a:solidFill>
              </a:rPr>
              <a:t>You should see</a:t>
            </a:r>
            <a:endParaRPr lang="en-US" sz="1800" dirty="0"/>
          </a:p>
        </p:txBody>
      </p:sp>
      <p:sp>
        <p:nvSpPr>
          <p:cNvPr id="11" name="Check items"/>
          <p:cNvSpPr txBox="1"/>
          <p:nvPr/>
        </p:nvSpPr>
        <p:spPr>
          <a:xfrm>
            <a:off x="7589520" y="2423160"/>
            <a:ext cx="3779215"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http://127.0.0.1:8010 opens the portal</a:t>
            </a:r>
            <a:endParaRPr lang="en-US" sz="1400" dirty="0"/>
          </a:p>
          <a:p>
            <a:pPr marL="342900" indent="-342900">
              <a:spcAft>
                <a:spcPts val="800"/>
              </a:spcAft>
              <a:buSzPct val="100000"/>
              <a:buChar char="•"/>
            </a:pPr>
            <a:r>
              <a:rPr lang="en-US" sz="1400" dirty="0">
                <a:solidFill>
                  <a:schemeClr val="tx1"/>
                </a:solidFill>
              </a:rPr>
              <a:t>Footer: “Data as of … · role SAP_PORTAL_ROLE”</a:t>
            </a:r>
            <a:endParaRPr lang="en-US" sz="1400" dirty="0"/>
          </a:p>
          <a:p>
            <a:pPr marL="342900" indent="-342900">
              <a:spcAft>
                <a:spcPts val="800"/>
              </a:spcAft>
              <a:buSzPct val="100000"/>
              <a:buChar char="•"/>
            </a:pPr>
            <a:r>
              <a:rPr lang="en-US" sz="1400" dirty="0">
                <a:solidFill>
                  <a:schemeClr val="tx1"/>
                </a:solidFill>
              </a:rPr>
              <a:t>/api/health shows oracle_orders_enabled: true</a:t>
            </a:r>
            <a:endParaRPr lang="en-US" sz="1400" dirty="0"/>
          </a:p>
        </p:txBody>
      </p:sp>
      <p:sp>
        <p:nvSpPr>
          <p:cNvPr id="12" name="Check note"/>
          <p:cNvSpPr txBox="1"/>
          <p:nvPr/>
        </p:nvSpPr>
        <p:spPr>
          <a:xfrm>
            <a:off x="7589520" y="4480560"/>
            <a:ext cx="3779215" cy="685800"/>
          </a:xfrm>
          <a:prstGeom prst="rect">
            <a:avLst/>
          </a:prstGeom>
          <a:noFill/>
          <a:ln/>
        </p:spPr>
        <p:txBody>
          <a:bodyPr wrap="square" lIns="0" tIns="0" rIns="0" bIns="0" rtlCol="0" anchor="b"/>
          <a:lstStyle/>
          <a:p>
            <a:pPr indent="0" marL="0">
              <a:buNone/>
            </a:pPr>
            <a:r>
              <a:rPr lang="en-US" sz="1200" i="1" dirty="0">
                <a:solidFill>
                  <a:schemeClr val="accent6"/>
                </a:solidFill>
              </a:rPr>
              <a:t>SNOWFLAKE_ACCOUNT format: your org-account identifier, with no &lt; &gt; or quotes.</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rPr>
              <a:t>The customer portal</a:t>
            </a:r>
            <a:endParaRPr lang="en-US" sz="3200" dirty="0"/>
          </a:p>
        </p:txBody>
      </p:sp>
      <p:sp>
        <p:nvSpPr>
          <p:cNvPr id="3" name="Kicker"/>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STEP 9 · WHAT YOU GET</a:t>
            </a:r>
            <a:endParaRPr lang="en-US" sz="1200" dirty="0"/>
          </a:p>
        </p:txBody>
      </p:sp>
      <p:pic>
        <p:nvPicPr>
          <p:cNvPr id="4" name="Portal home screenshot" descr="Portal home page with account selector, KPI tiles, Order Dashboard and Quick Cart">    </p:cNvPr>
          <p:cNvPicPr>
            <a:picLocks noChangeAspect="1"/>
          </p:cNvPicPr>
          <p:nvPr/>
        </p:nvPicPr>
        <p:blipFill>
          <a:blip r:embed="rId1"/>
          <a:stretch>
            <a:fillRect/>
          </a:stretch>
        </p:blipFill>
        <p:spPr>
          <a:xfrm>
            <a:off x="548640" y="1600200"/>
            <a:ext cx="7223760" cy="3119351"/>
          </a:xfrm>
          <a:prstGeom prst="rect">
            <a:avLst/>
          </a:prstGeom>
        </p:spPr>
      </p:pic>
      <p:sp>
        <p:nvSpPr>
          <p:cNvPr id="5" name="Screenshot caption"/>
          <p:cNvSpPr txBox="1"/>
          <p:nvPr/>
        </p:nvSpPr>
        <p:spPr>
          <a:xfrm>
            <a:off x="548640" y="4856711"/>
            <a:ext cx="7223760" cy="365760"/>
          </a:xfrm>
          <a:prstGeom prst="rect">
            <a:avLst/>
          </a:prstGeom>
          <a:noFill/>
          <a:ln/>
        </p:spPr>
        <p:txBody>
          <a:bodyPr wrap="square" lIns="0" tIns="0" rIns="0" bIns="0" rtlCol="0" anchor="ctr"/>
          <a:lstStyle/>
          <a:p>
            <a:pPr indent="0" marL="0">
              <a:buNone/>
            </a:pPr>
            <a:r>
              <a:rPr lang="en-US" sz="1200" i="1" dirty="0">
                <a:solidFill>
                  <a:schemeClr val="accent5"/>
                </a:solidFill>
              </a:rPr>
              <a:t>Home page: account selector, live KPI tiles from Gold, Order Dashboard search and Quick Cart.</a:t>
            </a:r>
            <a:endParaRPr lang="en-US" sz="1200" dirty="0"/>
          </a:p>
        </p:txBody>
      </p:sp>
      <p:sp>
        <p:nvSpPr>
          <p:cNvPr id="6" name="Portal features"/>
          <p:cNvSpPr txBox="1"/>
          <p:nvPr/>
        </p:nvSpPr>
        <p:spPr>
          <a:xfrm>
            <a:off x="8092440" y="1600200"/>
            <a:ext cx="3550615" cy="4526280"/>
          </a:xfrm>
          <a:prstGeom prst="rect">
            <a:avLst/>
          </a:prstGeom>
          <a:noFill/>
          <a:ln/>
        </p:spPr>
        <p:txBody>
          <a:bodyPr wrap="square" lIns="0" tIns="0" rIns="0" bIns="0" rtlCol="0" anchor="t"/>
          <a:lstStyle/>
          <a:p>
            <a:pPr indent="0" marL="0">
              <a:buNone/>
            </a:pPr>
            <a:r>
              <a:rPr lang="en-US" sz="1400" b="1" dirty="0">
                <a:solidFill>
                  <a:srgbClr val="0F2A3D"/>
                </a:solidFill>
              </a:rPr>
              <a:t>Shopping for</a:t>
            </a:r>
            <a:endParaRPr lang="en-US" sz="1400" dirty="0"/>
          </a:p>
          <a:p>
            <a:pPr indent="0" marL="0">
              <a:spcAft>
                <a:spcPts val="1000"/>
              </a:spcAft>
              <a:buNone/>
            </a:pPr>
            <a:r>
              <a:rPr lang="en-US" sz="1400" dirty="0">
                <a:solidFill>
                  <a:srgbClr val="1B2631"/>
                </a:solidFill>
              </a:rPr>
              <a:t>pick a customer; every screen filters to it</a:t>
            </a:r>
            <a:endParaRPr lang="en-US" sz="1400" dirty="0"/>
          </a:p>
          <a:p>
            <a:pPr indent="0" marL="0">
              <a:buNone/>
            </a:pPr>
            <a:r>
              <a:rPr lang="en-US" sz="1400" b="1" dirty="0">
                <a:solidFill>
                  <a:srgbClr val="0F2A3D"/>
                </a:solidFill>
              </a:rPr>
              <a:t>Order Dashboard</a:t>
            </a:r>
            <a:endParaRPr lang="en-US" sz="1400" dirty="0"/>
          </a:p>
          <a:p>
            <a:pPr indent="0" marL="0">
              <a:spcAft>
                <a:spcPts val="1000"/>
              </a:spcAft>
              <a:buNone/>
            </a:pPr>
            <a:r>
              <a:rPr lang="en-US" sz="1400" dirty="0">
                <a:solidFill>
                  <a:srgbClr val="1B2631"/>
                </a:solidFill>
              </a:rPr>
              <a:t>search by order, PO, delivery or invoice number</a:t>
            </a:r>
            <a:endParaRPr lang="en-US" sz="1400" dirty="0"/>
          </a:p>
          <a:p>
            <a:pPr indent="0" marL="0">
              <a:buNone/>
            </a:pPr>
            <a:r>
              <a:rPr lang="en-US" sz="1400" b="1" dirty="0">
                <a:solidFill>
                  <a:srgbClr val="0F2A3D"/>
                </a:solidFill>
              </a:rPr>
              <a:t>Order and delivery views</a:t>
            </a:r>
            <a:endParaRPr lang="en-US" sz="1400" dirty="0"/>
          </a:p>
          <a:p>
            <a:pPr indent="0" marL="0">
              <a:spcAft>
                <a:spcPts val="1000"/>
              </a:spcAft>
              <a:buNone/>
            </a:pPr>
            <a:r>
              <a:rPr lang="en-US" sz="1400" dirty="0">
                <a:solidFill>
                  <a:srgbClr val="1B2631"/>
                </a:solidFill>
              </a:rPr>
              <a:t>quick, recent, open and closed orders; deliveries; documents; returns</a:t>
            </a:r>
            <a:endParaRPr lang="en-US" sz="1400" dirty="0"/>
          </a:p>
          <a:p>
            <a:pPr indent="0" marL="0">
              <a:buNone/>
            </a:pPr>
            <a:r>
              <a:rPr lang="en-US" sz="1400" b="1" dirty="0">
                <a:solidFill>
                  <a:srgbClr val="0F2A3D"/>
                </a:solidFill>
              </a:rPr>
              <a:t>Quick Cart</a:t>
            </a:r>
            <a:endParaRPr lang="en-US" sz="1400" dirty="0"/>
          </a:p>
          <a:p>
            <a:pPr indent="0" marL="0">
              <a:spcAft>
                <a:spcPts val="1000"/>
              </a:spcAft>
              <a:buNone/>
            </a:pPr>
            <a:r>
              <a:rPr lang="en-US" sz="1400" dirty="0">
                <a:solidFill>
                  <a:srgbClr val="1B2631"/>
                </a:solidFill>
              </a:rPr>
              <a:t>type, upload CSV or paste lines, then Check Availability</a:t>
            </a:r>
            <a:endParaRPr lang="en-US" sz="1400" dirty="0"/>
          </a:p>
          <a:p>
            <a:pPr indent="0" marL="0">
              <a:buNone/>
            </a:pPr>
            <a:r>
              <a:rPr lang="en-US" sz="1400" b="1" dirty="0">
                <a:solidFill>
                  <a:srgbClr val="0F2A3D"/>
                </a:solidFill>
              </a:rPr>
              <a:t>Place Order</a:t>
            </a:r>
            <a:endParaRPr lang="en-US" sz="1400" dirty="0"/>
          </a:p>
          <a:p>
            <a:pPr indent="0" marL="0">
              <a:spcAft>
                <a:spcPts val="1000"/>
              </a:spcAft>
              <a:buNone/>
            </a:pPr>
            <a:r>
              <a:rPr lang="en-US" sz="1400" dirty="0">
                <a:solidFill>
                  <a:srgbClr val="1B2631"/>
                </a:solidFill>
              </a:rPr>
              <a:t>writes to Oracle and returns through CDC in ~2–3 min</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rPr>
              <a:t>Turn on the AI assistant</a:t>
            </a:r>
            <a:endParaRPr lang="en-US" sz="3200" dirty="0"/>
          </a:p>
        </p:txBody>
      </p:sp>
      <p:sp>
        <p:nvSpPr>
          <p:cNvPr id="3" name="Kicker"/>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STEP 10 OF 10 · SNOWSIGHT + BROWSER</a:t>
            </a:r>
            <a:endParaRPr lang="en-US" sz="1200" dirty="0"/>
          </a:p>
        </p:txBody>
      </p:sp>
      <p:sp>
        <p:nvSpPr>
          <p:cNvPr id="4" name="Steps"/>
          <p:cNvSpPr txBox="1"/>
          <p:nvPr/>
        </p:nvSpPr>
        <p:spPr>
          <a:xfrm>
            <a:off x="548640" y="1600200"/>
            <a:ext cx="6035040" cy="1243584"/>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500" dirty="0">
                <a:solidFill>
                  <a:schemeClr val="tx1"/>
                </a:solidFill>
              </a:rPr>
              <a:t>Run the “AI assistant” section of 06_portal_access.sql</a:t>
            </a:r>
            <a:endParaRPr lang="en-US" sz="1500" dirty="0"/>
          </a:p>
          <a:p>
            <a:pPr marL="342900" indent="-342900">
              <a:spcAft>
                <a:spcPts val="600"/>
              </a:spcAft>
              <a:buSzPct val="100000"/>
              <a:buFont typeface="+mj-lt"/>
              <a:buAutoNum type="arabicPeriod" startAt="1"/>
            </a:pPr>
            <a:r>
              <a:rPr lang="en-US" sz="1500" dirty="0">
                <a:solidFill>
                  <a:schemeClr val="tx1"/>
                </a:solidFill>
              </a:rPr>
              <a:t>Restart the portal and press Ctrl + Shift + R</a:t>
            </a:r>
            <a:endParaRPr lang="en-US" sz="1500" dirty="0"/>
          </a:p>
          <a:p>
            <a:pPr marL="342900" indent="-342900">
              <a:spcAft>
                <a:spcPts val="600"/>
              </a:spcAft>
              <a:buSzPct val="100000"/>
              <a:buFont typeface="+mj-lt"/>
              <a:buAutoNum type="arabicPeriod" startAt="1"/>
            </a:pPr>
            <a:r>
              <a:rPr lang="en-US" sz="1500" dirty="0">
                <a:solidFill>
                  <a:schemeClr val="tx1"/>
                </a:solidFill>
              </a:rPr>
              <a:t>Click ✨ Ask AI on any page, or a suggested question on Recent Orders</a:t>
            </a:r>
            <a:endParaRPr lang="en-US" sz="1500" dirty="0"/>
          </a:p>
        </p:txBody>
      </p:sp>
      <p:sp>
        <p:nvSpPr>
          <p:cNvPr id="5" name="Code 1 label"/>
          <p:cNvSpPr txBox="1"/>
          <p:nvPr/>
        </p:nvSpPr>
        <p:spPr>
          <a:xfrm>
            <a:off x="548640" y="2980944"/>
            <a:ext cx="6035040" cy="237744"/>
          </a:xfrm>
          <a:prstGeom prst="rect">
            <a:avLst/>
          </a:prstGeom>
          <a:noFill/>
          <a:ln/>
        </p:spPr>
        <p:txBody>
          <a:bodyPr wrap="square" lIns="0" tIns="0" rIns="0" bIns="0" rtlCol="0" anchor="ctr"/>
          <a:lstStyle/>
          <a:p>
            <a:pPr indent="0" marL="0">
              <a:buNone/>
            </a:pPr>
            <a:r>
              <a:rPr lang="en-US" sz="1100" b="1" dirty="0">
                <a:solidFill>
                  <a:schemeClr val="accent5"/>
                </a:solidFill>
              </a:rPr>
              <a:t>Snowsight · ACCOUNTADMIN</a:t>
            </a:r>
            <a:endParaRPr lang="en-US" sz="1100" dirty="0"/>
          </a:p>
        </p:txBody>
      </p:sp>
      <p:sp>
        <p:nvSpPr>
          <p:cNvPr id="6" name="Code 1 box"/>
          <p:cNvSpPr/>
          <p:nvPr/>
        </p:nvSpPr>
        <p:spPr>
          <a:xfrm>
            <a:off x="548640" y="3255264"/>
            <a:ext cx="6035040" cy="1078992"/>
          </a:xfrm>
          <a:prstGeom prst="roundRect">
            <a:avLst>
              <a:gd name="adj" fmla="val 6780"/>
            </a:avLst>
          </a:prstGeom>
          <a:solidFill>
            <a:schemeClr val="tx2"/>
          </a:solidFill>
          <a:ln/>
        </p:spPr>
      </p:sp>
      <p:sp>
        <p:nvSpPr>
          <p:cNvPr id="7" name="Code 1 code"/>
          <p:cNvSpPr txBox="1"/>
          <p:nvPr/>
        </p:nvSpPr>
        <p:spPr>
          <a:xfrm>
            <a:off x="685800" y="3255264"/>
            <a:ext cx="5760720" cy="1078992"/>
          </a:xfrm>
          <a:prstGeom prst="rect">
            <a:avLst/>
          </a:prstGeom>
          <a:noFill/>
          <a:ln/>
        </p:spPr>
        <p:txBody>
          <a:bodyPr wrap="square" lIns="0" tIns="0" rIns="0" bIns="0" rtlCol="0" anchor="ctr"/>
          <a:lstStyle/>
          <a:p>
            <a:pPr indent="0" marL="0">
              <a:buNone/>
            </a:pPr>
            <a:r>
              <a:rPr lang="en-US" sz="1200" dirty="0">
                <a:solidFill>
                  <a:srgbClr val="E6EEF2"/>
                </a:solidFill>
                <a:latin typeface="Courier New" pitchFamily="34" charset="0"/>
                <a:ea typeface="Courier New" pitchFamily="34" charset="-122"/>
                <a:cs typeface="Courier New" pitchFamily="34" charset="-120"/>
              </a:rPr>
              <a:t>GRANT DATABASE ROLE SNOWFLAKE.CORTEX_AGENT_USER</a:t>
            </a:r>
            <a:endParaRPr lang="en-US" sz="1200" dirty="0"/>
          </a:p>
          <a:p>
            <a:pPr indent="0" marL="0">
              <a:buNone/>
            </a:pPr>
            <a:r>
              <a:rPr lang="en-US" sz="1200" dirty="0">
                <a:solidFill>
                  <a:srgbClr val="E6EEF2"/>
                </a:solidFill>
                <a:latin typeface="Courier New" pitchFamily="34" charset="0"/>
                <a:ea typeface="Courier New" pitchFamily="34" charset="-122"/>
                <a:cs typeface="Courier New" pitchFamily="34" charset="-120"/>
              </a:rPr>
              <a:t>  TO ROLE SAP_PORTAL_ROLE;</a:t>
            </a:r>
            <a:endParaRPr lang="en-US" sz="1200" dirty="0"/>
          </a:p>
          <a:p>
            <a:pPr indent="0" marL="0">
              <a:buNone/>
            </a:pPr>
            <a:r>
              <a:rPr lang="en-US" sz="1200" dirty="0">
                <a:solidFill>
                  <a:srgbClr val="E6EEF2"/>
                </a:solidFill>
                <a:latin typeface="Courier New" pitchFamily="34" charset="0"/>
                <a:ea typeface="Courier New" pitchFamily="34" charset="-122"/>
                <a:cs typeface="Courier New" pitchFamily="34" charset="-120"/>
              </a:rPr>
              <a:t>GRANT USAGE ON AGENT</a:t>
            </a:r>
            <a:endParaRPr lang="en-US" sz="1200" dirty="0"/>
          </a:p>
          <a:p>
            <a:pPr indent="0" marL="0">
              <a:buNone/>
            </a:pPr>
            <a:r>
              <a:rPr lang="en-US" sz="1200" dirty="0">
                <a:solidFill>
                  <a:srgbClr val="E6EEF2"/>
                </a:solidFill>
                <a:latin typeface="Courier New" pitchFamily="34" charset="0"/>
                <a:ea typeface="Courier New" pitchFamily="34" charset="-122"/>
                <a:cs typeface="Courier New" pitchFamily="34" charset="-120"/>
              </a:rPr>
              <a:t>  SAP_GOLD.SALES.SAP_SALES_AGENT TO ROLE SAP_PORTAL_ROLE;</a:t>
            </a:r>
            <a:endParaRPr lang="en-US" sz="1200" dirty="0"/>
          </a:p>
        </p:txBody>
      </p:sp>
      <p:sp>
        <p:nvSpPr>
          <p:cNvPr id="8" name="Assistant summary"/>
          <p:cNvSpPr txBox="1"/>
          <p:nvPr/>
        </p:nvSpPr>
        <p:spPr>
          <a:xfrm>
            <a:off x="548640" y="4562856"/>
            <a:ext cx="6035040" cy="685800"/>
          </a:xfrm>
          <a:prstGeom prst="rect">
            <a:avLst/>
          </a:prstGeom>
          <a:noFill/>
          <a:ln/>
        </p:spPr>
        <p:txBody>
          <a:bodyPr wrap="square" lIns="0" tIns="0" rIns="0" bIns="0" rtlCol="0" anchor="t"/>
          <a:lstStyle/>
          <a:p>
            <a:pPr indent="0" marL="0">
              <a:buNone/>
            </a:pPr>
            <a:r>
              <a:rPr lang="en-US" sz="1400" i="1" dirty="0">
                <a:solidFill>
                  <a:schemeClr val="accent6"/>
                </a:solidFill>
              </a:rPr>
              <a:t>Follows the customer selector · keeps the conversation · shows the result table and the SQL it ran</a:t>
            </a:r>
            <a:endParaRPr lang="en-US" sz="1400" dirty="0"/>
          </a:p>
        </p:txBody>
      </p:sp>
      <p:pic>
        <p:nvPicPr>
          <p:cNvPr id="9" name="Assistant screenshot" descr="Sales Assistant panel answering which orders are open, with a table and the SQL used">    </p:cNvPr>
          <p:cNvPicPr>
            <a:picLocks noChangeAspect="1"/>
          </p:cNvPicPr>
          <p:nvPr/>
        </p:nvPicPr>
        <p:blipFill>
          <a:blip r:embed="rId1"/>
          <a:stretch>
            <a:fillRect/>
          </a:stretch>
        </p:blipFill>
        <p:spPr>
          <a:xfrm>
            <a:off x="7069130" y="1600200"/>
            <a:ext cx="4573925" cy="4526280"/>
          </a:xfrm>
          <a:prstGeom prst="rect">
            <a:avLst/>
          </a:prstGeom>
        </p:spPr>
      </p:pic>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rPr>
              <a:t>Run it every day</a:t>
            </a:r>
            <a:endParaRPr lang="en-US" sz="3200" dirty="0"/>
          </a:p>
        </p:txBody>
      </p:sp>
      <p:sp>
        <p:nvSpPr>
          <p:cNvPr id="3" name="Kicker"/>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OPERATIONS</a:t>
            </a:r>
            <a:endParaRPr lang="en-US" sz="1200" dirty="0"/>
          </a:p>
        </p:txBody>
      </p:sp>
      <p:sp>
        <p:nvSpPr>
          <p:cNvPr id="4" name="Ops 1 card"/>
          <p:cNvSpPr/>
          <p:nvPr/>
        </p:nvSpPr>
        <p:spPr>
          <a:xfrm>
            <a:off x="548640" y="1691640"/>
            <a:ext cx="2533574" cy="3931920"/>
          </a:xfrm>
          <a:prstGeom prst="roundRect">
            <a:avLst>
              <a:gd name="adj" fmla="val 3609"/>
            </a:avLst>
          </a:prstGeom>
          <a:solidFill>
            <a:schemeClr val="bg2"/>
          </a:solidFill>
          <a:ln/>
        </p:spPr>
      </p:sp>
      <p:sp>
        <p:nvSpPr>
          <p:cNvPr id="5" name="Ops 1 circle"/>
          <p:cNvSpPr/>
          <p:nvPr/>
        </p:nvSpPr>
        <p:spPr>
          <a:xfrm>
            <a:off x="868680" y="2011680"/>
            <a:ext cx="731520" cy="731520"/>
          </a:xfrm>
          <a:prstGeom prst="ellipse">
            <a:avLst/>
          </a:prstGeom>
          <a:solidFill>
            <a:schemeClr val="accent1"/>
          </a:solidFill>
          <a:ln/>
        </p:spPr>
      </p:sp>
      <p:pic>
        <p:nvPicPr>
          <p:cNvPr id="6" name="Ops 1 icon" descr="preencoded.png">    </p:cNvPr>
          <p:cNvPicPr>
            <a:picLocks noChangeAspect="1"/>
          </p:cNvPicPr>
          <p:nvPr/>
        </p:nvPicPr>
        <p:blipFill>
          <a:blip r:embed="rId1"/>
          <a:stretch>
            <a:fillRect/>
          </a:stretch>
        </p:blipFill>
        <p:spPr>
          <a:xfrm>
            <a:off x="1051560" y="2194560"/>
            <a:ext cx="365760" cy="365760"/>
          </a:xfrm>
          <a:prstGeom prst="rect">
            <a:avLst/>
          </a:prstGeom>
        </p:spPr>
      </p:pic>
      <p:sp>
        <p:nvSpPr>
          <p:cNvPr id="7" name="Ops 1 title"/>
          <p:cNvSpPr txBox="1"/>
          <p:nvPr/>
        </p:nvSpPr>
        <p:spPr>
          <a:xfrm>
            <a:off x="868680" y="2926080"/>
            <a:ext cx="1893494" cy="457200"/>
          </a:xfrm>
          <a:prstGeom prst="rect">
            <a:avLst/>
          </a:prstGeom>
          <a:noFill/>
          <a:ln/>
        </p:spPr>
        <p:txBody>
          <a:bodyPr wrap="square" lIns="0" tIns="0" rIns="0" bIns="0" rtlCol="0" anchor="ctr"/>
          <a:lstStyle/>
          <a:p>
            <a:pPr indent="0" marL="0">
              <a:buNone/>
            </a:pPr>
            <a:r>
              <a:rPr lang="en-US" sz="1800" b="1" dirty="0">
                <a:solidFill>
                  <a:schemeClr val="tx2"/>
                </a:solidFill>
              </a:rPr>
              <a:t>New orders</a:t>
            </a:r>
            <a:endParaRPr lang="en-US" sz="1800" dirty="0"/>
          </a:p>
        </p:txBody>
      </p:sp>
      <p:sp>
        <p:nvSpPr>
          <p:cNvPr id="8" name="Ops 1 command"/>
          <p:cNvSpPr txBox="1"/>
          <p:nvPr/>
        </p:nvSpPr>
        <p:spPr>
          <a:xfrm>
            <a:off x="868680" y="3474720"/>
            <a:ext cx="1893494" cy="914400"/>
          </a:xfrm>
          <a:prstGeom prst="rect">
            <a:avLst/>
          </a:prstGeom>
          <a:noFill/>
          <a:ln/>
        </p:spPr>
        <p:txBody>
          <a:bodyPr wrap="square" lIns="0" tIns="0" rIns="0" bIns="0" rtlCol="0" anchor="t"/>
          <a:lstStyle/>
          <a:p>
            <a:pPr indent="0" marL="0">
              <a:buNone/>
            </a:pPr>
            <a:r>
              <a:rPr lang="en-US" sz="1300" dirty="0">
                <a:solidFill>
                  <a:schemeClr val="tx1"/>
                </a:solidFill>
                <a:latin typeface="Courier New" pitchFamily="34" charset="0"/>
                <a:ea typeface="Courier New" pitchFamily="34" charset="-122"/>
                <a:cs typeface="Courier New" pitchFamily="34" charset="-120"/>
              </a:rPr>
              <a:t>python scripts\daily_orders.py</a:t>
            </a:r>
            <a:endParaRPr lang="en-US" sz="1300" dirty="0"/>
          </a:p>
        </p:txBody>
      </p:sp>
      <p:sp>
        <p:nvSpPr>
          <p:cNvPr id="9" name="Ops 1 text"/>
          <p:cNvSpPr txBox="1"/>
          <p:nvPr/>
        </p:nvSpPr>
        <p:spPr>
          <a:xfrm>
            <a:off x="868680" y="4434840"/>
            <a:ext cx="1893494" cy="914400"/>
          </a:xfrm>
          <a:prstGeom prst="rect">
            <a:avLst/>
          </a:prstGeom>
          <a:noFill/>
          <a:ln/>
        </p:spPr>
        <p:txBody>
          <a:bodyPr wrap="square" lIns="0" tIns="0" rIns="0" bIns="0" rtlCol="0" anchor="t"/>
          <a:lstStyle/>
          <a:p>
            <a:pPr indent="0" marL="0">
              <a:buNone/>
            </a:pPr>
            <a:r>
              <a:rPr lang="en-US" sz="1400" dirty="0">
                <a:solidFill>
                  <a:schemeClr val="accent5"/>
                </a:solidFill>
              </a:rPr>
              <a:t>10 orders, 50 items by default</a:t>
            </a:r>
            <a:endParaRPr lang="en-US" sz="1400" dirty="0"/>
          </a:p>
        </p:txBody>
      </p:sp>
      <p:sp>
        <p:nvSpPr>
          <p:cNvPr id="10" name="Ops 2 card"/>
          <p:cNvSpPr/>
          <p:nvPr/>
        </p:nvSpPr>
        <p:spPr>
          <a:xfrm>
            <a:off x="3402254" y="1691640"/>
            <a:ext cx="2533574" cy="3931920"/>
          </a:xfrm>
          <a:prstGeom prst="roundRect">
            <a:avLst>
              <a:gd name="adj" fmla="val 3609"/>
            </a:avLst>
          </a:prstGeom>
          <a:solidFill>
            <a:schemeClr val="bg2"/>
          </a:solidFill>
          <a:ln/>
        </p:spPr>
      </p:sp>
      <p:sp>
        <p:nvSpPr>
          <p:cNvPr id="11" name="Ops 2 circle"/>
          <p:cNvSpPr/>
          <p:nvPr/>
        </p:nvSpPr>
        <p:spPr>
          <a:xfrm>
            <a:off x="3722294" y="2011680"/>
            <a:ext cx="731520" cy="731520"/>
          </a:xfrm>
          <a:prstGeom prst="ellipse">
            <a:avLst/>
          </a:prstGeom>
          <a:solidFill>
            <a:schemeClr val="accent6"/>
          </a:solidFill>
          <a:ln/>
        </p:spPr>
      </p:sp>
      <p:pic>
        <p:nvPicPr>
          <p:cNvPr id="12" name="Ops 2 icon" descr="preencoded.png">    </p:cNvPr>
          <p:cNvPicPr>
            <a:picLocks noChangeAspect="1"/>
          </p:cNvPicPr>
          <p:nvPr/>
        </p:nvPicPr>
        <p:blipFill>
          <a:blip r:embed="rId2"/>
          <a:stretch>
            <a:fillRect/>
          </a:stretch>
        </p:blipFill>
        <p:spPr>
          <a:xfrm>
            <a:off x="3905174" y="2194560"/>
            <a:ext cx="365760" cy="365760"/>
          </a:xfrm>
          <a:prstGeom prst="rect">
            <a:avLst/>
          </a:prstGeom>
        </p:spPr>
      </p:pic>
      <p:sp>
        <p:nvSpPr>
          <p:cNvPr id="13" name="Ops 2 title"/>
          <p:cNvSpPr txBox="1"/>
          <p:nvPr/>
        </p:nvSpPr>
        <p:spPr>
          <a:xfrm>
            <a:off x="3722294" y="2926080"/>
            <a:ext cx="1893494" cy="457200"/>
          </a:xfrm>
          <a:prstGeom prst="rect">
            <a:avLst/>
          </a:prstGeom>
          <a:noFill/>
          <a:ln/>
        </p:spPr>
        <p:txBody>
          <a:bodyPr wrap="square" lIns="0" tIns="0" rIns="0" bIns="0" rtlCol="0" anchor="ctr"/>
          <a:lstStyle/>
          <a:p>
            <a:pPr indent="0" marL="0">
              <a:buNone/>
            </a:pPr>
            <a:r>
              <a:rPr lang="en-US" sz="1800" b="1" dirty="0">
                <a:solidFill>
                  <a:schemeClr val="tx2"/>
                </a:solidFill>
              </a:rPr>
              <a:t>Schedule it</a:t>
            </a:r>
            <a:endParaRPr lang="en-US" sz="1800" dirty="0"/>
          </a:p>
        </p:txBody>
      </p:sp>
      <p:sp>
        <p:nvSpPr>
          <p:cNvPr id="14" name="Ops 2 command"/>
          <p:cNvSpPr txBox="1"/>
          <p:nvPr/>
        </p:nvSpPr>
        <p:spPr>
          <a:xfrm>
            <a:off x="3722294" y="3474720"/>
            <a:ext cx="1893494" cy="914400"/>
          </a:xfrm>
          <a:prstGeom prst="rect">
            <a:avLst/>
          </a:prstGeom>
          <a:noFill/>
          <a:ln/>
        </p:spPr>
        <p:txBody>
          <a:bodyPr wrap="square" lIns="0" tIns="0" rIns="0" bIns="0" rtlCol="0" anchor="t"/>
          <a:lstStyle/>
          <a:p>
            <a:pPr indent="0" marL="0">
              <a:buNone/>
            </a:pPr>
            <a:r>
              <a:rPr lang="en-US" sz="1300" dirty="0">
                <a:solidFill>
                  <a:schemeClr val="tx1"/>
                </a:solidFill>
                <a:latin typeface="Courier New" pitchFamily="34" charset="0"/>
                <a:ea typeface="Courier New" pitchFamily="34" charset="-122"/>
                <a:cs typeface="Courier New" pitchFamily="34" charset="-120"/>
              </a:rPr>
              <a:t>Task Scheduler runs</a:t>
            </a:r>
            <a:endParaRPr lang="en-US" sz="1300" dirty="0"/>
          </a:p>
        </p:txBody>
      </p:sp>
      <p:sp>
        <p:nvSpPr>
          <p:cNvPr id="15" name="Ops 2 text"/>
          <p:cNvSpPr txBox="1"/>
          <p:nvPr/>
        </p:nvSpPr>
        <p:spPr>
          <a:xfrm>
            <a:off x="3722294" y="4434840"/>
            <a:ext cx="1893494" cy="914400"/>
          </a:xfrm>
          <a:prstGeom prst="rect">
            <a:avLst/>
          </a:prstGeom>
          <a:noFill/>
          <a:ln/>
        </p:spPr>
        <p:txBody>
          <a:bodyPr wrap="square" lIns="0" tIns="0" rIns="0" bIns="0" rtlCol="0" anchor="t"/>
          <a:lstStyle/>
          <a:p>
            <a:pPr indent="0" marL="0">
              <a:buNone/>
            </a:pPr>
            <a:r>
              <a:rPr lang="en-US" sz="1400" dirty="0">
                <a:solidFill>
                  <a:schemeClr val="accent5"/>
                </a:solidFill>
              </a:rPr>
              <a:t>scripts\run_daily_orders.bat at 09:00</a:t>
            </a:r>
            <a:endParaRPr lang="en-US" sz="1400" dirty="0"/>
          </a:p>
        </p:txBody>
      </p:sp>
      <p:sp>
        <p:nvSpPr>
          <p:cNvPr id="16" name="Ops 3 card"/>
          <p:cNvSpPr/>
          <p:nvPr/>
        </p:nvSpPr>
        <p:spPr>
          <a:xfrm>
            <a:off x="6255868" y="1691640"/>
            <a:ext cx="2533574" cy="3931920"/>
          </a:xfrm>
          <a:prstGeom prst="roundRect">
            <a:avLst>
              <a:gd name="adj" fmla="val 3609"/>
            </a:avLst>
          </a:prstGeom>
          <a:solidFill>
            <a:schemeClr val="bg2"/>
          </a:solidFill>
          <a:ln/>
        </p:spPr>
      </p:sp>
      <p:sp>
        <p:nvSpPr>
          <p:cNvPr id="17" name="Ops 3 circle"/>
          <p:cNvSpPr/>
          <p:nvPr/>
        </p:nvSpPr>
        <p:spPr>
          <a:xfrm>
            <a:off x="6575908" y="2011680"/>
            <a:ext cx="731520" cy="731520"/>
          </a:xfrm>
          <a:prstGeom prst="ellipse">
            <a:avLst/>
          </a:prstGeom>
          <a:solidFill>
            <a:schemeClr val="accent2"/>
          </a:solidFill>
          <a:ln/>
        </p:spPr>
      </p:sp>
      <p:pic>
        <p:nvPicPr>
          <p:cNvPr id="18" name="Ops 3 icon" descr="preencoded.png">    </p:cNvPr>
          <p:cNvPicPr>
            <a:picLocks noChangeAspect="1"/>
          </p:cNvPicPr>
          <p:nvPr/>
        </p:nvPicPr>
        <p:blipFill>
          <a:blip r:embed="rId3"/>
          <a:stretch>
            <a:fillRect/>
          </a:stretch>
        </p:blipFill>
        <p:spPr>
          <a:xfrm>
            <a:off x="6758788" y="2194560"/>
            <a:ext cx="365760" cy="365760"/>
          </a:xfrm>
          <a:prstGeom prst="rect">
            <a:avLst/>
          </a:prstGeom>
        </p:spPr>
      </p:pic>
      <p:sp>
        <p:nvSpPr>
          <p:cNvPr id="19" name="Ops 3 title"/>
          <p:cNvSpPr txBox="1"/>
          <p:nvPr/>
        </p:nvSpPr>
        <p:spPr>
          <a:xfrm>
            <a:off x="6575908" y="2926080"/>
            <a:ext cx="1893494" cy="457200"/>
          </a:xfrm>
          <a:prstGeom prst="rect">
            <a:avLst/>
          </a:prstGeom>
          <a:noFill/>
          <a:ln/>
        </p:spPr>
        <p:txBody>
          <a:bodyPr wrap="square" lIns="0" tIns="0" rIns="0" bIns="0" rtlCol="0" anchor="ctr"/>
          <a:lstStyle/>
          <a:p>
            <a:pPr indent="0" marL="0">
              <a:buNone/>
            </a:pPr>
            <a:r>
              <a:rPr lang="en-US" sz="1800" b="1" dirty="0">
                <a:solidFill>
                  <a:schemeClr val="tx2"/>
                </a:solidFill>
              </a:rPr>
              <a:t>Check freshness</a:t>
            </a:r>
            <a:endParaRPr lang="en-US" sz="1800" dirty="0"/>
          </a:p>
        </p:txBody>
      </p:sp>
      <p:sp>
        <p:nvSpPr>
          <p:cNvPr id="20" name="Ops 3 command"/>
          <p:cNvSpPr txBox="1"/>
          <p:nvPr/>
        </p:nvSpPr>
        <p:spPr>
          <a:xfrm>
            <a:off x="6575908" y="3474720"/>
            <a:ext cx="1893494" cy="914400"/>
          </a:xfrm>
          <a:prstGeom prst="rect">
            <a:avLst/>
          </a:prstGeom>
          <a:noFill/>
          <a:ln/>
        </p:spPr>
        <p:txBody>
          <a:bodyPr wrap="square" lIns="0" tIns="0" rIns="0" bIns="0" rtlCol="0" anchor="t"/>
          <a:lstStyle/>
          <a:p>
            <a:pPr indent="0" marL="0">
              <a:buNone/>
            </a:pPr>
            <a:r>
              <a:rPr lang="en-US" sz="1300" dirty="0">
                <a:solidFill>
                  <a:schemeClr val="tx1"/>
                </a:solidFill>
                <a:latin typeface="Courier New" pitchFamily="34" charset="0"/>
                <a:ea typeface="Courier New" pitchFamily="34" charset="-122"/>
                <a:cs typeface="Courier New" pitchFamily="34" charset="-120"/>
              </a:rPr>
              <a:t>/api/health → DATA_AS_OF</a:t>
            </a:r>
            <a:endParaRPr lang="en-US" sz="1300" dirty="0"/>
          </a:p>
        </p:txBody>
      </p:sp>
      <p:sp>
        <p:nvSpPr>
          <p:cNvPr id="21" name="Ops 3 text"/>
          <p:cNvSpPr txBox="1"/>
          <p:nvPr/>
        </p:nvSpPr>
        <p:spPr>
          <a:xfrm>
            <a:off x="6575908" y="4434840"/>
            <a:ext cx="1893494" cy="914400"/>
          </a:xfrm>
          <a:prstGeom prst="rect">
            <a:avLst/>
          </a:prstGeom>
          <a:noFill/>
          <a:ln/>
        </p:spPr>
        <p:txBody>
          <a:bodyPr wrap="square" lIns="0" tIns="0" rIns="0" bIns="0" rtlCol="0" anchor="t"/>
          <a:lstStyle/>
          <a:p>
            <a:pPr indent="0" marL="0">
              <a:buNone/>
            </a:pPr>
            <a:r>
              <a:rPr lang="en-US" sz="1400" dirty="0">
                <a:solidFill>
                  <a:schemeClr val="accent5"/>
                </a:solidFill>
              </a:rPr>
              <a:t>should be minutes old, not days</a:t>
            </a:r>
            <a:endParaRPr lang="en-US" sz="1400" dirty="0"/>
          </a:p>
        </p:txBody>
      </p:sp>
      <p:sp>
        <p:nvSpPr>
          <p:cNvPr id="22" name="Ops 4 card"/>
          <p:cNvSpPr/>
          <p:nvPr/>
        </p:nvSpPr>
        <p:spPr>
          <a:xfrm>
            <a:off x="9109481" y="1691640"/>
            <a:ext cx="2533574" cy="3931920"/>
          </a:xfrm>
          <a:prstGeom prst="roundRect">
            <a:avLst>
              <a:gd name="adj" fmla="val 3609"/>
            </a:avLst>
          </a:prstGeom>
          <a:solidFill>
            <a:schemeClr val="bg2"/>
          </a:solidFill>
          <a:ln/>
        </p:spPr>
      </p:sp>
      <p:sp>
        <p:nvSpPr>
          <p:cNvPr id="23" name="Ops 4 circle"/>
          <p:cNvSpPr/>
          <p:nvPr/>
        </p:nvSpPr>
        <p:spPr>
          <a:xfrm>
            <a:off x="9429521" y="2011680"/>
            <a:ext cx="731520" cy="731520"/>
          </a:xfrm>
          <a:prstGeom prst="ellipse">
            <a:avLst/>
          </a:prstGeom>
          <a:solidFill>
            <a:schemeClr val="bg1"/>
          </a:solidFill>
          <a:ln/>
        </p:spPr>
      </p:sp>
      <p:pic>
        <p:nvPicPr>
          <p:cNvPr id="24" name="Ops 4 icon" descr="preencoded.png">    </p:cNvPr>
          <p:cNvPicPr>
            <a:picLocks noChangeAspect="1"/>
          </p:cNvPicPr>
          <p:nvPr/>
        </p:nvPicPr>
        <p:blipFill>
          <a:blip r:embed="rId4"/>
          <a:stretch>
            <a:fillRect/>
          </a:stretch>
        </p:blipFill>
        <p:spPr>
          <a:xfrm>
            <a:off x="9612401" y="2194560"/>
            <a:ext cx="365760" cy="365760"/>
          </a:xfrm>
          <a:prstGeom prst="rect">
            <a:avLst/>
          </a:prstGeom>
        </p:spPr>
      </p:pic>
      <p:sp>
        <p:nvSpPr>
          <p:cNvPr id="25" name="Ops 4 title"/>
          <p:cNvSpPr txBox="1"/>
          <p:nvPr/>
        </p:nvSpPr>
        <p:spPr>
          <a:xfrm>
            <a:off x="9429521" y="2926080"/>
            <a:ext cx="1893494" cy="457200"/>
          </a:xfrm>
          <a:prstGeom prst="rect">
            <a:avLst/>
          </a:prstGeom>
          <a:noFill/>
          <a:ln/>
        </p:spPr>
        <p:txBody>
          <a:bodyPr wrap="square" lIns="0" tIns="0" rIns="0" bIns="0" rtlCol="0" anchor="ctr"/>
          <a:lstStyle/>
          <a:p>
            <a:pPr indent="0" marL="0">
              <a:buNone/>
            </a:pPr>
            <a:r>
              <a:rPr lang="en-US" sz="1800" b="1" dirty="0">
                <a:solidFill>
                  <a:schemeClr val="tx2"/>
                </a:solidFill>
              </a:rPr>
              <a:t>If data is stale</a:t>
            </a:r>
            <a:endParaRPr lang="en-US" sz="1800" dirty="0"/>
          </a:p>
        </p:txBody>
      </p:sp>
      <p:sp>
        <p:nvSpPr>
          <p:cNvPr id="26" name="Ops 4 command"/>
          <p:cNvSpPr txBox="1"/>
          <p:nvPr/>
        </p:nvSpPr>
        <p:spPr>
          <a:xfrm>
            <a:off x="9429521" y="3474720"/>
            <a:ext cx="1893494" cy="914400"/>
          </a:xfrm>
          <a:prstGeom prst="rect">
            <a:avLst/>
          </a:prstGeom>
          <a:noFill/>
          <a:ln/>
        </p:spPr>
        <p:txBody>
          <a:bodyPr wrap="square" lIns="0" tIns="0" rIns="0" bIns="0" rtlCol="0" anchor="t"/>
          <a:lstStyle/>
          <a:p>
            <a:pPr indent="0" marL="0">
              <a:buNone/>
            </a:pPr>
            <a:r>
              <a:rPr lang="en-US" sz="1300" dirty="0">
                <a:solidFill>
                  <a:schemeClr val="tx1"/>
                </a:solidFill>
                <a:latin typeface="Courier New" pitchFamily="34" charset="0"/>
                <a:ea typeface="Courier New" pitchFamily="34" charset="-122"/>
                <a:cs typeface="Courier New" pitchFamily="34" charset="-120"/>
              </a:rPr>
              <a:t>docker compose ps · ./scripts/status.sh</a:t>
            </a:r>
            <a:endParaRPr lang="en-US" sz="1300" dirty="0"/>
          </a:p>
        </p:txBody>
      </p:sp>
      <p:sp>
        <p:nvSpPr>
          <p:cNvPr id="27" name="Ops 4 text"/>
          <p:cNvSpPr txBox="1"/>
          <p:nvPr/>
        </p:nvSpPr>
        <p:spPr>
          <a:xfrm>
            <a:off x="9429521" y="4434840"/>
            <a:ext cx="1893494" cy="914400"/>
          </a:xfrm>
          <a:prstGeom prst="rect">
            <a:avLst/>
          </a:prstGeom>
          <a:noFill/>
          <a:ln/>
        </p:spPr>
        <p:txBody>
          <a:bodyPr wrap="square" lIns="0" tIns="0" rIns="0" bIns="0" rtlCol="0" anchor="t"/>
          <a:lstStyle/>
          <a:p>
            <a:pPr indent="0" marL="0">
              <a:buNone/>
            </a:pPr>
            <a:r>
              <a:rPr lang="en-US" sz="1400" dirty="0">
                <a:solidFill>
                  <a:schemeClr val="accent5"/>
                </a:solidFill>
              </a:rPr>
              <a:t>SHOW TASKS IN SCHEMA SAP_CURATED.SD</a:t>
            </a:r>
            <a:endParaRPr lang="en-US" sz="1400" dirty="0"/>
          </a:p>
        </p:txBody>
      </p:sp>
      <p:sp>
        <p:nvSpPr>
          <p:cNvPr id="28" name="Demo tip"/>
          <p:cNvSpPr txBox="1"/>
          <p:nvPr/>
        </p:nvSpPr>
        <p:spPr>
          <a:xfrm>
            <a:off x="548640" y="5806440"/>
            <a:ext cx="11094415" cy="411480"/>
          </a:xfrm>
          <a:prstGeom prst="rect">
            <a:avLst/>
          </a:prstGeom>
          <a:noFill/>
          <a:ln/>
        </p:spPr>
        <p:txBody>
          <a:bodyPr wrap="square" lIns="0" tIns="0" rIns="0" bIns="0" rtlCol="0" anchor="ctr"/>
          <a:lstStyle/>
          <a:p>
            <a:pPr indent="0" marL="0">
              <a:buNone/>
            </a:pPr>
            <a:r>
              <a:rPr lang="en-US" sz="1400" dirty="0">
                <a:solidFill>
                  <a:schemeClr val="tx2"/>
                </a:solidFill>
              </a:rPr>
              <a:t>Before a demo: start Docker Desktop, check the connectors are RUNNING and the tasks started, then place one order in the portal and watch it arrive.</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rPr>
              <a:t>Verify the pipeline end to end</a:t>
            </a:r>
            <a:endParaRPr lang="en-US" sz="3200" dirty="0"/>
          </a:p>
        </p:txBody>
      </p:sp>
      <p:sp>
        <p:nvSpPr>
          <p:cNvPr id="3" name="Kicker"/>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ACCEPTANCE CHECKS</a:t>
            </a:r>
            <a:endParaRPr lang="en-US" sz="1200" dirty="0"/>
          </a:p>
        </p:txBody>
      </p:sp>
      <p:graphicFrame>
        <p:nvGraphicFramePr>
          <p:cNvPr id="20" name="Verification table"/>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2377440"/>
                <a:gridCol w="3931920"/>
                <a:gridCol w="4785055"/>
              </a:tblGrid>
              <a:tr h="566928">
                <a:tc>
                  <a:txBody>
                    <a:bodyPr/>
                    <a:lstStyle/>
                    <a:p>
                      <a:pPr indent="0" marL="0">
                        <a:buNone/>
                      </a:pPr>
                      <a:r>
                        <a:rPr lang="en-US" sz="1400" b="1" dirty="0">
                          <a:solidFill>
                            <a:srgbClr val="FFFFFF"/>
                          </a:solidFill>
                        </a:rPr>
                        <a:t>Check</a:t>
                      </a:r>
                      <a:endParaRPr lang="en-US" sz="1400" dirty="0"/>
                    </a:p>
                  </a:txBody>
                  <a:tcPr marL="109728" marR="109728" marT="0" marB="0"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rgbClr val="0F2A3D"/>
                    </a:solidFill>
                  </a:tcPr>
                </a:tc>
                <a:tc>
                  <a:txBody>
                    <a:bodyPr/>
                    <a:lstStyle/>
                    <a:p>
                      <a:pPr indent="0" marL="0">
                        <a:buNone/>
                      </a:pPr>
                      <a:r>
                        <a:rPr lang="en-US" sz="1400" b="1" dirty="0">
                          <a:solidFill>
                            <a:srgbClr val="FFFFFF"/>
                          </a:solidFill>
                        </a:rPr>
                        <a:t>How</a:t>
                      </a:r>
                      <a:endParaRPr lang="en-US" sz="1400" dirty="0"/>
                    </a:p>
                  </a:txBody>
                  <a:tcPr marL="109728" marR="109728" marT="0" marB="0"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rgbClr val="0F2A3D"/>
                    </a:solidFill>
                  </a:tcPr>
                </a:tc>
                <a:tc>
                  <a:txBody>
                    <a:bodyPr/>
                    <a:lstStyle/>
                    <a:p>
                      <a:pPr indent="0" marL="0">
                        <a:buNone/>
                      </a:pPr>
                      <a:r>
                        <a:rPr lang="en-US" sz="1400" b="1" dirty="0">
                          <a:solidFill>
                            <a:srgbClr val="FFFFFF"/>
                          </a:solidFill>
                        </a:rPr>
                        <a:t>Expected</a:t>
                      </a:r>
                      <a:endParaRPr lang="en-US" sz="1400" dirty="0"/>
                    </a:p>
                  </a:txBody>
                  <a:tcPr marL="109728" marR="109728" marT="0" marB="0"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rgbClr val="0F2A3D"/>
                    </a:solidFill>
                  </a:tcPr>
                </a:tc>
              </a:tr>
              <a:tr h="566928">
                <a:tc>
                  <a:txBody>
                    <a:bodyPr/>
                    <a:lstStyle/>
                    <a:p>
                      <a:pPr indent="0" marL="0">
                        <a:buNone/>
                      </a:pPr>
                      <a:r>
                        <a:rPr lang="en-US" sz="1400" b="1" dirty="0">
                          <a:solidFill>
                            <a:srgbClr val="1B2631"/>
                          </a:solidFill>
                        </a:rPr>
                        <a:t>Exactly once</a:t>
                      </a:r>
                      <a:endParaRPr lang="en-US" sz="1400" dirty="0"/>
                    </a:p>
                  </a:txBody>
                  <a:tcPr marL="109728" marR="109728" marT="0" marB="0"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rgbClr val="EEF3F6"/>
                    </a:solidFill>
                  </a:tcPr>
                </a:tc>
                <a:tc>
                  <a:txBody>
                    <a:bodyPr/>
                    <a:lstStyle/>
                    <a:p>
                      <a:pPr indent="0" marL="0">
                        <a:buNone/>
                      </a:pPr>
                      <a:r>
                        <a:rPr lang="en-US" sz="1400" dirty="0">
                          <a:solidFill>
                            <a:srgbClr val="1B2631"/>
                          </a:solidFill>
                        </a:rPr>
                        <a:t>snowflake/03_checks.sql, check 1</a:t>
                      </a:r>
                      <a:endParaRPr lang="en-US" sz="1400" dirty="0"/>
                    </a:p>
                  </a:txBody>
                  <a:tcPr marL="109728" marR="109728" marT="0" marB="0"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rgbClr val="EEF3F6"/>
                    </a:solidFill>
                  </a:tcPr>
                </a:tc>
                <a:tc>
                  <a:txBody>
                    <a:bodyPr/>
                    <a:lstStyle/>
                    <a:p>
                      <a:pPr indent="0" marL="0">
                        <a:buNone/>
                      </a:pPr>
                      <a:r>
                        <a:rPr lang="en-US" sz="1400" dirty="0">
                          <a:solidFill>
                            <a:srgbClr val="1B2631"/>
                          </a:solidFill>
                        </a:rPr>
                        <a:t>raw events = distinct events, every table</a:t>
                      </a:r>
                      <a:endParaRPr lang="en-US" sz="1400" dirty="0"/>
                    </a:p>
                  </a:txBody>
                  <a:tcPr marL="109728" marR="109728" marT="0" marB="0"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rgbClr val="EEF3F6"/>
                    </a:solidFill>
                  </a:tcPr>
                </a:tc>
              </a:tr>
              <a:tr h="566928">
                <a:tc>
                  <a:txBody>
                    <a:bodyPr/>
                    <a:lstStyle/>
                    <a:p>
                      <a:pPr indent="0" marL="0">
                        <a:buNone/>
                      </a:pPr>
                      <a:r>
                        <a:rPr lang="en-US" sz="1400" b="1" dirty="0">
                          <a:solidFill>
                            <a:srgbClr val="1B2631"/>
                          </a:solidFill>
                        </a:rPr>
                        <a:t>Counts match</a:t>
                      </a:r>
                      <a:endParaRPr lang="en-US" sz="1400" dirty="0"/>
                    </a:p>
                  </a:txBody>
                  <a:tcPr marL="109728" marR="109728" marT="0" marB="0"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400" dirty="0">
                          <a:solidFill>
                            <a:srgbClr val="1B2631"/>
                          </a:solidFill>
                        </a:rPr>
                        <a:t>Oracle 91_row_counts.sql vs Silver</a:t>
                      </a:r>
                      <a:endParaRPr lang="en-US" sz="1400" dirty="0"/>
                    </a:p>
                  </a:txBody>
                  <a:tcPr marL="109728" marR="109728" marT="0" marB="0"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400" dirty="0">
                          <a:solidFill>
                            <a:srgbClr val="1B2631"/>
                          </a:solidFill>
                        </a:rPr>
                        <a:t>same live row count per table</a:t>
                      </a:r>
                      <a:endParaRPr lang="en-US" sz="1400" dirty="0"/>
                    </a:p>
                  </a:txBody>
                  <a:tcPr marL="109728" marR="109728" marT="0" marB="0"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B2631"/>
                          </a:solidFill>
                        </a:rPr>
                        <a:t>No double counting</a:t>
                      </a:r>
                      <a:endParaRPr lang="en-US" sz="1400" dirty="0"/>
                    </a:p>
                  </a:txBody>
                  <a:tcPr marL="109728" marR="109728" marT="0" marB="0"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rgbClr val="EEF3F6"/>
                    </a:solidFill>
                  </a:tcPr>
                </a:tc>
                <a:tc>
                  <a:txBody>
                    <a:bodyPr/>
                    <a:lstStyle/>
                    <a:p>
                      <a:pPr indent="0" marL="0">
                        <a:buNone/>
                      </a:pPr>
                      <a:r>
                        <a:rPr lang="en-US" sz="1400" dirty="0">
                          <a:solidFill>
                            <a:srgbClr val="1B2631"/>
                          </a:solidFill>
                        </a:rPr>
                        <a:t>SUM(NET_BILLED_VALUE) in Gold</a:t>
                      </a:r>
                      <a:endParaRPr lang="en-US" sz="1400" dirty="0"/>
                    </a:p>
                  </a:txBody>
                  <a:tcPr marL="109728" marR="109728" marT="0" marB="0"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rgbClr val="EEF3F6"/>
                    </a:solidFill>
                  </a:tcPr>
                </a:tc>
                <a:tc>
                  <a:txBody>
                    <a:bodyPr/>
                    <a:lstStyle/>
                    <a:p>
                      <a:pPr indent="0" marL="0">
                        <a:buNone/>
                      </a:pPr>
                      <a:r>
                        <a:rPr lang="en-US" sz="1400" dirty="0">
                          <a:solidFill>
                            <a:srgbClr val="1B2631"/>
                          </a:solidFill>
                        </a:rPr>
                        <a:t>INR 1,03,88,950 on sample data</a:t>
                      </a:r>
                      <a:endParaRPr lang="en-US" sz="1400" dirty="0"/>
                    </a:p>
                  </a:txBody>
                  <a:tcPr marL="109728" marR="109728" marT="0" marB="0"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rgbClr val="EEF3F6"/>
                    </a:solidFill>
                  </a:tcPr>
                </a:tc>
              </a:tr>
              <a:tr h="566928">
                <a:tc>
                  <a:txBody>
                    <a:bodyPr/>
                    <a:lstStyle/>
                    <a:p>
                      <a:pPr indent="0" marL="0">
                        <a:buNone/>
                      </a:pPr>
                      <a:r>
                        <a:rPr lang="en-US" sz="1400" b="1" dirty="0">
                          <a:solidFill>
                            <a:srgbClr val="1B2631"/>
                          </a:solidFill>
                        </a:rPr>
                        <a:t>Changes flow</a:t>
                      </a:r>
                      <a:endParaRPr lang="en-US" sz="1400" dirty="0"/>
                    </a:p>
                  </a:txBody>
                  <a:tcPr marL="109728" marR="109728" marT="0" marB="0"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400" dirty="0">
                          <a:solidFill>
                            <a:srgbClr val="1B2631"/>
                          </a:solidFill>
                        </a:rPr>
                        <a:t>./scripts/03_make_changes.sh</a:t>
                      </a:r>
                      <a:endParaRPr lang="en-US" sz="1400" dirty="0"/>
                    </a:p>
                  </a:txBody>
                  <a:tcPr marL="109728" marR="109728" marT="0" marB="0"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400" dirty="0">
                          <a:solidFill>
                            <a:srgbClr val="1B2631"/>
                          </a:solidFill>
                        </a:rPr>
                        <a:t>credit release, new order, delete visible in ~2 min</a:t>
                      </a:r>
                      <a:endParaRPr lang="en-US" sz="1400" dirty="0"/>
                    </a:p>
                  </a:txBody>
                  <a:tcPr marL="109728" marR="109728" marT="0" marB="0"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B2631"/>
                          </a:solidFill>
                        </a:rPr>
                        <a:t>Portal round trip</a:t>
                      </a:r>
                      <a:endParaRPr lang="en-US" sz="1400" dirty="0"/>
                    </a:p>
                  </a:txBody>
                  <a:tcPr marL="109728" marR="109728" marT="0" marB="0"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rgbClr val="EEF3F6"/>
                    </a:solidFill>
                  </a:tcPr>
                </a:tc>
                <a:tc>
                  <a:txBody>
                    <a:bodyPr/>
                    <a:lstStyle/>
                    <a:p>
                      <a:pPr indent="0" marL="0">
                        <a:buNone/>
                      </a:pPr>
                      <a:r>
                        <a:rPr lang="en-US" sz="1400" dirty="0">
                          <a:solidFill>
                            <a:srgbClr val="1B2631"/>
                          </a:solidFill>
                        </a:rPr>
                        <a:t>Place Order in the portal</a:t>
                      </a:r>
                      <a:endParaRPr lang="en-US" sz="1400" dirty="0"/>
                    </a:p>
                  </a:txBody>
                  <a:tcPr marL="109728" marR="109728" marT="0" marB="0"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rgbClr val="EEF3F6"/>
                    </a:solidFill>
                  </a:tcPr>
                </a:tc>
                <a:tc>
                  <a:txBody>
                    <a:bodyPr/>
                    <a:lstStyle/>
                    <a:p>
                      <a:pPr indent="0" marL="0">
                        <a:buNone/>
                      </a:pPr>
                      <a:r>
                        <a:rPr lang="en-US" sz="1400" dirty="0">
                          <a:solidFill>
                            <a:srgbClr val="1B2631"/>
                          </a:solidFill>
                        </a:rPr>
                        <a:t>“Arrived in Snowflake Gold after N seconds”</a:t>
                      </a:r>
                      <a:endParaRPr lang="en-US" sz="1400" dirty="0"/>
                    </a:p>
                  </a:txBody>
                  <a:tcPr marL="109728" marR="109728" marT="0" marB="0"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rgbClr val="EEF3F6"/>
                    </a:solidFill>
                  </a:tcPr>
                </a:tc>
              </a:tr>
              <a:tr h="566928">
                <a:tc>
                  <a:txBody>
                    <a:bodyPr/>
                    <a:lstStyle/>
                    <a:p>
                      <a:pPr indent="0" marL="0">
                        <a:buNone/>
                      </a:pPr>
                      <a:r>
                        <a:rPr lang="en-US" sz="1400" b="1" dirty="0">
                          <a:solidFill>
                            <a:srgbClr val="1B2631"/>
                          </a:solidFill>
                        </a:rPr>
                        <a:t>Recovery</a:t>
                      </a:r>
                      <a:endParaRPr lang="en-US" sz="1400" dirty="0"/>
                    </a:p>
                  </a:txBody>
                  <a:tcPr marL="109728" marR="109728" marT="0" marB="0"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400" dirty="0">
                          <a:solidFill>
                            <a:srgbClr val="1B2631"/>
                          </a:solidFill>
                        </a:rPr>
                        <a:t>04_curated_layer.sql, section F</a:t>
                      </a:r>
                      <a:endParaRPr lang="en-US" sz="1400" dirty="0"/>
                    </a:p>
                  </a:txBody>
                  <a:tcPr marL="109728" marR="109728" marT="0" marB="0"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400" dirty="0">
                          <a:solidFill>
                            <a:srgbClr val="1B2631"/>
                          </a:solidFill>
                        </a:rPr>
                        <a:t>truncate + replay rebuilds identical rows</a:t>
                      </a:r>
                      <a:endParaRPr lang="en-US" sz="1400" dirty="0"/>
                    </a:p>
                  </a:txBody>
                  <a:tcPr marL="109728" marR="109728" marT="0" marB="0"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rPr>
              <a:t>Troubleshooting: problems we already hit</a:t>
            </a:r>
            <a:endParaRPr lang="en-US" sz="3200" dirty="0"/>
          </a:p>
        </p:txBody>
      </p:sp>
      <p:sp>
        <p:nvSpPr>
          <p:cNvPr id="3" name="Kicker"/>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FIXES</a:t>
            </a:r>
            <a:endParaRPr lang="en-US" sz="1200" dirty="0"/>
          </a:p>
        </p:txBody>
      </p:sp>
      <p:graphicFrame>
        <p:nvGraphicFramePr>
          <p:cNvPr id="21" name="Troubleshooting table"/>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4754880"/>
                <a:gridCol w="6339535"/>
              </a:tblGrid>
              <a:tr h="548640">
                <a:tc>
                  <a:txBody>
                    <a:bodyPr/>
                    <a:lstStyle/>
                    <a:p>
                      <a:pPr indent="0" marL="0">
                        <a:buNone/>
                      </a:pPr>
                      <a:r>
                        <a:rPr lang="en-US" sz="1400" b="1" dirty="0">
                          <a:solidFill>
                            <a:srgbClr val="FFFFFF"/>
                          </a:solidFill>
                        </a:rPr>
                        <a:t>Symptom</a:t>
                      </a:r>
                      <a:endParaRPr lang="en-US" sz="1400" dirty="0"/>
                    </a:p>
                  </a:txBody>
                  <a:tcPr marL="109728" marR="109728" marT="0" marB="0"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rgbClr val="0F2A3D"/>
                    </a:solidFill>
                  </a:tcPr>
                </a:tc>
                <a:tc>
                  <a:txBody>
                    <a:bodyPr/>
                    <a:lstStyle/>
                    <a:p>
                      <a:pPr indent="0" marL="0">
                        <a:buNone/>
                      </a:pPr>
                      <a:r>
                        <a:rPr lang="en-US" sz="1400" b="1" dirty="0">
                          <a:solidFill>
                            <a:srgbClr val="FFFFFF"/>
                          </a:solidFill>
                        </a:rPr>
                        <a:t>Fix</a:t>
                      </a:r>
                      <a:endParaRPr lang="en-US" sz="1400" dirty="0"/>
                    </a:p>
                  </a:txBody>
                  <a:tcPr marL="109728" marR="109728" marT="0" marB="0"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rgbClr val="0F2A3D"/>
                    </a:solidFill>
                  </a:tcPr>
                </a:tc>
              </a:tr>
              <a:tr h="548640">
                <a:tc>
                  <a:txBody>
                    <a:bodyPr/>
                    <a:lstStyle/>
                    <a:p>
                      <a:pPr indent="0" marL="0">
                        <a:buNone/>
                      </a:pPr>
                      <a:r>
                        <a:rPr lang="en-US" sz="1400" dirty="0">
                          <a:solidFill>
                            <a:srgbClr val="1B2631"/>
                          </a:solidFill>
                        </a:rPr>
                        <a:t>Port is already allocated (1521, 8080, 8000)</a:t>
                      </a:r>
                      <a:endParaRPr lang="en-US" sz="1400" dirty="0"/>
                    </a:p>
                  </a:txBody>
                  <a:tcPr marL="109728" marR="109728" marT="0" marB="0"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rgbClr val="EEF3F6"/>
                    </a:solidFill>
                  </a:tcPr>
                </a:tc>
                <a:tc>
                  <a:txBody>
                    <a:bodyPr/>
                    <a:lstStyle/>
                    <a:p>
                      <a:pPr indent="0" marL="0">
                        <a:buNone/>
                      </a:pPr>
                      <a:r>
                        <a:rPr lang="en-US" sz="1400" dirty="0">
                          <a:solidFill>
                            <a:srgbClr val="1B2631"/>
                          </a:solidFill>
                        </a:rPr>
                        <a:t>Change the left port in docker-compose.yml (1522, 8085) or use --port 8010</a:t>
                      </a:r>
                      <a:endParaRPr lang="en-US" sz="1400" dirty="0"/>
                    </a:p>
                  </a:txBody>
                  <a:tcPr marL="109728" marR="109728" marT="0" marB="0"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rgbClr val="EEF3F6"/>
                    </a:solidFill>
                  </a:tcPr>
                </a:tc>
              </a:tr>
              <a:tr h="548640">
                <a:tc>
                  <a:txBody>
                    <a:bodyPr/>
                    <a:lstStyle/>
                    <a:p>
                      <a:pPr indent="0" marL="0">
                        <a:buNone/>
                      </a:pPr>
                      <a:r>
                        <a:rPr lang="en-US" sz="1400" dirty="0">
                          <a:solidFill>
                            <a:srgbClr val="1B2631"/>
                          </a:solidFill>
                        </a:rPr>
                        <a:t>docker: input/output error while building</a:t>
                      </a:r>
                      <a:endParaRPr lang="en-US" sz="1400" dirty="0"/>
                    </a:p>
                  </a:txBody>
                  <a:tcPr marL="109728" marR="109728" marT="0" marB="0"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400" dirty="0">
                          <a:solidFill>
                            <a:srgbClr val="1B2631"/>
                          </a:solidFill>
                        </a:rPr>
                        <a:t>docker builder prune -af, wsl --shutdown, restart Docker Desktop</a:t>
                      </a:r>
                      <a:endParaRPr lang="en-US" sz="1400" dirty="0"/>
                    </a:p>
                  </a:txBody>
                  <a:tcPr marL="109728" marR="109728" marT="0" marB="0"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B2631"/>
                          </a:solidFill>
                        </a:rPr>
                        <a:t>Git Bash: Could not fork child process</a:t>
                      </a:r>
                      <a:endParaRPr lang="en-US" sz="1400" dirty="0"/>
                    </a:p>
                  </a:txBody>
                  <a:tcPr marL="109728" marR="109728" marT="0" marB="0"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rgbClr val="EEF3F6"/>
                    </a:solidFill>
                  </a:tcPr>
                </a:tc>
                <a:tc>
                  <a:txBody>
                    <a:bodyPr/>
                    <a:lstStyle/>
                    <a:p>
                      <a:pPr indent="0" marL="0">
                        <a:buNone/>
                      </a:pPr>
                      <a:r>
                        <a:rPr lang="en-US" sz="1400" dirty="0">
                          <a:solidFill>
                            <a:srgbClr val="1B2631"/>
                          </a:solidFill>
                        </a:rPr>
                        <a:t>Restart Windows; or run Docker commands from PowerShell</a:t>
                      </a:r>
                      <a:endParaRPr lang="en-US" sz="1400" dirty="0"/>
                    </a:p>
                  </a:txBody>
                  <a:tcPr marL="109728" marR="109728" marT="0" marB="0"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rgbClr val="EEF3F6"/>
                    </a:solidFill>
                  </a:tcPr>
                </a:tc>
              </a:tr>
              <a:tr h="548640">
                <a:tc>
                  <a:txBody>
                    <a:bodyPr/>
                    <a:lstStyle/>
                    <a:p>
                      <a:pPr indent="0" marL="0">
                        <a:buNone/>
                      </a:pPr>
                      <a:r>
                        <a:rPr lang="en-US" sz="1400" dirty="0">
                          <a:solidFill>
                            <a:srgbClr val="1B2631"/>
                          </a:solidFill>
                        </a:rPr>
                        <a:t>pip / py is not recognized</a:t>
                      </a:r>
                      <a:endParaRPr lang="en-US" sz="1400" dirty="0"/>
                    </a:p>
                  </a:txBody>
                  <a:tcPr marL="109728" marR="109728" marT="0" marB="0"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400" dirty="0">
                          <a:solidFill>
                            <a:srgbClr val="1B2631"/>
                          </a:solidFill>
                        </a:rPr>
                        <a:t>Install Python 3.12 with “Add to PATH”, then python -m pip</a:t>
                      </a:r>
                      <a:endParaRPr lang="en-US" sz="1400" dirty="0"/>
                    </a:p>
                  </a:txBody>
                  <a:tcPr marL="109728" marR="109728" marT="0" marB="0"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B2631"/>
                          </a:solidFill>
                        </a:rPr>
                        <a:t>Invalid character '&lt;' in account identifier</a:t>
                      </a:r>
                      <a:endParaRPr lang="en-US" sz="1400" dirty="0"/>
                    </a:p>
                  </a:txBody>
                  <a:tcPr marL="109728" marR="109728" marT="0" marB="0"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rgbClr val="EEF3F6"/>
                    </a:solidFill>
                  </a:tcPr>
                </a:tc>
                <a:tc>
                  <a:txBody>
                    <a:bodyPr/>
                    <a:lstStyle/>
                    <a:p>
                      <a:pPr indent="0" marL="0">
                        <a:buNone/>
                      </a:pPr>
                      <a:r>
                        <a:rPr lang="en-US" sz="1400" dirty="0">
                          <a:solidFill>
                            <a:srgbClr val="1B2631"/>
                          </a:solidFill>
                        </a:rPr>
                        <a:t>Set SNOWFLAKE_ACCOUNT to your real org-account value</a:t>
                      </a:r>
                      <a:endParaRPr lang="en-US" sz="1400" dirty="0"/>
                    </a:p>
                  </a:txBody>
                  <a:tcPr marL="109728" marR="109728" marT="0" marB="0"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rgbClr val="EEF3F6"/>
                    </a:solidFill>
                  </a:tcPr>
                </a:tc>
              </a:tr>
              <a:tr h="548640">
                <a:tc>
                  <a:txBody>
                    <a:bodyPr/>
                    <a:lstStyle/>
                    <a:p>
                      <a:pPr indent="0" marL="0">
                        <a:buNone/>
                      </a:pPr>
                      <a:r>
                        <a:rPr lang="en-US" sz="1400" dirty="0">
                          <a:solidFill>
                            <a:srgbClr val="1B2631"/>
                          </a:solidFill>
                        </a:rPr>
                        <a:t>Place Order greyed out</a:t>
                      </a:r>
                      <a:endParaRPr lang="en-US" sz="1400" dirty="0"/>
                    </a:p>
                  </a:txBody>
                  <a:tcPr marL="109728" marR="109728" marT="0" marB="0"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rgbClr val="FFFFFF"/>
                    </a:solidFill>
                  </a:tcPr>
                </a:tc>
                <a:tc>
                  <a:txBody>
                    <a:bodyPr/>
                    <a:lstStyle/>
                    <a:p>
                      <a:pPr indent="0" marL="0">
                        <a:buNone/>
                      </a:pPr>
                      <a:r>
                        <a:rPr lang="en-US" sz="1400" dirty="0">
                          <a:solidFill>
                            <a:srgbClr val="1B2631"/>
                          </a:solidFill>
                        </a:rPr>
                        <a:t>Add SAPSD_PASSWORD=sapsd to portal\.env and restart</a:t>
                      </a:r>
                      <a:endParaRPr lang="en-US" sz="1400" dirty="0"/>
                    </a:p>
                  </a:txBody>
                  <a:tcPr marL="109728" marR="109728" marT="0" marB="0"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B2631"/>
                          </a:solidFill>
                        </a:rPr>
                        <a:t>Ask AI button missing</a:t>
                      </a:r>
                      <a:endParaRPr lang="en-US" sz="1400" dirty="0"/>
                    </a:p>
                  </a:txBody>
                  <a:tcPr marL="109728" marR="109728" marT="0" marB="0"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rgbClr val="EEF3F6"/>
                    </a:solidFill>
                  </a:tcPr>
                </a:tc>
                <a:tc>
                  <a:txBody>
                    <a:bodyPr/>
                    <a:lstStyle/>
                    <a:p>
                      <a:pPr indent="0" marL="0">
                        <a:buNone/>
                      </a:pPr>
                      <a:r>
                        <a:rPr lang="en-US" sz="1400" dirty="0">
                          <a:solidFill>
                            <a:srgbClr val="1B2631"/>
                          </a:solidFill>
                        </a:rPr>
                        <a:t>Copy the new portal files, restart, Ctrl + Shift + R</a:t>
                      </a:r>
                      <a:endParaRPr lang="en-US" sz="1400" dirty="0"/>
                    </a:p>
                  </a:txBody>
                  <a:tcPr marL="109728" marR="109728" marT="0" marB="0"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rgbClr val="EEF3F6"/>
                    </a:solidFill>
                  </a:tcPr>
                </a:tc>
              </a:tr>
            </a:tbl>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10515600" cy="1005840"/>
          </a:xfrm>
          <a:prstGeom prst="rect">
            <a:avLst/>
          </a:prstGeom>
          <a:noFill/>
          <a:ln/>
        </p:spPr>
        <p:txBody>
          <a:bodyPr wrap="square" lIns="0" tIns="0" rIns="0" bIns="0" rtlCol="0" anchor="b"/>
          <a:lstStyle/>
          <a:p>
            <a:pPr algn="l" indent="0" marL="0">
              <a:buNone/>
            </a:pPr>
            <a:r>
              <a:rPr lang="en-US" sz="4000" b="1" dirty="0">
                <a:solidFill>
                  <a:schemeClr val="bg1"/>
                </a:solidFill>
              </a:rPr>
              <a:t>Next steps</a:t>
            </a:r>
            <a:endParaRPr lang="en-US" sz="4000" dirty="0"/>
          </a:p>
        </p:txBody>
      </p:sp>
      <p:sp>
        <p:nvSpPr>
          <p:cNvPr id="3" name="Text 0"/>
          <p:cNvSpPr/>
          <p:nvPr>
            <p:ph idx="101" type="body" hasCustomPrompt="1"/>
          </p:nvPr>
        </p:nvSpPr>
        <p:spPr>
          <a:xfrm>
            <a:off x="548640" y="3794760"/>
            <a:ext cx="10515600" cy="822960"/>
          </a:xfrm>
          <a:prstGeom prst="rect">
            <a:avLst/>
          </a:prstGeom>
          <a:noFill/>
          <a:ln/>
        </p:spPr>
        <p:txBody>
          <a:bodyPr wrap="square" lIns="0" tIns="0" rIns="0" bIns="0" rtlCol="0" anchor="t"/>
          <a:lstStyle/>
          <a:p>
            <a:pPr algn="l" indent="0" marL="0">
              <a:buNone/>
            </a:pPr>
            <a:r>
              <a:rPr lang="en-US" sz="1800" dirty="0">
                <a:solidFill>
                  <a:srgbClr val="CADCE6"/>
                </a:solidFill>
              </a:rPr>
              <a:t>Restart the stalled data flow, then extend Gold with order-to-cash KPIs.</a:t>
            </a:r>
            <a:endParaRPr lang="en-US" sz="1800" dirty="0"/>
          </a:p>
        </p:txBody>
      </p:sp>
      <p:sp>
        <p:nvSpPr>
          <p:cNvPr id="4" name="Next steps"/>
          <p:cNvSpPr txBox="1"/>
          <p:nvPr/>
        </p:nvSpPr>
        <p:spPr>
          <a:xfrm>
            <a:off x="548640" y="4709160"/>
            <a:ext cx="10515600" cy="17373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E6EEF2"/>
                </a:solidFill>
              </a:rPr>
              <a:t>Get data flowing again: Docker up, connectors RUNNING, tasks started</a:t>
            </a:r>
            <a:endParaRPr lang="en-US" sz="1600" dirty="0"/>
          </a:p>
          <a:p>
            <a:pPr marL="342900" indent="-342900">
              <a:spcAft>
                <a:spcPts val="1000"/>
              </a:spcAft>
              <a:buSzPct val="100000"/>
              <a:buChar char="•"/>
            </a:pPr>
            <a:r>
              <a:rPr lang="en-US" sz="1600" dirty="0">
                <a:solidFill>
                  <a:srgbClr val="E6EEF2"/>
                </a:solidFill>
              </a:rPr>
              <a:t>Add KPIs to Gold: on-time-in-full, fill rate, open backlog value</a:t>
            </a:r>
            <a:endParaRPr lang="en-US" sz="1600" dirty="0"/>
          </a:p>
          <a:p>
            <a:pPr marL="342900" indent="-342900">
              <a:spcAft>
                <a:spcPts val="1000"/>
              </a:spcAft>
              <a:buSzPct val="100000"/>
              <a:buChar char="•"/>
            </a:pPr>
            <a:r>
              <a:rPr lang="en-US" sz="1600" dirty="0">
                <a:solidFill>
                  <a:srgbClr val="E6EEF2"/>
                </a:solidFill>
              </a:rPr>
              <a:t>Connect a Snowflake workspace to GitHub for version control</a:t>
            </a:r>
            <a:endParaRPr lang="en-US" sz="1600" dirty="0"/>
          </a:p>
          <a:p>
            <a:pPr marL="342900" indent="-342900">
              <a:spcAft>
                <a:spcPts val="1000"/>
              </a:spcAft>
              <a:buSzPct val="100000"/>
              <a:buChar char="•"/>
            </a:pPr>
            <a:r>
              <a:rPr lang="en-US" sz="1600" dirty="0">
                <a:solidFill>
                  <a:srgbClr val="E6EEF2"/>
                </a:solidFill>
              </a:rPr>
              <a:t>For production: Openflow or managed Kafka instead of a laptop stack</a:t>
            </a:r>
            <a:endParaRPr lang="en-US" sz="1600" dirty="0"/>
          </a:p>
        </p:txBody>
      </p:sp>
    </p:spTree>
  </p:cSld>
  <p:clrMapOvr>
    <a:masterClrMapping/>
  </p:clrMapOvr>
</p:sld>
</file>

<file path=ppt/theme/theme1.xml><?xml version="1.0" encoding="utf-8"?>
<a:theme xmlns:a="http://schemas.openxmlformats.org/drawingml/2006/main" name="Pipeline Ink">
  <a:themeElements>
    <a:clrScheme name="Pipeline Ink">
      <a:dk1>
        <a:srgbClr val="1B2631"/>
      </a:dk1>
      <a:lt1>
        <a:srgbClr val="FFFFFF"/>
      </a:lt1>
      <a:dk2>
        <a:srgbClr val="0F2A3D"/>
      </a:dk2>
      <a:lt2>
        <a:srgbClr val="EEF3F6"/>
      </a:lt2>
      <a:accent1>
        <a:srgbClr val="0E9F8E"/>
      </a:accent1>
      <a:accent2>
        <a:srgbClr val="F2A541"/>
      </a:accent2>
      <a:accent3>
        <a:srgbClr val="29B5E8"/>
      </a:accent3>
      <a:accent4>
        <a:srgbClr val="D1495B"/>
      </a:accent4>
      <a:accent5>
        <a:srgbClr val="6C7A89"/>
      </a:accent5>
      <a:accent6>
        <a:srgbClr val="3D5A80"/>
      </a:accent6>
      <a:hlink>
        <a:srgbClr val="0E7C70"/>
      </a:hlink>
      <a:folHlink>
        <a:srgbClr val="3D5A80"/>
      </a:folHlink>
    </a:clrScheme>
    <a:fontScheme name="Pipeline In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SAP Sales Data, Live in Snowflake - Setup Guide</dc:title>
  <dc:subject>PptxGenJS Presentation</dc:subject>
  <dc:creator>Rahul Bhujbal</dc:creator>
  <cp:lastModifiedBy>Rahul Bhujbal</cp:lastModifiedBy>
  <cp:revision>1</cp:revision>
  <dcterms:created xsi:type="dcterms:W3CDTF">2026-10-22T07:10:21Z</dcterms:created>
  <dcterms:modified xsi:type="dcterms:W3CDTF">2026-10-22T07:10:21Z</dcterms:modified>
</cp:coreProperties>
</file>